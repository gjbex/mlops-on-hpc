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sldIdLst>
    <p:sldId id="257" r:id="rId2"/>
    <p:sldId id="355" r:id="rId3"/>
    <p:sldId id="357" r:id="rId4"/>
    <p:sldId id="353" r:id="rId5"/>
    <p:sldId id="348" r:id="rId6"/>
    <p:sldId id="359" r:id="rId7"/>
    <p:sldId id="360" r:id="rId8"/>
    <p:sldId id="361" r:id="rId9"/>
    <p:sldId id="362" r:id="rId10"/>
    <p:sldId id="363" r:id="rId11"/>
    <p:sldId id="364" r:id="rId12"/>
    <p:sldId id="365" r:id="rId13"/>
    <p:sldId id="367" r:id="rId14"/>
    <p:sldId id="373" r:id="rId15"/>
    <p:sldId id="366" r:id="rId16"/>
    <p:sldId id="368" r:id="rId17"/>
    <p:sldId id="369" r:id="rId18"/>
    <p:sldId id="370" r:id="rId19"/>
    <p:sldId id="372" r:id="rId20"/>
    <p:sldId id="396" r:id="rId21"/>
    <p:sldId id="374" r:id="rId22"/>
    <p:sldId id="371" r:id="rId23"/>
    <p:sldId id="375" r:id="rId24"/>
    <p:sldId id="376" r:id="rId25"/>
    <p:sldId id="377" r:id="rId26"/>
    <p:sldId id="379" r:id="rId27"/>
    <p:sldId id="380" r:id="rId28"/>
    <p:sldId id="378" r:id="rId29"/>
    <p:sldId id="382" r:id="rId30"/>
    <p:sldId id="381" r:id="rId31"/>
    <p:sldId id="383" r:id="rId32"/>
    <p:sldId id="395" r:id="rId33"/>
    <p:sldId id="384" r:id="rId34"/>
    <p:sldId id="385" r:id="rId35"/>
    <p:sldId id="386" r:id="rId36"/>
    <p:sldId id="387" r:id="rId37"/>
    <p:sldId id="388" r:id="rId38"/>
    <p:sldId id="390" r:id="rId39"/>
    <p:sldId id="389" r:id="rId40"/>
    <p:sldId id="392" r:id="rId41"/>
    <p:sldId id="391" r:id="rId42"/>
    <p:sldId id="393" r:id="rId43"/>
    <p:sldId id="394" r:id="rId44"/>
    <p:sldId id="397" r:id="rId45"/>
    <p:sldId id="398" r:id="rId46"/>
    <p:sldId id="399" r:id="rId47"/>
    <p:sldId id="400" r:id="rId48"/>
    <p:sldId id="401" r:id="rId49"/>
    <p:sldId id="402" r:id="rId50"/>
    <p:sldId id="403" r:id="rId51"/>
    <p:sldId id="404" r:id="rId52"/>
    <p:sldId id="405" r:id="rId5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01832E-0171-4C3A-8280-47AD1B442FFF}" v="3" dt="2025-05-21T15:29:13.0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81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4801832E-0171-4C3A-8280-47AD1B442FFF}"/>
    <pc:docChg chg="custSel addSld modSld">
      <pc:chgData name="Geert Jan Bex" userId="b602d378c858ceb4" providerId="LiveId" clId="{4801832E-0171-4C3A-8280-47AD1B442FFF}" dt="2025-05-21T15:28:55.882" v="37" actId="478"/>
      <pc:docMkLst>
        <pc:docMk/>
      </pc:docMkLst>
      <pc:sldChg chg="addSp delSp modSp new mod modClrScheme chgLayout">
        <pc:chgData name="Geert Jan Bex" userId="b602d378c858ceb4" providerId="LiveId" clId="{4801832E-0171-4C3A-8280-47AD1B442FFF}" dt="2025-05-21T15:28:55.882" v="37" actId="478"/>
        <pc:sldMkLst>
          <pc:docMk/>
          <pc:sldMk cId="688779831" sldId="358"/>
        </pc:sldMkLst>
        <pc:spChg chg="mod ord">
          <ac:chgData name="Geert Jan Bex" userId="b602d378c858ceb4" providerId="LiveId" clId="{4801832E-0171-4C3A-8280-47AD1B442FFF}" dt="2025-05-21T15:28:22.627" v="33" actId="700"/>
          <ac:spMkLst>
            <pc:docMk/>
            <pc:sldMk cId="688779831" sldId="358"/>
            <ac:spMk id="2" creationId="{09B6272A-02E9-F2EE-436A-3F4932E13A7A}"/>
          </ac:spMkLst>
        </pc:spChg>
        <pc:spChg chg="del">
          <ac:chgData name="Geert Jan Bex" userId="b602d378c858ceb4" providerId="LiveId" clId="{4801832E-0171-4C3A-8280-47AD1B442FFF}" dt="2025-05-21T15:28:22.627" v="33" actId="700"/>
          <ac:spMkLst>
            <pc:docMk/>
            <pc:sldMk cId="688779831" sldId="358"/>
            <ac:spMk id="3" creationId="{656988EA-9D81-5792-4562-CEF34AF7D24C}"/>
          </ac:spMkLst>
        </pc:spChg>
        <pc:spChg chg="mod">
          <ac:chgData name="Geert Jan Bex" userId="b602d378c858ceb4" providerId="LiveId" clId="{4801832E-0171-4C3A-8280-47AD1B442FFF}" dt="2025-05-21T15:28:38.249" v="34"/>
          <ac:spMkLst>
            <pc:docMk/>
            <pc:sldMk cId="688779831" sldId="358"/>
            <ac:spMk id="5" creationId="{D4751453-B372-41FE-6AD4-8053745813A4}"/>
          </ac:spMkLst>
        </pc:spChg>
        <pc:spChg chg="mod">
          <ac:chgData name="Geert Jan Bex" userId="b602d378c858ceb4" providerId="LiveId" clId="{4801832E-0171-4C3A-8280-47AD1B442FFF}" dt="2025-05-21T15:28:38.249" v="34"/>
          <ac:spMkLst>
            <pc:docMk/>
            <pc:sldMk cId="688779831" sldId="358"/>
            <ac:spMk id="6" creationId="{3EA672C9-D16F-6ECC-CD9F-13E1D5E2FD77}"/>
          </ac:spMkLst>
        </pc:spChg>
        <pc:spChg chg="mod">
          <ac:chgData name="Geert Jan Bex" userId="b602d378c858ceb4" providerId="LiveId" clId="{4801832E-0171-4C3A-8280-47AD1B442FFF}" dt="2025-05-21T15:28:38.249" v="34"/>
          <ac:spMkLst>
            <pc:docMk/>
            <pc:sldMk cId="688779831" sldId="358"/>
            <ac:spMk id="10" creationId="{5D409F96-829B-F0E2-9CA3-638A81E0EDFE}"/>
          </ac:spMkLst>
        </pc:spChg>
        <pc:spChg chg="mod">
          <ac:chgData name="Geert Jan Bex" userId="b602d378c858ceb4" providerId="LiveId" clId="{4801832E-0171-4C3A-8280-47AD1B442FFF}" dt="2025-05-21T15:28:45.282" v="35"/>
          <ac:spMkLst>
            <pc:docMk/>
            <pc:sldMk cId="688779831" sldId="358"/>
            <ac:spMk id="15" creationId="{9C3EDA34-C6EA-CACB-4B57-6632CD8078E2}"/>
          </ac:spMkLst>
        </pc:spChg>
        <pc:grpChg chg="add mod">
          <ac:chgData name="Geert Jan Bex" userId="b602d378c858ceb4" providerId="LiveId" clId="{4801832E-0171-4C3A-8280-47AD1B442FFF}" dt="2025-05-21T15:28:38.249" v="34"/>
          <ac:grpSpMkLst>
            <pc:docMk/>
            <pc:sldMk cId="688779831" sldId="358"/>
            <ac:grpSpMk id="4" creationId="{86DB24A3-C16D-CA53-A6A4-4F7EE1D879CE}"/>
          </ac:grpSpMkLst>
        </pc:grpChg>
        <pc:grpChg chg="add mod">
          <ac:chgData name="Geert Jan Bex" userId="b602d378c858ceb4" providerId="LiveId" clId="{4801832E-0171-4C3A-8280-47AD1B442FFF}" dt="2025-05-21T15:28:38.249" v="34"/>
          <ac:grpSpMkLst>
            <pc:docMk/>
            <pc:sldMk cId="688779831" sldId="358"/>
            <ac:grpSpMk id="7" creationId="{9E754873-0153-0D97-958A-06B2E493E517}"/>
          </ac:grpSpMkLst>
        </pc:grpChg>
        <pc:grpChg chg="mod">
          <ac:chgData name="Geert Jan Bex" userId="b602d378c858ceb4" providerId="LiveId" clId="{4801832E-0171-4C3A-8280-47AD1B442FFF}" dt="2025-05-21T15:28:38.249" v="34"/>
          <ac:grpSpMkLst>
            <pc:docMk/>
            <pc:sldMk cId="688779831" sldId="358"/>
            <ac:grpSpMk id="8" creationId="{BF59F79E-E11C-9AF7-FFCE-6CF4E4F7A8DF}"/>
          </ac:grpSpMkLst>
        </pc:grpChg>
        <pc:grpChg chg="add del mod">
          <ac:chgData name="Geert Jan Bex" userId="b602d378c858ceb4" providerId="LiveId" clId="{4801832E-0171-4C3A-8280-47AD1B442FFF}" dt="2025-05-21T15:28:55.882" v="37" actId="478"/>
          <ac:grpSpMkLst>
            <pc:docMk/>
            <pc:sldMk cId="688779831" sldId="358"/>
            <ac:grpSpMk id="12" creationId="{D8DC2B81-AD45-EEB4-4C48-A85C4EDF6F42}"/>
          </ac:grpSpMkLst>
        </pc:grpChg>
        <pc:grpChg chg="mod topLvl">
          <ac:chgData name="Geert Jan Bex" userId="b602d378c858ceb4" providerId="LiveId" clId="{4801832E-0171-4C3A-8280-47AD1B442FFF}" dt="2025-05-21T15:28:55.882" v="37" actId="478"/>
          <ac:grpSpMkLst>
            <pc:docMk/>
            <pc:sldMk cId="688779831" sldId="358"/>
            <ac:grpSpMk id="13" creationId="{B59AB037-1BEC-2578-88A3-40011B584EE4}"/>
          </ac:grpSpMkLst>
        </pc:grpChg>
        <pc:picChg chg="mod">
          <ac:chgData name="Geert Jan Bex" userId="b602d378c858ceb4" providerId="LiveId" clId="{4801832E-0171-4C3A-8280-47AD1B442FFF}" dt="2025-05-21T15:28:38.249" v="34"/>
          <ac:picMkLst>
            <pc:docMk/>
            <pc:sldMk cId="688779831" sldId="358"/>
            <ac:picMk id="9" creationId="{4FAF59EB-21B6-BDAF-B485-6D2BCDA5310A}"/>
          </ac:picMkLst>
        </pc:picChg>
        <pc:picChg chg="del mod topLvl">
          <ac:chgData name="Geert Jan Bex" userId="b602d378c858ceb4" providerId="LiveId" clId="{4801832E-0171-4C3A-8280-47AD1B442FFF}" dt="2025-05-21T15:28:55.882" v="37" actId="478"/>
          <ac:picMkLst>
            <pc:docMk/>
            <pc:sldMk cId="688779831" sldId="358"/>
            <ac:picMk id="14" creationId="{D3AC97ED-C105-5CA5-7B1C-7A1EB712B858}"/>
          </ac:picMkLst>
        </pc:picChg>
        <pc:cxnChg chg="mod">
          <ac:chgData name="Geert Jan Bex" userId="b602d378c858ceb4" providerId="LiveId" clId="{4801832E-0171-4C3A-8280-47AD1B442FFF}" dt="2025-05-21T15:28:38.249" v="34"/>
          <ac:cxnSpMkLst>
            <pc:docMk/>
            <pc:sldMk cId="688779831" sldId="358"/>
            <ac:cxnSpMk id="11" creationId="{B112BDF1-5478-EDB5-1F1C-048F81465E56}"/>
          </ac:cxnSpMkLst>
        </pc:cxnChg>
        <pc:cxnChg chg="mod">
          <ac:chgData name="Geert Jan Bex" userId="b602d378c858ceb4" providerId="LiveId" clId="{4801832E-0171-4C3A-8280-47AD1B442FFF}" dt="2025-05-21T15:28:45.282" v="35"/>
          <ac:cxnSpMkLst>
            <pc:docMk/>
            <pc:sldMk cId="688779831" sldId="358"/>
            <ac:cxnSpMk id="16" creationId="{7831DE07-2CFA-646A-1CF4-7EF5832801BD}"/>
          </ac:cxnSpMkLst>
        </pc:cxnChg>
      </pc:sldChg>
    </pc:docChg>
  </pc:docChgLst>
  <pc:docChgLst>
    <pc:chgData name="Geert Jan Bex" userId="b602d378c858ceb4" providerId="LiveId" clId="{30EAD574-1FC7-4A86-A60C-5DB10ABC81BA}"/>
    <pc:docChg chg="custSel addSld modSld">
      <pc:chgData name="Geert Jan Bex" userId="b602d378c858ceb4" providerId="LiveId" clId="{30EAD574-1FC7-4A86-A60C-5DB10ABC81BA}" dt="2025-02-03T12:51:50.899" v="87"/>
      <pc:docMkLst>
        <pc:docMk/>
      </pc:docMkLst>
      <pc:sldChg chg="modSp add mod">
        <pc:chgData name="Geert Jan Bex" userId="b602d378c858ceb4" providerId="LiveId" clId="{30EAD574-1FC7-4A86-A60C-5DB10ABC81BA}" dt="2025-01-17T10:12:00.991" v="16" actId="20577"/>
        <pc:sldMkLst>
          <pc:docMk/>
          <pc:sldMk cId="695502024" sldId="257"/>
        </pc:sldMkLst>
      </pc:sldChg>
      <pc:sldChg chg="addSp delSp modSp add mod delAnim modAnim">
        <pc:chgData name="Geert Jan Bex" userId="b602d378c858ceb4" providerId="LiveId" clId="{30EAD574-1FC7-4A86-A60C-5DB10ABC81BA}" dt="2025-02-03T12:51:50.899" v="87"/>
        <pc:sldMkLst>
          <pc:docMk/>
          <pc:sldMk cId="2597093166" sldId="348"/>
        </pc:sldMkLst>
      </pc:sldChg>
      <pc:sldChg chg="modSp add mod">
        <pc:chgData name="Geert Jan Bex" userId="b602d378c858ceb4" providerId="LiveId" clId="{30EAD574-1FC7-4A86-A60C-5DB10ABC81BA}" dt="2025-02-03T12:49:53.874" v="77" actId="208"/>
        <pc:sldMkLst>
          <pc:docMk/>
          <pc:sldMk cId="1464286054" sldId="353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4231110881" sldId="355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2488509471" sldId="35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12/03/2025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12/03/2025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12/03/2025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12/03/2025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12/03/2025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12/03/2025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12/03/2025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bit.ly/4737qM1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dvc.org/doc/user-guide/data-management/cloud-versioning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mailto:git@github.com:gjbex/ml_project.gi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sv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sv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dvc.org/doc" TargetMode="External"/><Relationship Id="rId2" Type="http://schemas.openxmlformats.org/officeDocument/2006/relationships/hyperlink" Target="https://git-scm.com/doc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MLOps</a:t>
            </a:r>
            <a:r>
              <a:rPr lang="en-US" dirty="0"/>
              <a:t> on HPC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D8EE7878-9270-9A2D-BCEA-6A2A8E1170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8" name="Picture 7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431F04A4-B182-7D9A-2216-19A7C3BB34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891" y="511430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588693" y="5445224"/>
            <a:ext cx="52581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https://bit.ly/4737qM1</a:t>
            </a:r>
            <a:r>
              <a:rPr lang="en-US" sz="40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FFC480-9116-B2BE-7116-6AB38E009B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603014" cy="2926615"/>
            <a:chOff x="1321249" y="3584213"/>
            <a:chExt cx="3603014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216359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480" y="4393364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919" y="4775923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84005" y="5294549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58218" y="3307140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58218" y="3959617"/>
            <a:ext cx="724201" cy="72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683CD-BDA9-F0C6-70DC-263023541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55E867-A8AD-3113-92B2-F950898F6D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BA70F4-2B97-F08B-A400-14610A697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30217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85605F-E7D2-A6BC-E621-D27565B16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Motivation</a:t>
            </a:r>
            <a:endParaRPr lang="LID4096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28C4-1AC3-BE14-F6BE-11B68875E8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1643742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US" sz="2000" dirty="0"/>
              <a:t>Machine learning</a:t>
            </a:r>
          </a:p>
          <a:p>
            <a:pPr lvl="1"/>
            <a:r>
              <a:rPr lang="en-US" sz="2000" dirty="0"/>
              <a:t>Increasingly important in many domains</a:t>
            </a:r>
          </a:p>
          <a:p>
            <a:pPr lvl="1"/>
            <a:r>
              <a:rPr lang="en-US" sz="2000" dirty="0"/>
              <a:t>Not trivial to reproduce</a:t>
            </a:r>
          </a:p>
          <a:p>
            <a:pPr lvl="1"/>
            <a:r>
              <a:rPr lang="en-US" sz="2000" dirty="0"/>
              <a:t>Requires flexibility to experiment</a:t>
            </a:r>
          </a:p>
          <a:p>
            <a:pPr lvl="1"/>
            <a:endParaRPr lang="en-US" sz="2000" dirty="0"/>
          </a:p>
          <a:p>
            <a:endParaRPr lang="en-US" sz="2400" dirty="0"/>
          </a:p>
          <a:p>
            <a:r>
              <a:rPr lang="en-US" sz="2000" dirty="0"/>
              <a:t>However, not limited to ML!</a:t>
            </a:r>
          </a:p>
          <a:p>
            <a:pPr lvl="1"/>
            <a:r>
              <a:rPr lang="en-US" sz="2000" dirty="0"/>
              <a:t>Any type of experiments</a:t>
            </a:r>
            <a:endParaRPr lang="LID4096" sz="2000" dirty="0"/>
          </a:p>
        </p:txBody>
      </p:sp>
      <p:pic>
        <p:nvPicPr>
          <p:cNvPr id="6" name="Picture 5" descr="Machine in a laboratory">
            <a:extLst>
              <a:ext uri="{FF2B5EF4-FFF2-40B4-BE49-F238E27FC236}">
                <a16:creationId xmlns:a16="http://schemas.microsoft.com/office/drawing/2014/main" id="{59D88B83-4DAB-5889-35AB-497F541287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070" r="16530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396115-DFA5-43A3-EF71-34E1D0320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C7CE217-4467-4B8D-A735-B008FA7C4816}" type="slidenum">
              <a:rPr lang="LID4096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7</a:t>
            </a:fld>
            <a:endParaRPr lang="LID4096">
              <a:solidFill>
                <a:srgbClr val="FFFFFF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13E2B7-F060-FE0E-D44A-E8B79994E60B}"/>
              </a:ext>
            </a:extLst>
          </p:cNvPr>
          <p:cNvSpPr txBox="1"/>
          <p:nvPr/>
        </p:nvSpPr>
        <p:spPr>
          <a:xfrm>
            <a:off x="2486981" y="3704421"/>
            <a:ext cx="112203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MLOps</a:t>
            </a:r>
            <a:endParaRPr lang="LID4096" sz="24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88CB673-09F9-92B7-3C69-DAC9236D1FB6}"/>
              </a:ext>
            </a:extLst>
          </p:cNvPr>
          <p:cNvGrpSpPr/>
          <p:nvPr/>
        </p:nvGrpSpPr>
        <p:grpSpPr>
          <a:xfrm>
            <a:off x="2441103" y="4961332"/>
            <a:ext cx="1557440" cy="714591"/>
            <a:chOff x="2441103" y="4961332"/>
            <a:chExt cx="1557440" cy="71459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834E0CF-CC55-76E9-BAC1-C3426E1C6B88}"/>
                </a:ext>
              </a:extLst>
            </p:cNvPr>
            <p:cNvSpPr txBox="1"/>
            <p:nvPr/>
          </p:nvSpPr>
          <p:spPr>
            <a:xfrm>
              <a:off x="2441103" y="5214258"/>
              <a:ext cx="1213794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 err="1"/>
                <a:t>ExpOps</a:t>
              </a:r>
              <a:endParaRPr lang="LID4096" sz="2400" dirty="0"/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BCE167F5-DE8A-5BE7-13B1-519EC16B6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493468" y="4961332"/>
              <a:ext cx="505075" cy="5050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84993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1329C-EFBF-A4F4-61B1-990F095AE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options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46390-B09D-DCFF-F23F-C98E6BAAED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MLFlow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ZenML</a:t>
            </a:r>
            <a:endParaRPr lang="en-US" dirty="0"/>
          </a:p>
          <a:p>
            <a:endParaRPr lang="en-US" dirty="0"/>
          </a:p>
          <a:p>
            <a:r>
              <a:rPr lang="en-US" dirty="0"/>
              <a:t>DVC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46C2A7-88E8-036E-CBF3-80BFCAE0F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BDC27A-F312-C227-80CD-F4C81A638E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9058" y="2645290"/>
            <a:ext cx="2505425" cy="7621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6D43EC7-DD31-B709-4B67-54D1CA84FD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231" y="1602642"/>
            <a:ext cx="2010056" cy="8097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6D617D-DF3F-3C14-10EC-6787B69578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1148" y="3579660"/>
            <a:ext cx="1343138" cy="837486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70F7016-40BA-E84C-A0DA-D9394AFFCE6A}"/>
              </a:ext>
            </a:extLst>
          </p:cNvPr>
          <p:cNvSpPr/>
          <p:nvPr/>
        </p:nvSpPr>
        <p:spPr>
          <a:xfrm>
            <a:off x="609600" y="3579660"/>
            <a:ext cx="4136571" cy="927026"/>
          </a:xfrm>
          <a:prstGeom prst="roundRect">
            <a:avLst/>
          </a:prstGeom>
          <a:solidFill>
            <a:schemeClr val="accent1">
              <a:alpha val="3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 w="57150"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440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B91FC-F3E9-8B2D-93C7-E612E3E2F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222A94-D9EE-07BD-D2CC-A1179BB76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9CCB1D-FD41-2462-A217-E8818F2DD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0F6E89-1C1F-5484-625B-9E682E1A58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505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D94AE0-795D-0EDB-31CE-636F5C69C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DVC advantages</a:t>
            </a:r>
            <a:endParaRPr lang="LID4096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91741E-5B6A-974E-2202-F126521305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 fontScale="92500"/>
          </a:bodyPr>
          <a:lstStyle/>
          <a:p>
            <a:r>
              <a:rPr lang="en-US" sz="2000" dirty="0"/>
              <a:t>Interoperates with git</a:t>
            </a:r>
          </a:p>
          <a:p>
            <a:r>
              <a:rPr lang="en-US" sz="2000" dirty="0"/>
              <a:t>Like git</a:t>
            </a:r>
          </a:p>
          <a:p>
            <a:r>
              <a:rPr lang="en-US" sz="2000" dirty="0"/>
              <a:t>Git + DVC = standalone</a:t>
            </a:r>
          </a:p>
          <a:p>
            <a:r>
              <a:rPr lang="en-US" sz="2000" dirty="0"/>
              <a:t>Supports remote data storage</a:t>
            </a:r>
          </a:p>
          <a:p>
            <a:endParaRPr lang="en-US" sz="2000" dirty="0"/>
          </a:p>
          <a:p>
            <a:r>
              <a:rPr lang="en-US" sz="2000" dirty="0"/>
              <a:t>Features</a:t>
            </a:r>
          </a:p>
          <a:p>
            <a:pPr lvl="1"/>
            <a:r>
              <a:rPr lang="en-US" sz="2000" dirty="0"/>
              <a:t>Data versioning</a:t>
            </a:r>
          </a:p>
          <a:p>
            <a:pPr lvl="1"/>
            <a:r>
              <a:rPr lang="en-US" sz="2000" dirty="0"/>
              <a:t>Data pipelines</a:t>
            </a:r>
          </a:p>
          <a:p>
            <a:pPr lvl="1"/>
            <a:r>
              <a:rPr lang="en-US" sz="2000" dirty="0"/>
              <a:t>Experiment management</a:t>
            </a:r>
          </a:p>
          <a:p>
            <a:pPr lvl="1"/>
            <a:r>
              <a:rPr lang="en-US" sz="2000" dirty="0"/>
              <a:t>Model registry (requires DVC Studio)</a:t>
            </a:r>
            <a:endParaRPr lang="LID4096" sz="2000" dirty="0"/>
          </a:p>
        </p:txBody>
      </p:sp>
      <p:pic>
        <p:nvPicPr>
          <p:cNvPr id="6" name="Picture 5" descr="Stretched steel tapes in different lengths">
            <a:extLst>
              <a:ext uri="{FF2B5EF4-FFF2-40B4-BE49-F238E27FC236}">
                <a16:creationId xmlns:a16="http://schemas.microsoft.com/office/drawing/2014/main" id="{8E5B289C-7600-BC91-47DF-20BFFD7F37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345" r="20478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96352E-2986-DF89-A4F3-1D56AF4B3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C7CE217-4467-4B8D-A735-B008FA7C4816}" type="slidenum">
              <a:rPr lang="LID4096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10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676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A1D71-9C46-7A3A-A6F7-E26F63259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Repository setup for DVC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8D002-A646-D36D-054D-0D51F543F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Set up git repository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ml_project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Initialize DVC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Configure remote for DVC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80717-D273-892C-4CAE-6FDB9F60E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D46715-3524-94A1-C6FA-927E09CACF93}"/>
              </a:ext>
            </a:extLst>
          </p:cNvPr>
          <p:cNvSpPr txBox="1"/>
          <p:nvPr/>
        </p:nvSpPr>
        <p:spPr>
          <a:xfrm>
            <a:off x="1808737" y="2332124"/>
            <a:ext cx="680186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mkdir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ml_project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ml_project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init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FAB97-A03B-47EF-EF0F-75DE025AF7A0}"/>
              </a:ext>
            </a:extLst>
          </p:cNvPr>
          <p:cNvSpPr txBox="1"/>
          <p:nvPr/>
        </p:nvSpPr>
        <p:spPr>
          <a:xfrm>
            <a:off x="1808737" y="3877899"/>
            <a:ext cx="6801861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init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'Initialize DVC'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91D15D-2842-FF2D-D0F4-D2D24CD1A4DC}"/>
              </a:ext>
            </a:extLst>
          </p:cNvPr>
          <p:cNvSpPr txBox="1"/>
          <p:nvPr/>
        </p:nvSpPr>
        <p:spPr>
          <a:xfrm>
            <a:off x="1808738" y="5411248"/>
            <a:ext cx="6801862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remote add  -d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local_storage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../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dvc_data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add .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/config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'Add remote storage for DVC'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2048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8EA23-0FE9-9F61-34A7-660272501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DVC remote storage options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936BA-69E2-AA8E-04BD-95211F6BA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</a:t>
            </a:r>
            <a:r>
              <a:rPr lang="en-US" i="1" dirty="0"/>
              <a:t>not</a:t>
            </a:r>
            <a:r>
              <a:rPr lang="en-US" dirty="0"/>
              <a:t> in git repository</a:t>
            </a:r>
          </a:p>
          <a:p>
            <a:pPr lvl="1"/>
            <a:r>
              <a:rPr lang="en-US" dirty="0"/>
              <a:t>Too large</a:t>
            </a:r>
          </a:p>
          <a:p>
            <a:pPr lvl="1"/>
            <a:r>
              <a:rPr lang="en-US" dirty="0"/>
              <a:t>Bad match with git, i.e., binary files</a:t>
            </a:r>
          </a:p>
          <a:p>
            <a:r>
              <a:rPr lang="en-US" dirty="0"/>
              <a:t>DVC</a:t>
            </a:r>
          </a:p>
          <a:p>
            <a:pPr lvl="1"/>
            <a:r>
              <a:rPr lang="en-US" dirty="0"/>
              <a:t>Meta-data in git repository</a:t>
            </a:r>
          </a:p>
          <a:p>
            <a:pPr lvl="1"/>
            <a:r>
              <a:rPr lang="en-US" dirty="0"/>
              <a:t>Data in remote storage</a:t>
            </a:r>
          </a:p>
          <a:p>
            <a:r>
              <a:rPr lang="en-US" dirty="0"/>
              <a:t>Remote storage</a:t>
            </a:r>
          </a:p>
          <a:p>
            <a:pPr lvl="1"/>
            <a:r>
              <a:rPr lang="en-US" dirty="0"/>
              <a:t>Local directory</a:t>
            </a:r>
          </a:p>
          <a:p>
            <a:pPr lvl="1"/>
            <a:r>
              <a:rPr lang="en-US" dirty="0"/>
              <a:t>SSH &amp; SFTP</a:t>
            </a:r>
          </a:p>
          <a:p>
            <a:pPr lvl="1"/>
            <a:r>
              <a:rPr lang="en-US" dirty="0"/>
              <a:t>HTTP/WebDAV</a:t>
            </a:r>
          </a:p>
          <a:p>
            <a:pPr lvl="1"/>
            <a:r>
              <a:rPr lang="en-US" dirty="0"/>
              <a:t>Cloud (S3, Azure Blob Storage, GCP, Google Drive, ...)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F81EFC-0F2E-2E2C-811D-D443B16F5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F2FB6E9-E272-E2BD-C49F-967EB6FA3FB6}"/>
              </a:ext>
            </a:extLst>
          </p:cNvPr>
          <p:cNvGrpSpPr/>
          <p:nvPr/>
        </p:nvGrpSpPr>
        <p:grpSpPr>
          <a:xfrm>
            <a:off x="3254828" y="4001294"/>
            <a:ext cx="7597462" cy="1135701"/>
            <a:chOff x="-450540" y="5535406"/>
            <a:chExt cx="7597462" cy="113570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89C3C7-09A3-FA90-403A-515C7DA21585}"/>
                </a:ext>
              </a:extLst>
            </p:cNvPr>
            <p:cNvSpPr txBox="1"/>
            <p:nvPr/>
          </p:nvSpPr>
          <p:spPr>
            <a:xfrm>
              <a:off x="3707904" y="5535406"/>
              <a:ext cx="3439018" cy="5232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ea typeface="+mn-ea"/>
                  <a:cs typeface="+mn-cs"/>
                </a:rPr>
                <a:t>Good choice for HPC</a:t>
              </a:r>
              <a:endParaRPr kumimoji="0" lang="nl-BE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8E75BB4-B799-B618-BBC3-CD1AEA0B3F94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 flipH="1">
              <a:off x="-450540" y="5797016"/>
              <a:ext cx="4158444" cy="87409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5214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DF64B-E17F-6EFA-83EA-30FD2E027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DVC remotes examples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2DF27-FE27-0776-7496-677AB3B9C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Directory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$VSC_DATA</a:t>
            </a:r>
            <a:r>
              <a:rPr lang="en-US" dirty="0">
                <a:cs typeface="Courier New" panose="02070309020205020404" pitchFamily="49" charset="0"/>
              </a:rPr>
              <a:t>, only for HPC access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Directory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$VSC_DATA</a:t>
            </a:r>
            <a:r>
              <a:rPr lang="en-US" dirty="0">
                <a:cs typeface="Courier New" panose="02070309020205020404" pitchFamily="49" charset="0"/>
              </a:rPr>
              <a:t>, accessible via SFTP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Cloud access, see documentation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  <a:hlinkClick r:id="rId2"/>
              </a:rPr>
              <a:t>https://dvc.org/doc/user-guide/data-management/cloud-versioning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endParaRPr lang="LID4096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11360-9D34-81D4-4D5B-1C6F94D0A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A98B6A-3BDB-0471-0B16-8F34E40325E6}"/>
              </a:ext>
            </a:extLst>
          </p:cNvPr>
          <p:cNvSpPr txBox="1"/>
          <p:nvPr/>
        </p:nvSpPr>
        <p:spPr>
          <a:xfrm>
            <a:off x="1340650" y="3923055"/>
            <a:ext cx="10661893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remote add -d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vsc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ssh://vsc30000@login.hpc.kuleuven.be:/data/leuven/300/vsc30000/dvc_data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427547-4DCE-692F-CD52-71EA68B6250E}"/>
              </a:ext>
            </a:extLst>
          </p:cNvPr>
          <p:cNvSpPr txBox="1"/>
          <p:nvPr/>
        </p:nvSpPr>
        <p:spPr>
          <a:xfrm>
            <a:off x="1340650" y="2366846"/>
            <a:ext cx="1066189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remote add -d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local_storage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$VSC_DATA/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dvc_data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757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B542E-B741-7F4F-9520-963F6737D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21D01-A148-6D32-0A56-9482F66D4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AAEBDE-D5D2-5070-B447-344CBD06D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versioning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53BD9-3651-0170-C0A9-ACAEE558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21C4E8-F51B-2CBF-47F8-29C450ACC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071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6F1A4-37FF-4F4A-4619-9F73AFDAD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DVC data versioning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B6E9C-01BE-3220-B836-5F1FE8C3F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data to DVC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 can be</a:t>
            </a:r>
          </a:p>
          <a:p>
            <a:pPr lvl="1"/>
            <a:r>
              <a:rPr lang="en-US" dirty="0"/>
              <a:t>Textual (CSV, JSON, YAML, </a:t>
            </a:r>
            <a:r>
              <a:rPr lang="en-US" dirty="0">
                <a:sym typeface="Symbol" panose="05050102010706020507" pitchFamily="18" charset="2"/>
              </a:rPr>
              <a:t>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Binary (HDF5, JPEG, </a:t>
            </a:r>
            <a:r>
              <a:rPr lang="en-US" dirty="0" err="1"/>
              <a:t>HuggingFace</a:t>
            </a:r>
            <a:r>
              <a:rPr lang="en-US" dirty="0"/>
              <a:t> dataset, </a:t>
            </a:r>
            <a:r>
              <a:rPr lang="en-US" dirty="0">
                <a:sym typeface="Symbol" panose="05050102010706020507" pitchFamily="18" charset="2"/>
              </a:rPr>
              <a:t></a:t>
            </a:r>
            <a:r>
              <a:rPr lang="en-US" dirty="0"/>
              <a:t>)</a:t>
            </a:r>
          </a:p>
          <a:p>
            <a:r>
              <a:rPr lang="en-US" dirty="0"/>
              <a:t>Convenient auto staging (optional)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64C9CA-DDF1-5A17-DBCF-7A652DF01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651F20-6957-3714-196F-F9443056B3C7}"/>
              </a:ext>
            </a:extLst>
          </p:cNvPr>
          <p:cNvSpPr txBox="1"/>
          <p:nvPr/>
        </p:nvSpPr>
        <p:spPr>
          <a:xfrm>
            <a:off x="1808737" y="2332124"/>
            <a:ext cx="7226406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add data/data.csv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add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'Add data set'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31F26D-9708-9F92-EE70-9FFC7BAD0B1D}"/>
              </a:ext>
            </a:extLst>
          </p:cNvPr>
          <p:cNvSpPr txBox="1"/>
          <p:nvPr/>
        </p:nvSpPr>
        <p:spPr>
          <a:xfrm>
            <a:off x="1808737" y="5253633"/>
            <a:ext cx="7226406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config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core.autostage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true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add .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/config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 -m 'Switch on DVC auto-staging'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F5B27E6-5DD7-D1B7-98AC-2A88896B6E08}"/>
              </a:ext>
            </a:extLst>
          </p:cNvPr>
          <p:cNvGrpSpPr/>
          <p:nvPr/>
        </p:nvGrpSpPr>
        <p:grpSpPr>
          <a:xfrm>
            <a:off x="5856514" y="1640960"/>
            <a:ext cx="5295196" cy="1004270"/>
            <a:chOff x="-2074887" y="5501785"/>
            <a:chExt cx="7297156" cy="113570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97D4B7E-4461-D47D-41A1-9DEB1C2105B8}"/>
                </a:ext>
              </a:extLst>
            </p:cNvPr>
            <p:cNvSpPr txBox="1"/>
            <p:nvPr/>
          </p:nvSpPr>
          <p:spPr>
            <a:xfrm>
              <a:off x="2083559" y="5501785"/>
              <a:ext cx="3138710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Created by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rPr>
                <a:t> add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86DECE1-A6E8-FAD1-5178-A9934E07A407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-2074887" y="5710619"/>
              <a:ext cx="4158446" cy="92686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90C900-1234-3FE7-3358-C5CDFC5C536F}"/>
              </a:ext>
            </a:extLst>
          </p:cNvPr>
          <p:cNvGrpSpPr/>
          <p:nvPr/>
        </p:nvGrpSpPr>
        <p:grpSpPr>
          <a:xfrm>
            <a:off x="6389914" y="3428998"/>
            <a:ext cx="5693835" cy="517618"/>
            <a:chOff x="-304736" y="5334092"/>
            <a:chExt cx="7846508" cy="58536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AC8DEE-E6FC-FF3D-3974-6E1DC238E04A}"/>
                </a:ext>
              </a:extLst>
            </p:cNvPr>
            <p:cNvSpPr txBox="1"/>
            <p:nvPr/>
          </p:nvSpPr>
          <p:spPr>
            <a:xfrm>
              <a:off x="2083559" y="5501785"/>
              <a:ext cx="5458213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Version of data == commit </a:t>
              </a:r>
              <a:r>
                <a:rPr lang="en-US" dirty="0">
                  <a:solidFill>
                    <a:prstClr val="black"/>
                  </a:solidFill>
                </a:rPr>
                <a:t>of </a:t>
              </a:r>
              <a:r>
                <a:rPr lang="en-US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dirty="0">
                  <a:solidFill>
                    <a:prstClr val="black"/>
                  </a:solidFill>
                </a:rPr>
                <a:t> file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45480FD-EEB3-07F7-6281-4D20FA637EDA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 flipV="1">
              <a:off x="-304736" y="5334092"/>
              <a:ext cx="2388295" cy="37652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5227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D62FB-630A-219F-2A2C-EED94EFEC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Interacting with DVC remote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DA91-72FE-416D-7FEF-8F2AD1493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git</a:t>
            </a:r>
          </a:p>
          <a:p>
            <a:pPr lvl="1"/>
            <a:r>
              <a:rPr lang="en-US" dirty="0"/>
              <a:t>Push changes to remote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Pull changes from remote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DF0A14-4458-7144-264D-012F640C2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0F827B-5ADB-BD15-82F0-27D3577C88A9}"/>
              </a:ext>
            </a:extLst>
          </p:cNvPr>
          <p:cNvSpPr txBox="1"/>
          <p:nvPr/>
        </p:nvSpPr>
        <p:spPr>
          <a:xfrm>
            <a:off x="1612794" y="2793464"/>
            <a:ext cx="38300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push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47FD43-B3FA-1D22-9DBE-AEBB858259FF}"/>
              </a:ext>
            </a:extLst>
          </p:cNvPr>
          <p:cNvSpPr txBox="1"/>
          <p:nvPr/>
        </p:nvSpPr>
        <p:spPr>
          <a:xfrm>
            <a:off x="1612794" y="4001294"/>
            <a:ext cx="38300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pull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29072F5-DDD9-E136-1482-D0FBF3D42368}"/>
              </a:ext>
            </a:extLst>
          </p:cNvPr>
          <p:cNvGrpSpPr/>
          <p:nvPr/>
        </p:nvGrpSpPr>
        <p:grpSpPr>
          <a:xfrm>
            <a:off x="6749145" y="3029158"/>
            <a:ext cx="4235591" cy="1156802"/>
            <a:chOff x="2623457" y="4694356"/>
            <a:chExt cx="4235591" cy="115680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153D251-5277-7D61-4C98-4DC41B24385E}"/>
                </a:ext>
              </a:extLst>
            </p:cNvPr>
            <p:cNvSpPr txBox="1"/>
            <p:nvPr/>
          </p:nvSpPr>
          <p:spPr>
            <a:xfrm>
              <a:off x="2623457" y="5020161"/>
              <a:ext cx="3830064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Data is cached locally in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/cache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8" name="Graphic 7" descr="Warning with solid fill">
              <a:extLst>
                <a:ext uri="{FF2B5EF4-FFF2-40B4-BE49-F238E27FC236}">
                  <a16:creationId xmlns:a16="http://schemas.microsoft.com/office/drawing/2014/main" id="{D351281B-A66A-8FBC-9792-FD622701E4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210976" y="4694356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2438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6F552-F5B4-A3EF-F5D6-C34E2B54E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Modifying data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F00942-358B-39D3-0FB2-201941BCD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Change data</a:t>
            </a:r>
          </a:p>
          <a:p>
            <a:pPr lvl="1"/>
            <a:r>
              <a:rPr lang="en-US" dirty="0"/>
              <a:t>No change for git</a:t>
            </a:r>
          </a:p>
          <a:p>
            <a:pPr lvl="1"/>
            <a:r>
              <a:rPr lang="en-US" dirty="0"/>
              <a:t>Change for DVC</a:t>
            </a:r>
          </a:p>
          <a:p>
            <a:r>
              <a:rPr lang="en-US" dirty="0"/>
              <a:t>Check status, e.g.,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changes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BBFEB2-0978-A92D-4F36-7719CB945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20BE75-DC20-5EC6-8D44-01E257F9BC92}"/>
              </a:ext>
            </a:extLst>
          </p:cNvPr>
          <p:cNvSpPr txBox="1"/>
          <p:nvPr/>
        </p:nvSpPr>
        <p:spPr>
          <a:xfrm>
            <a:off x="1558367" y="3631179"/>
            <a:ext cx="7052234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status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changed outs: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  modified:           data/data.csv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0F798F-3EA0-29D2-3137-0359D0F967A5}"/>
              </a:ext>
            </a:extLst>
          </p:cNvPr>
          <p:cNvSpPr txBox="1"/>
          <p:nvPr/>
        </p:nvSpPr>
        <p:spPr>
          <a:xfrm>
            <a:off x="1558367" y="5666492"/>
            <a:ext cx="7052234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add data/data.csv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'Modify data'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push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351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1152F-8933-35BE-8F1A-6607D6B87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out previous versions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B91CA-3945-7651-D5B3-4CB2E0DD63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Find commit ID with git log</a:t>
            </a:r>
          </a:p>
          <a:p>
            <a:endParaRPr lang="en-US" dirty="0"/>
          </a:p>
          <a:p>
            <a:r>
              <a:rPr lang="en-US" dirty="0"/>
              <a:t>Check out commit,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17262ab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Go back to current version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EA471-CBD1-3D0F-D4B1-9AE6E9557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24C35B-32B5-7A20-6B97-D21173726D2F}"/>
              </a:ext>
            </a:extLst>
          </p:cNvPr>
          <p:cNvSpPr txBox="1"/>
          <p:nvPr/>
        </p:nvSpPr>
        <p:spPr>
          <a:xfrm>
            <a:off x="1503937" y="2336262"/>
            <a:ext cx="866332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log --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oneline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F7F68A-39CD-2DA0-B4B0-82C138C6D3F8}"/>
              </a:ext>
            </a:extLst>
          </p:cNvPr>
          <p:cNvSpPr txBox="1"/>
          <p:nvPr/>
        </p:nvSpPr>
        <p:spPr>
          <a:xfrm>
            <a:off x="1503936" y="3368635"/>
            <a:ext cx="8663321" cy="175432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checkout </a:t>
            </a:r>
            <a:r>
              <a:rPr lang="en-US" b="1" dirty="0">
                <a:solidFill>
                  <a:schemeClr val="bg1"/>
                </a:solidFill>
              </a:rPr>
              <a:t>17262ab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Building workspace index         |2.00 [00:00, 94.3entry/s]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Comparing indexes                |3.00 [00:00, 2.10kentry/s]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Applying changes                 |1.00 [00:00,   225file/s]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       data/data.csv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D8CD11-116B-2EA6-F208-5D63D283F43E}"/>
              </a:ext>
            </a:extLst>
          </p:cNvPr>
          <p:cNvSpPr txBox="1"/>
          <p:nvPr/>
        </p:nvSpPr>
        <p:spPr>
          <a:xfrm>
            <a:off x="1503936" y="5828463"/>
            <a:ext cx="866332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switch -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665F5AE-905C-B264-B599-E034BE5FEB6D}"/>
              </a:ext>
            </a:extLst>
          </p:cNvPr>
          <p:cNvGrpSpPr/>
          <p:nvPr/>
        </p:nvGrpSpPr>
        <p:grpSpPr>
          <a:xfrm>
            <a:off x="7847260" y="4542053"/>
            <a:ext cx="3870301" cy="1484821"/>
            <a:chOff x="8413411" y="4506284"/>
            <a:chExt cx="3870301" cy="14848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7BB86F1-AA3F-3DB5-34BD-E50F6017B42E}"/>
                </a:ext>
              </a:extLst>
            </p:cNvPr>
            <p:cNvSpPr txBox="1"/>
            <p:nvPr/>
          </p:nvSpPr>
          <p:spPr>
            <a:xfrm>
              <a:off x="8413411" y="4913887"/>
              <a:ext cx="3506540" cy="107721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Don't forget</a:t>
              </a:r>
              <a:br>
                <a:rPr lang="en-US" sz="3200" dirty="0"/>
              </a:b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checkout</a:t>
              </a:r>
              <a:r>
                <a:rPr lang="en-US" sz="3200" dirty="0"/>
                <a:t>!!!</a:t>
              </a:r>
              <a:endParaRPr lang="LID4096" sz="3200" dirty="0"/>
            </a:p>
          </p:txBody>
        </p:sp>
        <p:pic>
          <p:nvPicPr>
            <p:cNvPr id="10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14202F6A-7368-3D7D-77EF-AC8A3F728B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17561" y="4506284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FC7630B-0F66-7E50-1CE4-2804692EE7EF}"/>
              </a:ext>
            </a:extLst>
          </p:cNvPr>
          <p:cNvGrpSpPr/>
          <p:nvPr/>
        </p:nvGrpSpPr>
        <p:grpSpPr>
          <a:xfrm>
            <a:off x="7848507" y="2689759"/>
            <a:ext cx="3950199" cy="942697"/>
            <a:chOff x="6389916" y="4652038"/>
            <a:chExt cx="3950199" cy="94269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2798926-F725-FC59-8E20-52323B2C7F8E}"/>
                </a:ext>
              </a:extLst>
            </p:cNvPr>
            <p:cNvSpPr txBox="1"/>
            <p:nvPr/>
          </p:nvSpPr>
          <p:spPr>
            <a:xfrm>
              <a:off x="6389916" y="5009960"/>
              <a:ext cx="3484800" cy="5847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Everything revert!!!</a:t>
              </a:r>
              <a:endParaRPr lang="LID4096" sz="3200" dirty="0"/>
            </a:p>
          </p:txBody>
        </p:sp>
        <p:pic>
          <p:nvPicPr>
            <p:cNvPr id="14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E68B4816-5792-F5BD-519A-2A505E4C85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73964" y="4652038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61103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15714-3A45-E687-6CBD-5F4EBA417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C9AD6-CD94-A894-CF95-CB637917A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out only previous versions of data sets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32CD3-DF03-B8CB-F004-82A4FFD24A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Find commit ID with git log</a:t>
            </a:r>
          </a:p>
          <a:p>
            <a:endParaRPr lang="en-US" dirty="0"/>
          </a:p>
          <a:p>
            <a:r>
              <a:rPr lang="en-US" dirty="0"/>
              <a:t>Create a new branch &amp; restore commit,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17262ab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When done, switch branches &amp; clean up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F6A235-FD7E-FB42-EF92-DBCA59275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BF9D6C-435F-7C39-8584-D34F4C56AA28}"/>
              </a:ext>
            </a:extLst>
          </p:cNvPr>
          <p:cNvSpPr txBox="1"/>
          <p:nvPr/>
        </p:nvSpPr>
        <p:spPr>
          <a:xfrm>
            <a:off x="1503937" y="2336262"/>
            <a:ext cx="866332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log  --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oneline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 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566300-F87A-6F00-4390-BEA06B40B5CB}"/>
              </a:ext>
            </a:extLst>
          </p:cNvPr>
          <p:cNvSpPr txBox="1"/>
          <p:nvPr/>
        </p:nvSpPr>
        <p:spPr>
          <a:xfrm>
            <a:off x="1503936" y="3368635"/>
            <a:ext cx="8663321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switch -C experiment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restore  --source=17262ab  data/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data.csv.dvc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 -a  -m 'Use old data set'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5977D0-B1B1-3CE8-39A9-0F5BFF267D10}"/>
              </a:ext>
            </a:extLst>
          </p:cNvPr>
          <p:cNvSpPr txBox="1"/>
          <p:nvPr/>
        </p:nvSpPr>
        <p:spPr>
          <a:xfrm>
            <a:off x="1503936" y="5382147"/>
            <a:ext cx="8663321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switch -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branch  -D  experiment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2D702EF-685A-AD32-B634-29C60289D094}"/>
              </a:ext>
            </a:extLst>
          </p:cNvPr>
          <p:cNvGrpSpPr/>
          <p:nvPr/>
        </p:nvGrpSpPr>
        <p:grpSpPr>
          <a:xfrm>
            <a:off x="8183621" y="4817775"/>
            <a:ext cx="3967271" cy="1448882"/>
            <a:chOff x="6150428" y="4638296"/>
            <a:chExt cx="3967271" cy="144888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B352565-7DBF-CB94-48F6-1B3163B6CCC7}"/>
                </a:ext>
              </a:extLst>
            </p:cNvPr>
            <p:cNvSpPr txBox="1"/>
            <p:nvPr/>
          </p:nvSpPr>
          <p:spPr>
            <a:xfrm>
              <a:off x="6150428" y="5009960"/>
              <a:ext cx="3591048" cy="107721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Don't forget</a:t>
              </a:r>
              <a:br>
                <a:rPr lang="en-US" sz="3200" dirty="0"/>
              </a:b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checkout</a:t>
              </a:r>
              <a:r>
                <a:rPr lang="en-US" sz="3200" dirty="0"/>
                <a:t>!!!</a:t>
              </a:r>
              <a:endParaRPr lang="LID4096" sz="3200" dirty="0"/>
            </a:p>
          </p:txBody>
        </p:sp>
        <p:pic>
          <p:nvPicPr>
            <p:cNvPr id="10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3D580E30-7008-C9DE-90E5-E648EFBD63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1548" y="4638296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31280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7CEE3-1552-DE57-5958-BC2DFBCA8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Importing data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C2AB7-4C49-EBA0-911F-1B035297B5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files in git repository</a:t>
            </a:r>
          </a:p>
          <a:p>
            <a:endParaRPr lang="en-US" dirty="0"/>
          </a:p>
          <a:p>
            <a:r>
              <a:rPr lang="en-US" dirty="0"/>
              <a:t>Recursively list files</a:t>
            </a:r>
          </a:p>
          <a:p>
            <a:endParaRPr lang="en-US" dirty="0"/>
          </a:p>
          <a:p>
            <a:r>
              <a:rPr lang="en-US" dirty="0"/>
              <a:t>Import data set from git repository</a:t>
            </a:r>
          </a:p>
          <a:p>
            <a:endParaRPr lang="en-US" dirty="0"/>
          </a:p>
          <a:p>
            <a:r>
              <a:rPr lang="en-US" dirty="0"/>
              <a:t>Copy files from git repository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898982-1B76-5C14-2DF4-8F67E0F0E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421214-3A68-CE8E-3B82-37EA5FFB6E36}"/>
              </a:ext>
            </a:extLst>
          </p:cNvPr>
          <p:cNvSpPr txBox="1"/>
          <p:nvPr/>
        </p:nvSpPr>
        <p:spPr>
          <a:xfrm>
            <a:off x="1171068" y="2292719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list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C250F4-052F-55BF-D121-A10674E83CF0}"/>
              </a:ext>
            </a:extLst>
          </p:cNvPr>
          <p:cNvSpPr txBox="1"/>
          <p:nvPr/>
        </p:nvSpPr>
        <p:spPr>
          <a:xfrm>
            <a:off x="1171068" y="4350117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import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data/preprocessed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FBF0C9-8F49-054E-83BE-E19FF8372848}"/>
              </a:ext>
            </a:extLst>
          </p:cNvPr>
          <p:cNvSpPr txBox="1"/>
          <p:nvPr/>
        </p:nvSpPr>
        <p:spPr>
          <a:xfrm>
            <a:off x="1171067" y="3313833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list  -T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B3A1E3-4AA9-7FDB-DDF0-7BA237038676}"/>
              </a:ext>
            </a:extLst>
          </p:cNvPr>
          <p:cNvSpPr txBox="1"/>
          <p:nvPr/>
        </p:nvSpPr>
        <p:spPr>
          <a:xfrm>
            <a:off x="9599164" y="2854799"/>
            <a:ext cx="2202847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Note: performs</a:t>
            </a:r>
            <a:br>
              <a:rPr lang="en-US" sz="2400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git clone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under the hood</a:t>
            </a:r>
            <a:endParaRPr lang="LID4096" sz="24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3716980-5C90-C0FF-8B28-DF2DAF8BE645}"/>
              </a:ext>
            </a:extLst>
          </p:cNvPr>
          <p:cNvGrpSpPr/>
          <p:nvPr/>
        </p:nvGrpSpPr>
        <p:grpSpPr>
          <a:xfrm>
            <a:off x="6717700" y="867288"/>
            <a:ext cx="1993730" cy="778950"/>
            <a:chOff x="10483358" y="2630321"/>
            <a:chExt cx="1993730" cy="77895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C627ACB-6408-9BEE-D0BD-EBE43B88CF14}"/>
                </a:ext>
              </a:extLst>
            </p:cNvPr>
            <p:cNvSpPr txBox="1"/>
            <p:nvPr/>
          </p:nvSpPr>
          <p:spPr>
            <a:xfrm>
              <a:off x="10483358" y="2947606"/>
              <a:ext cx="1673150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Reuse data</a:t>
              </a:r>
              <a:endParaRPr kumimoji="0" lang="nl-B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pic>
          <p:nvPicPr>
            <p:cNvPr id="11" name="Graphic 10" descr="Thumbs up sign with solid fill">
              <a:extLst>
                <a:ext uri="{FF2B5EF4-FFF2-40B4-BE49-F238E27FC236}">
                  <a16:creationId xmlns:a16="http://schemas.microsoft.com/office/drawing/2014/main" id="{E399D65C-E4A7-043D-F531-2BD8085369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021905" y="2630321"/>
              <a:ext cx="455183" cy="455183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83F93B9-405A-E5AB-31D7-52BAEDB18327}"/>
              </a:ext>
            </a:extLst>
          </p:cNvPr>
          <p:cNvSpPr txBox="1"/>
          <p:nvPr/>
        </p:nvSpPr>
        <p:spPr>
          <a:xfrm>
            <a:off x="1171066" y="5448205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import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636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  <p:bldP spid="1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4B947-6034-82C1-6B86-BB8390461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306BB-22C7-9F18-8EEB-76FD771C3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F648C4-BAD6-346A-273D-32A49A7CBE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pipelines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7308D-72B9-7B0C-2C67-2FAF7FAF2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971657-8C8C-0322-3C46-9CBCFBC7E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9414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6C2F7-8212-3936-E1EF-AE48A6C87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pipelines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A9D2A3-E554-9F87-B0F5-BD9269FFC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Pipelines are built from stages</a:t>
            </a:r>
          </a:p>
          <a:p>
            <a:r>
              <a:rPr lang="en-US" dirty="0"/>
              <a:t>Stage has</a:t>
            </a:r>
          </a:p>
          <a:p>
            <a:pPr lvl="1"/>
            <a:r>
              <a:rPr lang="en-US" dirty="0"/>
              <a:t>Dependencies</a:t>
            </a:r>
          </a:p>
          <a:p>
            <a:pPr lvl="1"/>
            <a:r>
              <a:rPr lang="en-US" dirty="0"/>
              <a:t>Parameters (optional)</a:t>
            </a:r>
          </a:p>
          <a:p>
            <a:pPr lvl="1"/>
            <a:r>
              <a:rPr lang="en-US" dirty="0"/>
              <a:t>Metrics (optional)</a:t>
            </a:r>
          </a:p>
          <a:p>
            <a:pPr lvl="1"/>
            <a:r>
              <a:rPr lang="en-US" dirty="0"/>
              <a:t>Output(s)</a:t>
            </a:r>
          </a:p>
          <a:p>
            <a:pPr lvl="1"/>
            <a:r>
              <a:rPr lang="en-US" dirty="0"/>
              <a:t>Action (Python/R/Bash/</a:t>
            </a:r>
            <a:r>
              <a:rPr lang="en-US" dirty="0">
                <a:sym typeface="Symbol" panose="05050102010706020507" pitchFamily="18" charset="2"/>
              </a:rPr>
              <a:t></a:t>
            </a:r>
            <a:r>
              <a:rPr lang="en-US" dirty="0"/>
              <a:t> script)</a:t>
            </a:r>
          </a:p>
          <a:p>
            <a:r>
              <a:rPr lang="en-US" dirty="0"/>
              <a:t>Pipeline is directed acyclic graph (DAG) of stages</a:t>
            </a:r>
          </a:p>
          <a:p>
            <a:r>
              <a:rPr lang="en-US" dirty="0"/>
              <a:t>Stages are cached, only run on changes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5F0DD9-43F3-25A1-C77A-743F21AAF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70041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2EBDC-A35E-10B5-BCBE-4623DF9E4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stage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A1B04-20D1-7547-7CC3-FCCEBB20C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B3A4D5-23ED-2398-4666-792BE6EBDC03}"/>
              </a:ext>
            </a:extLst>
          </p:cNvPr>
          <p:cNvSpPr txBox="1"/>
          <p:nvPr/>
        </p:nvSpPr>
        <p:spPr>
          <a:xfrm>
            <a:off x="838200" y="1690688"/>
            <a:ext cx="8663321" cy="313932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add --name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data/data.csv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src/split_data.py --deps src/utils.py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--params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split_data.test_size,split_data.random_state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--outs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--outs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/test.csv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python src/split_data.py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--data data/data.csv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--params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--output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'Add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CF17237-2BFE-39A5-0EA9-9A6D0ED742BE}"/>
              </a:ext>
            </a:extLst>
          </p:cNvPr>
          <p:cNvGrpSpPr/>
          <p:nvPr/>
        </p:nvGrpSpPr>
        <p:grpSpPr>
          <a:xfrm>
            <a:off x="5018314" y="686418"/>
            <a:ext cx="3067925" cy="1004270"/>
            <a:chOff x="88563" y="5501785"/>
            <a:chExt cx="4227818" cy="11357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1A42B1C-A094-247B-1C2B-3DB1259F6E76}"/>
                </a:ext>
              </a:extLst>
            </p:cNvPr>
            <p:cNvSpPr txBox="1"/>
            <p:nvPr/>
          </p:nvSpPr>
          <p:spPr>
            <a:xfrm>
              <a:off x="2083559" y="5501785"/>
              <a:ext cx="2232822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Name of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1E54B9B-FFB3-5EDD-F8D1-40F88412AC5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88563" y="5710619"/>
              <a:ext cx="1994996" cy="92686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B74DB-DA17-BBD9-C3C5-FD8FB844B5CE}"/>
              </a:ext>
            </a:extLst>
          </p:cNvPr>
          <p:cNvGrpSpPr/>
          <p:nvPr/>
        </p:nvGrpSpPr>
        <p:grpSpPr>
          <a:xfrm>
            <a:off x="4757185" y="1240416"/>
            <a:ext cx="4620214" cy="956231"/>
            <a:chOff x="-1606406" y="5501785"/>
            <a:chExt cx="6366983" cy="108137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14BF517-2822-703F-7260-3734BCB44BE4}"/>
                </a:ext>
              </a:extLst>
            </p:cNvPr>
            <p:cNvSpPr txBox="1"/>
            <p:nvPr/>
          </p:nvSpPr>
          <p:spPr>
            <a:xfrm>
              <a:off x="2083560" y="5501785"/>
              <a:ext cx="2677017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Data dependency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B478151-7125-6FE4-F7C3-CBFBC8179D2B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-1606406" y="5710619"/>
              <a:ext cx="3689966" cy="8725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CBEF5B6-78D7-C133-77B0-78DAFC776D60}"/>
              </a:ext>
            </a:extLst>
          </p:cNvPr>
          <p:cNvGrpSpPr/>
          <p:nvPr/>
        </p:nvGrpSpPr>
        <p:grpSpPr>
          <a:xfrm>
            <a:off x="7581946" y="1240415"/>
            <a:ext cx="4560218" cy="1066717"/>
            <a:chOff x="-1184946" y="5501785"/>
            <a:chExt cx="6284304" cy="120632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A5C77DD-305F-B02D-7BC1-C82B61E45F1E}"/>
                </a:ext>
              </a:extLst>
            </p:cNvPr>
            <p:cNvSpPr txBox="1"/>
            <p:nvPr/>
          </p:nvSpPr>
          <p:spPr>
            <a:xfrm>
              <a:off x="2083560" y="5501785"/>
              <a:ext cx="3015798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Code dependencies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8EA0BC63-52F6-D47A-3404-7FB2D69D8095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>
              <a:off x="-1184946" y="5710619"/>
              <a:ext cx="3268506" cy="99748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D2689CB-7288-0B92-CA79-157E8AFD4272}"/>
              </a:ext>
            </a:extLst>
          </p:cNvPr>
          <p:cNvGrpSpPr/>
          <p:nvPr/>
        </p:nvGrpSpPr>
        <p:grpSpPr>
          <a:xfrm>
            <a:off x="8817429" y="2869995"/>
            <a:ext cx="2669769" cy="450272"/>
            <a:chOff x="517637" y="5410252"/>
            <a:chExt cx="3679131" cy="5092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6B07295-5137-4BCA-A638-4F602283E896}"/>
                </a:ext>
              </a:extLst>
            </p:cNvPr>
            <p:cNvSpPr txBox="1"/>
            <p:nvPr/>
          </p:nvSpPr>
          <p:spPr>
            <a:xfrm>
              <a:off x="2083561" y="5501785"/>
              <a:ext cx="2113207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Parameters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34295FE-9EFC-4C53-61BE-D905522DFDFB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 flipV="1">
              <a:off x="517637" y="5410252"/>
              <a:ext cx="1565924" cy="30036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5704378-8579-4D8B-5B2B-28DE70E1AC52}"/>
              </a:ext>
            </a:extLst>
          </p:cNvPr>
          <p:cNvGrpSpPr/>
          <p:nvPr/>
        </p:nvGrpSpPr>
        <p:grpSpPr>
          <a:xfrm>
            <a:off x="6215743" y="3011680"/>
            <a:ext cx="5271454" cy="971126"/>
            <a:chOff x="6215743" y="3011680"/>
            <a:chExt cx="5271454" cy="971126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EB9D131-623A-EC0B-39E3-33045DF3D978}"/>
                </a:ext>
              </a:extLst>
            </p:cNvPr>
            <p:cNvGrpSpPr/>
            <p:nvPr/>
          </p:nvGrpSpPr>
          <p:grpSpPr>
            <a:xfrm>
              <a:off x="6313714" y="3011680"/>
              <a:ext cx="5173483" cy="971126"/>
              <a:chOff x="-2932660" y="4821233"/>
              <a:chExt cx="7129427" cy="1098219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F112A53-7699-E520-A782-6ACB46DE0897}"/>
                  </a:ext>
                </a:extLst>
              </p:cNvPr>
              <p:cNvSpPr txBox="1"/>
              <p:nvPr/>
            </p:nvSpPr>
            <p:spPr>
              <a:xfrm>
                <a:off x="2083561" y="5501785"/>
                <a:ext cx="2113206" cy="41766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Output files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C9937ED1-D9DB-F4B8-FD87-4BD645EDA813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 flipH="1" flipV="1">
                <a:off x="-2932660" y="4821233"/>
                <a:ext cx="5016221" cy="889385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52A78436-E328-BAA3-9023-0DEE8074CA02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6215743" y="3375954"/>
              <a:ext cx="3738002" cy="42218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C03CAD5-6A85-61CC-A5BB-6DA68C434C0D}"/>
              </a:ext>
            </a:extLst>
          </p:cNvPr>
          <p:cNvGrpSpPr/>
          <p:nvPr/>
        </p:nvGrpSpPr>
        <p:grpSpPr>
          <a:xfrm>
            <a:off x="5169860" y="3889886"/>
            <a:ext cx="6317338" cy="1098241"/>
            <a:chOff x="-4564490" y="4990732"/>
            <a:chExt cx="8705739" cy="124197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FE0DA4A-7123-B642-7276-50ABA2689581}"/>
                </a:ext>
              </a:extLst>
            </p:cNvPr>
            <p:cNvSpPr txBox="1"/>
            <p:nvPr/>
          </p:nvSpPr>
          <p:spPr>
            <a:xfrm>
              <a:off x="2083561" y="5501785"/>
              <a:ext cx="2057688" cy="73091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Command to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execute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9A223BF1-455F-1F0B-94DA-23CC49456387}"/>
                </a:ext>
              </a:extLst>
            </p:cNvPr>
            <p:cNvCxnSpPr>
              <a:cxnSpLocks/>
              <a:stCxn id="31" idx="1"/>
            </p:cNvCxnSpPr>
            <p:nvPr/>
          </p:nvCxnSpPr>
          <p:spPr>
            <a:xfrm flipH="1" flipV="1">
              <a:off x="-4564490" y="4990732"/>
              <a:ext cx="6648051" cy="876512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63BDFB2-7FE1-F1E0-3827-E02C9D90628B}"/>
              </a:ext>
            </a:extLst>
          </p:cNvPr>
          <p:cNvGrpSpPr/>
          <p:nvPr/>
        </p:nvGrpSpPr>
        <p:grpSpPr>
          <a:xfrm>
            <a:off x="2227559" y="4830010"/>
            <a:ext cx="9742455" cy="994002"/>
            <a:chOff x="2227559" y="4830010"/>
            <a:chExt cx="9742455" cy="994002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A221750-E833-338E-20BA-A51AF64FB828}"/>
                </a:ext>
              </a:extLst>
            </p:cNvPr>
            <p:cNvSpPr txBox="1"/>
            <p:nvPr/>
          </p:nvSpPr>
          <p:spPr>
            <a:xfrm>
              <a:off x="5875460" y="5362347"/>
              <a:ext cx="6094554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stage add</a:t>
              </a:r>
              <a:r>
                <a:rPr lang="en-US" sz="2400" dirty="0"/>
                <a:t> creates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dvc.yaml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file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E4371075-153C-5985-3C66-09E3C817AE97}"/>
                </a:ext>
              </a:extLst>
            </p:cNvPr>
            <p:cNvGrpSpPr/>
            <p:nvPr/>
          </p:nvGrpSpPr>
          <p:grpSpPr>
            <a:xfrm>
              <a:off x="2227559" y="4830010"/>
              <a:ext cx="3647901" cy="797904"/>
              <a:chOff x="2227559" y="4830010"/>
              <a:chExt cx="3988184" cy="821244"/>
            </a:xfrm>
          </p:grpSpPr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B701C950-BAD0-3E77-8BEB-1357E9D0756D}"/>
                  </a:ext>
                </a:extLst>
              </p:cNvPr>
              <p:cNvGrpSpPr/>
              <p:nvPr/>
            </p:nvGrpSpPr>
            <p:grpSpPr>
              <a:xfrm>
                <a:off x="2227559" y="4830010"/>
                <a:ext cx="2428998" cy="821244"/>
                <a:chOff x="2083561" y="4990730"/>
                <a:chExt cx="3347331" cy="928722"/>
              </a:xfrm>
            </p:grpSpPr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133EFDE2-7FA0-C947-C743-4B6654EAA8D9}"/>
                    </a:ext>
                  </a:extLst>
                </p:cNvPr>
                <p:cNvSpPr txBox="1"/>
                <p:nvPr/>
              </p:nvSpPr>
              <p:spPr>
                <a:xfrm>
                  <a:off x="2083561" y="5501785"/>
                  <a:ext cx="3347331" cy="417667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rgbClr val="C0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rPr>
                    <a:t>Version  control stages</a:t>
                  </a:r>
                  <a:endParaRPr kumimoji="0" lang="nl-B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9AC535D0-2E55-8E9E-51E7-CA32EA6AE649}"/>
                    </a:ext>
                  </a:extLst>
                </p:cNvPr>
                <p:cNvCxnSpPr>
                  <a:cxnSpLocks/>
                  <a:stCxn id="40" idx="0"/>
                </p:cNvCxnSpPr>
                <p:nvPr/>
              </p:nvCxnSpPr>
              <p:spPr>
                <a:xfrm flipH="1" flipV="1">
                  <a:off x="2374115" y="4990730"/>
                  <a:ext cx="1383112" cy="51105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tailEnd type="stealth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77FFC768-1881-DDC8-FBDC-1922DB4AD43C}"/>
                  </a:ext>
                </a:extLst>
              </p:cNvPr>
              <p:cNvCxnSpPr>
                <a:cxnSpLocks/>
                <a:stCxn id="40" idx="3"/>
              </p:cNvCxnSpPr>
              <p:nvPr/>
            </p:nvCxnSpPr>
            <p:spPr>
              <a:xfrm>
                <a:off x="4656557" y="5466587"/>
                <a:ext cx="1559186" cy="184666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70012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3B5BC-A448-6578-013C-83846A432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9BE63-6E45-9972-B34C-2F41FF5C3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Default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params.yaml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Can be</a:t>
            </a:r>
          </a:p>
          <a:p>
            <a:pPr lvl="1"/>
            <a:r>
              <a:rPr lang="en-US" dirty="0"/>
              <a:t>YAML/JSON</a:t>
            </a:r>
          </a:p>
          <a:p>
            <a:pPr lvl="1"/>
            <a:r>
              <a:rPr lang="en-US" dirty="0"/>
              <a:t>Stage-specific</a:t>
            </a:r>
          </a:p>
          <a:p>
            <a:r>
              <a:rPr lang="en-US" dirty="0"/>
              <a:t>Use in scripts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26B29B-47A0-F53F-75F9-0A7262B60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FFCF42-65C2-2D11-AECF-F542161DAF2C}"/>
              </a:ext>
            </a:extLst>
          </p:cNvPr>
          <p:cNvGrpSpPr/>
          <p:nvPr/>
        </p:nvGrpSpPr>
        <p:grpSpPr>
          <a:xfrm>
            <a:off x="6346373" y="1009735"/>
            <a:ext cx="5344886" cy="2308325"/>
            <a:chOff x="1055914" y="2169658"/>
            <a:chExt cx="8795657" cy="230832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8E1FF8A-C5D1-C830-6D88-CD0F84B1B78F}"/>
                </a:ext>
              </a:extLst>
            </p:cNvPr>
            <p:cNvSpPr txBox="1"/>
            <p:nvPr/>
          </p:nvSpPr>
          <p:spPr>
            <a:xfrm>
              <a:off x="1055914" y="2169659"/>
              <a:ext cx="8795657" cy="230832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split_data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test_size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 0.3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random_state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 1234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train_model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penalty: "l1"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C: 0.5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solver: "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liblinear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1143444-7118-513D-5536-370EB830B25C}"/>
                </a:ext>
              </a:extLst>
            </p:cNvPr>
            <p:cNvSpPr txBox="1"/>
            <p:nvPr/>
          </p:nvSpPr>
          <p:spPr>
            <a:xfrm>
              <a:off x="7289900" y="2169658"/>
              <a:ext cx="256167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params.yaml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54A1E29-76CE-6E21-C642-07925922F21C}"/>
              </a:ext>
            </a:extLst>
          </p:cNvPr>
          <p:cNvGrpSpPr/>
          <p:nvPr/>
        </p:nvGrpSpPr>
        <p:grpSpPr>
          <a:xfrm>
            <a:off x="8561314" y="1992900"/>
            <a:ext cx="3463326" cy="2331871"/>
            <a:chOff x="10116905" y="1628769"/>
            <a:chExt cx="3463326" cy="233187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ECA93D4-8DF8-259D-066A-E3E31C4C7001}"/>
                </a:ext>
              </a:extLst>
            </p:cNvPr>
            <p:cNvGrpSpPr/>
            <p:nvPr/>
          </p:nvGrpSpPr>
          <p:grpSpPr>
            <a:xfrm>
              <a:off x="10483358" y="1628769"/>
              <a:ext cx="3096873" cy="2149834"/>
              <a:chOff x="4394018" y="4185076"/>
              <a:chExt cx="3096873" cy="2149834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18FEAB2-37BD-8677-1513-08B56701F31A}"/>
                  </a:ext>
                </a:extLst>
              </p:cNvPr>
              <p:cNvSpPr txBox="1"/>
              <p:nvPr/>
            </p:nvSpPr>
            <p:spPr>
              <a:xfrm>
                <a:off x="4394018" y="5503913"/>
                <a:ext cx="3096873" cy="83099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Specify random state</a:t>
                </a:r>
                <a:b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</a:b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          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  <a:sym typeface="Symbol" panose="05050102010706020507" pitchFamily="18" charset="2"/>
                  </a:rPr>
                  <a:t>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 reproducibility</a:t>
                </a:r>
                <a:endParaRPr kumimoji="0" lang="nl-BE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7CFE9841-C3A2-C615-6C8C-5BD208493057}"/>
                  </a:ext>
                </a:extLst>
              </p:cNvPr>
              <p:cNvCxnSpPr>
                <a:cxnSpLocks/>
                <a:stCxn id="11" idx="0"/>
              </p:cNvCxnSpPr>
              <p:nvPr/>
            </p:nvCxnSpPr>
            <p:spPr>
              <a:xfrm flipH="1" flipV="1">
                <a:off x="4860622" y="4185076"/>
                <a:ext cx="1081833" cy="1318837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0" name="Graphic 9" descr="Thumbs up sign with solid fill">
              <a:extLst>
                <a:ext uri="{FF2B5EF4-FFF2-40B4-BE49-F238E27FC236}">
                  <a16:creationId xmlns:a16="http://schemas.microsoft.com/office/drawing/2014/main" id="{A3009238-509F-180A-C5E4-18ED1CDC80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116905" y="3236440"/>
              <a:ext cx="724200" cy="724200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6F5B079-D1A6-1E8A-8A03-1BECB95CD036}"/>
              </a:ext>
            </a:extLst>
          </p:cNvPr>
          <p:cNvGrpSpPr/>
          <p:nvPr/>
        </p:nvGrpSpPr>
        <p:grpSpPr>
          <a:xfrm>
            <a:off x="1001488" y="4328142"/>
            <a:ext cx="10689771" cy="1754328"/>
            <a:chOff x="1705237" y="2169657"/>
            <a:chExt cx="9338795" cy="175432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541ADEB-58B8-1160-4CB0-24C65839282D}"/>
                </a:ext>
              </a:extLst>
            </p:cNvPr>
            <p:cNvSpPr txBox="1"/>
            <p:nvPr/>
          </p:nvSpPr>
          <p:spPr>
            <a:xfrm>
              <a:off x="1705237" y="2169659"/>
              <a:ext cx="9338795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import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yaml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with open(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args.params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 as file: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params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yaml.safe_load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(file)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train, test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split_train_test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params['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split_data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'][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random_state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'],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)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DC90C7B-EAE0-D88C-7BD3-8FE7D8E43602}"/>
                </a:ext>
              </a:extLst>
            </p:cNvPr>
            <p:cNvSpPr txBox="1"/>
            <p:nvPr/>
          </p:nvSpPr>
          <p:spPr>
            <a:xfrm>
              <a:off x="9367585" y="2169657"/>
              <a:ext cx="1667360" cy="3508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split_data.py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2550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E6D28-C71E-D4BB-0CE2-C7A1100EC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016C5-E91D-B148-29E5-DEBDB41A4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next stage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B970A8-F490-B93F-C6EC-3C6A0273C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F9531C-E21F-D2C6-220D-53DC82F871F6}"/>
              </a:ext>
            </a:extLst>
          </p:cNvPr>
          <p:cNvSpPr txBox="1"/>
          <p:nvPr/>
        </p:nvSpPr>
        <p:spPr>
          <a:xfrm>
            <a:off x="838200" y="1690688"/>
            <a:ext cx="8663321" cy="230832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add --name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train_preprocessor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src/train_preprocessor.py --deps src/utils.py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--outs ./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preprocessor.pkl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python src/train_preprocessor.py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--data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--output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preprocessor.pkl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git commit -m 'Add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train_preprocessor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A2CD752-B7F6-6633-6B0F-B21A1EDB637C}"/>
              </a:ext>
            </a:extLst>
          </p:cNvPr>
          <p:cNvGrpSpPr/>
          <p:nvPr/>
        </p:nvGrpSpPr>
        <p:grpSpPr>
          <a:xfrm>
            <a:off x="5556966" y="495761"/>
            <a:ext cx="2944777" cy="1250898"/>
            <a:chOff x="88563" y="5501785"/>
            <a:chExt cx="4636260" cy="11357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D68C12-495C-2E46-287C-BA342296D55D}"/>
                </a:ext>
              </a:extLst>
            </p:cNvPr>
            <p:cNvSpPr txBox="1"/>
            <p:nvPr/>
          </p:nvSpPr>
          <p:spPr>
            <a:xfrm>
              <a:off x="2083559" y="5501785"/>
              <a:ext cx="2641264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Name of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B6E9C6A-71F7-2C0A-B232-CEC11D355812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88563" y="5669445"/>
              <a:ext cx="1994996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4D507A6-2CD3-EA6E-A7A3-4DE7C355285C}"/>
              </a:ext>
            </a:extLst>
          </p:cNvPr>
          <p:cNvGrpSpPr/>
          <p:nvPr/>
        </p:nvGrpSpPr>
        <p:grpSpPr>
          <a:xfrm>
            <a:off x="6215743" y="495762"/>
            <a:ext cx="5731622" cy="1665246"/>
            <a:chOff x="-2114418" y="5231850"/>
            <a:chExt cx="7898581" cy="188318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142154F-6244-D388-072C-551086D5C7D7}"/>
                </a:ext>
              </a:extLst>
            </p:cNvPr>
            <p:cNvSpPr txBox="1"/>
            <p:nvPr/>
          </p:nvSpPr>
          <p:spPr>
            <a:xfrm>
              <a:off x="2083559" y="5231850"/>
              <a:ext cx="3700604" cy="104416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Data dependency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prstClr val="black"/>
                  </a:solidFill>
                </a:rPr>
                <a:t>= output of </a:t>
              </a:r>
              <a:r>
                <a:rPr lang="en-US" dirty="0" err="1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split_data</a:t>
              </a:r>
              <a:endPara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prstClr val="black"/>
                  </a:solidFill>
                </a:rPr>
                <a:t>   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B57895C-ACCE-A7FC-3DEB-F6D1461AB88D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-2114418" y="5753934"/>
              <a:ext cx="4197977" cy="13610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D02EC9A-A69D-AFBA-D27C-46D61B4DB004}"/>
              </a:ext>
            </a:extLst>
          </p:cNvPr>
          <p:cNvGrpSpPr/>
          <p:nvPr/>
        </p:nvGrpSpPr>
        <p:grpSpPr>
          <a:xfrm>
            <a:off x="5567132" y="2641059"/>
            <a:ext cx="5173483" cy="971126"/>
            <a:chOff x="-2932660" y="4821233"/>
            <a:chExt cx="7129427" cy="1098219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1325A2-E418-B088-F04C-37227B033EE2}"/>
                </a:ext>
              </a:extLst>
            </p:cNvPr>
            <p:cNvSpPr txBox="1"/>
            <p:nvPr/>
          </p:nvSpPr>
          <p:spPr>
            <a:xfrm>
              <a:off x="2083561" y="5501785"/>
              <a:ext cx="2113206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Output files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6329D55-7BE5-B759-88F3-9A757500A0A8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-2932660" y="4821233"/>
              <a:ext cx="5016221" cy="88938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124FBD2-17EF-CFF7-D7A3-51E276629AE8}"/>
              </a:ext>
            </a:extLst>
          </p:cNvPr>
          <p:cNvGrpSpPr/>
          <p:nvPr/>
        </p:nvGrpSpPr>
        <p:grpSpPr>
          <a:xfrm>
            <a:off x="6890657" y="3382975"/>
            <a:ext cx="3849958" cy="1293382"/>
            <a:chOff x="-1164266" y="4770052"/>
            <a:chExt cx="5305515" cy="146265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63ED7F5-1FDE-0CED-0B2D-28FEB0E155EB}"/>
                </a:ext>
              </a:extLst>
            </p:cNvPr>
            <p:cNvSpPr txBox="1"/>
            <p:nvPr/>
          </p:nvSpPr>
          <p:spPr>
            <a:xfrm>
              <a:off x="2083561" y="5501785"/>
              <a:ext cx="2057688" cy="73091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Command to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execute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79923C3-1D0B-E7B8-CCD4-B5691F3419D4}"/>
                </a:ext>
              </a:extLst>
            </p:cNvPr>
            <p:cNvCxnSpPr>
              <a:cxnSpLocks/>
              <a:stCxn id="31" idx="1"/>
            </p:cNvCxnSpPr>
            <p:nvPr/>
          </p:nvCxnSpPr>
          <p:spPr>
            <a:xfrm flipH="1" flipV="1">
              <a:off x="-1164266" y="4770052"/>
              <a:ext cx="3247826" cy="1097192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BB99D9D-0C22-2EC4-2F98-3B390A9C00BE}"/>
              </a:ext>
            </a:extLst>
          </p:cNvPr>
          <p:cNvGrpSpPr/>
          <p:nvPr/>
        </p:nvGrpSpPr>
        <p:grpSpPr>
          <a:xfrm>
            <a:off x="1915887" y="4030027"/>
            <a:ext cx="9964673" cy="1336785"/>
            <a:chOff x="1915887" y="4030027"/>
            <a:chExt cx="9964673" cy="133678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9DD0C6A-B0AB-BD6C-A421-9FFF9295A777}"/>
                </a:ext>
              </a:extLst>
            </p:cNvPr>
            <p:cNvSpPr txBox="1"/>
            <p:nvPr/>
          </p:nvSpPr>
          <p:spPr>
            <a:xfrm>
              <a:off x="5690404" y="4905147"/>
              <a:ext cx="619015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stage add</a:t>
              </a:r>
              <a:r>
                <a:rPr lang="en-US" sz="2400" dirty="0"/>
                <a:t> updates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dvc.yaml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file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A9E21AB-72E5-EE1C-DB0C-1246FFBC9278}"/>
                </a:ext>
              </a:extLst>
            </p:cNvPr>
            <p:cNvGrpSpPr/>
            <p:nvPr/>
          </p:nvGrpSpPr>
          <p:grpSpPr>
            <a:xfrm>
              <a:off x="1915887" y="4030027"/>
              <a:ext cx="3774517" cy="1145771"/>
              <a:chOff x="1868604" y="4487224"/>
              <a:chExt cx="4347139" cy="1172711"/>
            </a:xfrm>
          </p:grpSpPr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4309441D-73A1-0A6D-86EE-9DF69F9E8E4E}"/>
                  </a:ext>
                </a:extLst>
              </p:cNvPr>
              <p:cNvGrpSpPr/>
              <p:nvPr/>
            </p:nvGrpSpPr>
            <p:grpSpPr>
              <a:xfrm>
                <a:off x="1868604" y="4487224"/>
                <a:ext cx="2787954" cy="1172711"/>
                <a:chOff x="1588896" y="4603086"/>
                <a:chExt cx="3841998" cy="1326187"/>
              </a:xfrm>
            </p:grpSpPr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978E8A-7F94-B575-B818-22621E720D7B}"/>
                    </a:ext>
                  </a:extLst>
                </p:cNvPr>
                <p:cNvSpPr txBox="1"/>
                <p:nvPr/>
              </p:nvSpPr>
              <p:spPr>
                <a:xfrm>
                  <a:off x="1588896" y="5501785"/>
                  <a:ext cx="3841998" cy="427488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rgbClr val="C00000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rPr>
                    <a:t>Version  control stages</a:t>
                  </a:r>
                  <a:endParaRPr kumimoji="0" lang="nl-B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0FC4D520-0584-1C8C-54E0-8EDD93CF1769}"/>
                    </a:ext>
                  </a:extLst>
                </p:cNvPr>
                <p:cNvCxnSpPr>
                  <a:cxnSpLocks/>
                  <a:stCxn id="40" idx="0"/>
                </p:cNvCxnSpPr>
                <p:nvPr/>
              </p:nvCxnSpPr>
              <p:spPr>
                <a:xfrm flipH="1" flipV="1">
                  <a:off x="2083561" y="4603086"/>
                  <a:ext cx="1426334" cy="898699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tailEnd type="stealth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340E06C2-6B76-0DA5-F17F-C01CEBD46CBF}"/>
                  </a:ext>
                </a:extLst>
              </p:cNvPr>
              <p:cNvCxnSpPr>
                <a:cxnSpLocks/>
                <a:stCxn id="40" idx="3"/>
              </p:cNvCxnSpPr>
              <p:nvPr/>
            </p:nvCxnSpPr>
            <p:spPr>
              <a:xfrm>
                <a:off x="4656558" y="5470927"/>
                <a:ext cx="1559185" cy="180327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58278FD-0E33-094B-1BF0-48EF880682E0}"/>
              </a:ext>
            </a:extLst>
          </p:cNvPr>
          <p:cNvGrpSpPr/>
          <p:nvPr/>
        </p:nvGrpSpPr>
        <p:grpSpPr>
          <a:xfrm>
            <a:off x="8859559" y="1838993"/>
            <a:ext cx="3087806" cy="465381"/>
            <a:chOff x="844142" y="5501785"/>
            <a:chExt cx="4255216" cy="52628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58E7A19-F563-11E4-B11F-C4F9E1B763AE}"/>
                </a:ext>
              </a:extLst>
            </p:cNvPr>
            <p:cNvSpPr txBox="1"/>
            <p:nvPr/>
          </p:nvSpPr>
          <p:spPr>
            <a:xfrm>
              <a:off x="2083560" y="5501785"/>
              <a:ext cx="3015798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Code dependencies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17A0DC9-58B9-EEE8-8C2A-A7414FB932DD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>
              <a:off x="844142" y="5710619"/>
              <a:ext cx="1239418" cy="317453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E819CE55-1635-9A90-A65F-938B06C1F884}"/>
              </a:ext>
            </a:extLst>
          </p:cNvPr>
          <p:cNvSpPr txBox="1"/>
          <p:nvPr/>
        </p:nvSpPr>
        <p:spPr>
          <a:xfrm>
            <a:off x="1578429" y="5646154"/>
            <a:ext cx="8600624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To modify existing stage, use: 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add --force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</a:p>
          <a:p>
            <a:r>
              <a:rPr lang="en-US" sz="2800" dirty="0">
                <a:cs typeface="Courier New" panose="02070309020205020404" pitchFamily="49" charset="0"/>
                <a:sym typeface="Symbol" panose="05050102010706020507" pitchFamily="18" charset="2"/>
              </a:rPr>
              <a:t>To remove stage, use: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dvc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remove </a:t>
            </a:r>
            <a:endParaRPr lang="LID4096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7455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9725C-83F4-E819-0656-F3B511851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D09EE-E3A8-8E77-4B73-8872CE507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A0FF64-F953-8AB3-23CB-C47B9C7C6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79DDE7-F4C6-6356-A381-CF105368292F}"/>
              </a:ext>
            </a:extLst>
          </p:cNvPr>
          <p:cNvSpPr txBox="1"/>
          <p:nvPr/>
        </p:nvSpPr>
        <p:spPr>
          <a:xfrm>
            <a:off x="772885" y="2615974"/>
            <a:ext cx="8663321" cy="286232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add --name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compute_metrics_train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data/preprocessed/train.csv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model.pkl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src/compute_metrics.py --deps src/utils.py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--metrics 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python src/compute_metrics.py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--data data/preprocessed/train.csv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--model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model.pkl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--output 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git commit -m 'Add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compute_metrics_train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3BFFF61-FDAB-9B17-3683-356F89F5F4FC}"/>
              </a:ext>
            </a:extLst>
          </p:cNvPr>
          <p:cNvGrpSpPr/>
          <p:nvPr/>
        </p:nvGrpSpPr>
        <p:grpSpPr>
          <a:xfrm>
            <a:off x="5491651" y="1279533"/>
            <a:ext cx="2944777" cy="1250898"/>
            <a:chOff x="88563" y="5501785"/>
            <a:chExt cx="4636260" cy="11357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AACE3F9-E8F9-BBE2-21FD-90FF60295696}"/>
                </a:ext>
              </a:extLst>
            </p:cNvPr>
            <p:cNvSpPr txBox="1"/>
            <p:nvPr/>
          </p:nvSpPr>
          <p:spPr>
            <a:xfrm>
              <a:off x="2083559" y="5501785"/>
              <a:ext cx="2641264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Name of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BF12E67-A89E-7DCD-4A32-57D3260FF0CC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88563" y="5669445"/>
              <a:ext cx="1994996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8241EB3-E2C0-695F-D9DB-099C857929C9}"/>
              </a:ext>
            </a:extLst>
          </p:cNvPr>
          <p:cNvGrpSpPr/>
          <p:nvPr/>
        </p:nvGrpSpPr>
        <p:grpSpPr>
          <a:xfrm>
            <a:off x="5491651" y="3907970"/>
            <a:ext cx="5183649" cy="629499"/>
            <a:chOff x="-2946669" y="5207569"/>
            <a:chExt cx="7143436" cy="711883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61B2204-42F8-8CF7-B191-EEC03B002B69}"/>
                </a:ext>
              </a:extLst>
            </p:cNvPr>
            <p:cNvSpPr txBox="1"/>
            <p:nvPr/>
          </p:nvSpPr>
          <p:spPr>
            <a:xfrm>
              <a:off x="2083561" y="5501785"/>
              <a:ext cx="2113206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BE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Courier New" panose="02070309020205020404" pitchFamily="49" charset="0"/>
                </a:rPr>
                <a:t>Metric</a:t>
              </a:r>
              <a:r>
                <a: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Courier New" panose="02070309020205020404" pitchFamily="49" charset="0"/>
                </a:rPr>
                <a:t> file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9B7171A-BCCF-D301-793C-0E9F62321E59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-2946669" y="5207569"/>
              <a:ext cx="5030231" cy="503049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380E7CF-C5C8-14EB-43BF-1C2E3B286E73}"/>
              </a:ext>
            </a:extLst>
          </p:cNvPr>
          <p:cNvGrpSpPr/>
          <p:nvPr/>
        </p:nvGrpSpPr>
        <p:grpSpPr>
          <a:xfrm>
            <a:off x="7173685" y="4757055"/>
            <a:ext cx="3501615" cy="844586"/>
            <a:chOff x="-684225" y="5277583"/>
            <a:chExt cx="4825474" cy="95512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7A90720-F899-A72F-3257-C42538910177}"/>
                </a:ext>
              </a:extLst>
            </p:cNvPr>
            <p:cNvSpPr txBox="1"/>
            <p:nvPr/>
          </p:nvSpPr>
          <p:spPr>
            <a:xfrm>
              <a:off x="2083561" y="5501785"/>
              <a:ext cx="2057688" cy="73091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Command to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execute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D1617AA3-3CE0-2E74-014F-28DF0523429D}"/>
                </a:ext>
              </a:extLst>
            </p:cNvPr>
            <p:cNvCxnSpPr>
              <a:cxnSpLocks/>
              <a:stCxn id="31" idx="1"/>
            </p:cNvCxnSpPr>
            <p:nvPr/>
          </p:nvCxnSpPr>
          <p:spPr>
            <a:xfrm flipH="1" flipV="1">
              <a:off x="-684225" y="5277583"/>
              <a:ext cx="2767785" cy="58966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215E8C7-E1F5-7687-C52E-6AB09E41E60E}"/>
              </a:ext>
            </a:extLst>
          </p:cNvPr>
          <p:cNvGrpSpPr/>
          <p:nvPr/>
        </p:nvGrpSpPr>
        <p:grpSpPr>
          <a:xfrm>
            <a:off x="8436280" y="2752228"/>
            <a:ext cx="3336765" cy="802066"/>
            <a:chOff x="501059" y="5501785"/>
            <a:chExt cx="4598299" cy="907035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B620CA3-5F9B-8CE6-8048-D14C7DD31EBB}"/>
                </a:ext>
              </a:extLst>
            </p:cNvPr>
            <p:cNvSpPr txBox="1"/>
            <p:nvPr/>
          </p:nvSpPr>
          <p:spPr>
            <a:xfrm>
              <a:off x="2083560" y="5501785"/>
              <a:ext cx="3015798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Code dependencies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3B1C741-0820-9219-E7D9-BD1CBC80A9FC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>
              <a:off x="501059" y="5710619"/>
              <a:ext cx="1582501" cy="6982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02C59D6-DB4A-2471-9FBB-21E3F8756851}"/>
              </a:ext>
            </a:extLst>
          </p:cNvPr>
          <p:cNvGrpSpPr/>
          <p:nvPr/>
        </p:nvGrpSpPr>
        <p:grpSpPr>
          <a:xfrm>
            <a:off x="5769429" y="1279535"/>
            <a:ext cx="6003616" cy="2149465"/>
            <a:chOff x="5834744" y="495763"/>
            <a:chExt cx="6003616" cy="2149465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6D9DF66-D343-EDE2-28C5-629618E6F0FC}"/>
                </a:ext>
              </a:extLst>
            </p:cNvPr>
            <p:cNvGrpSpPr/>
            <p:nvPr/>
          </p:nvGrpSpPr>
          <p:grpSpPr>
            <a:xfrm>
              <a:off x="6585857" y="495763"/>
              <a:ext cx="5252503" cy="1712563"/>
              <a:chOff x="-1604375" y="5231850"/>
              <a:chExt cx="7238321" cy="1936689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8211C8-7136-9471-5FEE-671FCBF87FE9}"/>
                  </a:ext>
                </a:extLst>
              </p:cNvPr>
              <p:cNvSpPr txBox="1"/>
              <p:nvPr/>
            </p:nvSpPr>
            <p:spPr>
              <a:xfrm>
                <a:off x="2083559" y="5231850"/>
                <a:ext cx="3550387" cy="1357418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 dependency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</a:rPr>
                  <a:t>= output of</a:t>
                </a:r>
                <a:br>
                  <a:rPr lang="en-US" dirty="0">
                    <a:solidFill>
                      <a:prstClr val="black"/>
                    </a:solidFill>
                  </a:rPr>
                </a:br>
                <a:r>
                  <a:rPr lang="en-US" dirty="0">
                    <a:solidFill>
                      <a:prstClr val="black"/>
                    </a:solidFill>
                  </a:rPr>
                  <a:t>    </a:t>
                </a:r>
                <a:r>
                  <a:rPr lang="en-US" dirty="0" err="1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preprocess_train</a:t>
                </a:r>
                <a:endParaRPr lang="en-US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</a:rPr>
                  <a:t>    and </a:t>
                </a:r>
                <a:r>
                  <a:rPr lang="en-US" dirty="0" err="1">
                    <a:solidFill>
                      <a:prstClr val="black"/>
                    </a:solidFill>
                  </a:rPr>
                  <a:t>train_model</a:t>
                </a:r>
                <a:r>
                  <a:rPr lang="en-US" dirty="0">
                    <a:solidFill>
                      <a:prstClr val="black"/>
                    </a:solidFill>
                  </a:rPr>
                  <a:t> stage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D67D1C5-A541-50C9-420F-19B550FACAFF}"/>
                  </a:ext>
                </a:extLst>
              </p:cNvPr>
              <p:cNvCxnSpPr>
                <a:cxnSpLocks/>
                <a:stCxn id="11" idx="1"/>
              </p:cNvCxnSpPr>
              <p:nvPr/>
            </p:nvCxnSpPr>
            <p:spPr>
              <a:xfrm flipH="1">
                <a:off x="-1604375" y="5910560"/>
                <a:ext cx="3687934" cy="1257979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758DB5C-CD08-63C0-2647-C077D1010F01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5834744" y="1095928"/>
              <a:ext cx="3427270" cy="154930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90125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1D3D1-18EC-5528-885C-9CC8EE9C0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Visualizing pipeline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603E1D-59EB-6E2C-61E3-8BD9B9356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stages</a:t>
            </a:r>
          </a:p>
          <a:p>
            <a:endParaRPr lang="en-US" dirty="0"/>
          </a:p>
          <a:p>
            <a:r>
              <a:rPr lang="en-US" dirty="0"/>
              <a:t>ASCII-art visualization of stages</a:t>
            </a:r>
          </a:p>
          <a:p>
            <a:endParaRPr lang="en-US" dirty="0"/>
          </a:p>
          <a:p>
            <a:r>
              <a:rPr lang="en-US" dirty="0"/>
              <a:t>ASCII visualization of data files</a:t>
            </a:r>
          </a:p>
          <a:p>
            <a:endParaRPr lang="en-US" dirty="0"/>
          </a:p>
          <a:p>
            <a:r>
              <a:rPr lang="en-US" dirty="0"/>
              <a:t>Rendering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677116-4814-714C-B8BD-D412E5D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C734CC-7375-071B-DDD6-BC510393A12C}"/>
              </a:ext>
            </a:extLst>
          </p:cNvPr>
          <p:cNvSpPr txBox="1"/>
          <p:nvPr/>
        </p:nvSpPr>
        <p:spPr>
          <a:xfrm>
            <a:off x="1503936" y="3337749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78998E-6520-CA57-F18C-E9963D8F5945}"/>
              </a:ext>
            </a:extLst>
          </p:cNvPr>
          <p:cNvSpPr txBox="1"/>
          <p:nvPr/>
        </p:nvSpPr>
        <p:spPr>
          <a:xfrm>
            <a:off x="1503936" y="4430487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--outs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DE6B47-C172-A9B2-5981-99E4B3316935}"/>
              </a:ext>
            </a:extLst>
          </p:cNvPr>
          <p:cNvSpPr txBox="1"/>
          <p:nvPr/>
        </p:nvSpPr>
        <p:spPr>
          <a:xfrm>
            <a:off x="1503936" y="5342803"/>
            <a:ext cx="4733577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--dot | \</a:t>
            </a:r>
            <a:b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dot 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Tpng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-o pipeline.png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9" name="Picture 8" descr="A diagram of a computer process&#10;&#10;AI-generated content may be incorrect.">
            <a:extLst>
              <a:ext uri="{FF2B5EF4-FFF2-40B4-BE49-F238E27FC236}">
                <a16:creationId xmlns:a16="http://schemas.microsoft.com/office/drawing/2014/main" id="{E3434A22-61C2-8CEB-E3BE-4C50128C2F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5828" y="479424"/>
            <a:ext cx="3820887" cy="297180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 descr="A diagram of a data flow&#10;&#10;AI-generated content may be incorrect.">
            <a:extLst>
              <a:ext uri="{FF2B5EF4-FFF2-40B4-BE49-F238E27FC236}">
                <a16:creationId xmlns:a16="http://schemas.microsoft.com/office/drawing/2014/main" id="{6AB398F8-1002-321A-71A5-18350DE92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5828" y="3686176"/>
            <a:ext cx="3820887" cy="247531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BB95A7E-4C28-1EF3-C3B3-C964D89C60C8}"/>
              </a:ext>
            </a:extLst>
          </p:cNvPr>
          <p:cNvSpPr txBox="1"/>
          <p:nvPr/>
        </p:nvSpPr>
        <p:spPr>
          <a:xfrm>
            <a:off x="1503936" y="2310327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list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517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8417E-9735-91D4-C82D-938AFDD03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pipeline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31F5F7-7901-0D11-15F1-A3C4797EED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Only print commands, don't execute</a:t>
            </a:r>
          </a:p>
          <a:p>
            <a:endParaRPr lang="en-US" dirty="0"/>
          </a:p>
          <a:p>
            <a:r>
              <a:rPr lang="en-US" dirty="0"/>
              <a:t>Run only required stages</a:t>
            </a:r>
          </a:p>
          <a:p>
            <a:endParaRPr lang="en-US" dirty="0"/>
          </a:p>
          <a:p>
            <a:r>
              <a:rPr lang="en-US" dirty="0"/>
              <a:t>Run all stages</a:t>
            </a:r>
          </a:p>
          <a:p>
            <a:endParaRPr lang="en-US" dirty="0"/>
          </a:p>
          <a:p>
            <a:r>
              <a:rPr lang="en-US" dirty="0"/>
              <a:t>Produces/updates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dvc.lock</a:t>
            </a:r>
            <a:r>
              <a:rPr lang="en-US" dirty="0"/>
              <a:t> file: version control</a:t>
            </a:r>
            <a:endParaRPr lang="LID4096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25322EE-0847-9449-49B9-7232D76E536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Check pipeline status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479D15-A82F-8B1B-1ED9-99E31344A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DEFB3C-6F07-AF4A-A03B-5ECEF2E3A1C0}"/>
              </a:ext>
            </a:extLst>
          </p:cNvPr>
          <p:cNvSpPr txBox="1"/>
          <p:nvPr/>
        </p:nvSpPr>
        <p:spPr>
          <a:xfrm>
            <a:off x="1286223" y="2700047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repro  --dry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F2420A-5986-C766-E676-CCF82043185F}"/>
              </a:ext>
            </a:extLst>
          </p:cNvPr>
          <p:cNvSpPr txBox="1"/>
          <p:nvPr/>
        </p:nvSpPr>
        <p:spPr>
          <a:xfrm>
            <a:off x="1286220" y="3729242"/>
            <a:ext cx="473357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repro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1F5951-9235-414F-F0EE-278571DD08C9}"/>
              </a:ext>
            </a:extLst>
          </p:cNvPr>
          <p:cNvSpPr txBox="1"/>
          <p:nvPr/>
        </p:nvSpPr>
        <p:spPr>
          <a:xfrm>
            <a:off x="1286221" y="4758437"/>
            <a:ext cx="4733579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repro  --force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7C10FD-B553-7CAF-6C76-5C77B68D4934}"/>
              </a:ext>
            </a:extLst>
          </p:cNvPr>
          <p:cNvSpPr txBox="1"/>
          <p:nvPr/>
        </p:nvSpPr>
        <p:spPr>
          <a:xfrm>
            <a:off x="1286218" y="6118203"/>
            <a:ext cx="47335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 -m 'Run pipeline'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9F291D-2497-502F-6583-CCBD12C12E39}"/>
              </a:ext>
            </a:extLst>
          </p:cNvPr>
          <p:cNvSpPr txBox="1"/>
          <p:nvPr/>
        </p:nvSpPr>
        <p:spPr>
          <a:xfrm>
            <a:off x="6620224" y="2700047"/>
            <a:ext cx="5005720" cy="20313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status</a:t>
            </a:r>
            <a:b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changed deps: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modified:       data/data.csv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changed outs: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modified:       data/data.csv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5999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2" grpId="0" build="p"/>
      <p:bldP spid="5" grpId="0" animBg="1"/>
      <p:bldP spid="6" grpId="0" animBg="1"/>
      <p:bldP spid="7" grpId="0" animBg="1"/>
      <p:bldP spid="8" grpId="0" animBg="1"/>
      <p:bldP spid="1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D674E-150D-C842-14DF-41D214C7F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576F3-9C92-0F5D-D6DF-3C28D2B63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Viewing &amp; comparing metrics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8DD7E-5B50-1C9A-83E5-B525BA140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5254"/>
            <a:ext cx="10515600" cy="4351338"/>
          </a:xfrm>
        </p:spPr>
        <p:txBody>
          <a:bodyPr/>
          <a:lstStyle/>
          <a:p>
            <a:r>
              <a:rPr lang="en-US" dirty="0"/>
              <a:t>View metrics of most recent run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Compare metrics with last commit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23782-4A81-E931-9AAC-625A24AE9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6FF75F-61C6-E2ED-C436-EDC1C127DE57}"/>
              </a:ext>
            </a:extLst>
          </p:cNvPr>
          <p:cNvSpPr txBox="1"/>
          <p:nvPr/>
        </p:nvSpPr>
        <p:spPr>
          <a:xfrm>
            <a:off x="1155593" y="2031457"/>
            <a:ext cx="9044321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metrics show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accuracy    f1_score    precision    recall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0.84286     0.8932      0.82143      0.97872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0.86667     0.9         0.81818      1.0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AA391C-E634-038A-C0B8-D71275490C0E}"/>
              </a:ext>
            </a:extLst>
          </p:cNvPr>
          <p:cNvSpPr txBox="1"/>
          <p:nvPr/>
        </p:nvSpPr>
        <p:spPr>
          <a:xfrm>
            <a:off x="1155592" y="4121516"/>
            <a:ext cx="9044321" cy="258532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metrics diff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Metric     HEAD     workspace    Change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accuracy   0.8      0.86667      0.06667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f1_score   0.85714  0.9          0.04286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precision  0.75     0.81818      0.06818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accuracy   0.82857  0.84286      0.01429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f1_score   0.88679  0.8932       0.00641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precision  0.79661  0.82143      0.02482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recall     1.0      0.97872      -0.02128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5244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FAD8F-0B88-E3A1-1888-54E88E68B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arbitrary runs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FCE593-BBDD-F517-3EA1-CBF95D1FB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Compare metrics of commits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B70E6F-26CF-B567-822D-6418D8D3B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011074-C4C6-F4D6-4B98-4BDF9FD41D33}"/>
              </a:ext>
            </a:extLst>
          </p:cNvPr>
          <p:cNvSpPr txBox="1"/>
          <p:nvPr/>
        </p:nvSpPr>
        <p:spPr>
          <a:xfrm>
            <a:off x="1199134" y="2412461"/>
            <a:ext cx="9044321" cy="230832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metrics diff 070869d 785ea1b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Metric     070869d    785ea1b    Change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accuracy   0.63333    0.8        0.16667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f1_score   0.76596    0.85714    0.09119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precision  0.62069    0.75       0.12931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accuracy   0.77143    0.82857    0.05714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f1_score   0.85455    0.88679    0.03225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precision  0.74603    0.79661    0.05058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BAAD2C-30F7-0289-D473-7C29B187BB8B}"/>
              </a:ext>
            </a:extLst>
          </p:cNvPr>
          <p:cNvSpPr txBox="1"/>
          <p:nvPr/>
        </p:nvSpPr>
        <p:spPr>
          <a:xfrm>
            <a:off x="3842657" y="5426843"/>
            <a:ext cx="40156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--all</a:t>
            </a:r>
            <a:r>
              <a:rPr lang="en-US" sz="2400" dirty="0"/>
              <a:t> to see all metrics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3460955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FB903-AB20-216A-EF44-8FD2A656F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parameters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98BF26-F174-30A6-41B7-BC088FF37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Compare parameters with last commit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Compare parameters of commits</a:t>
            </a:r>
            <a:endParaRPr lang="LID4096" dirty="0"/>
          </a:p>
          <a:p>
            <a:endParaRPr lang="LID4096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A923D2-DFE6-62E9-B8A9-A621E9C83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541E1E-2121-75F2-D097-EBBD4089663D}"/>
              </a:ext>
            </a:extLst>
          </p:cNvPr>
          <p:cNvSpPr txBox="1"/>
          <p:nvPr/>
        </p:nvSpPr>
        <p:spPr>
          <a:xfrm>
            <a:off x="1155593" y="2292715"/>
            <a:ext cx="904432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params diff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Param          HEAD    workspace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train_model.C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1.0     1.5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4BBAA4-179B-0D92-5FE7-5E09E7936AD2}"/>
              </a:ext>
            </a:extLst>
          </p:cNvPr>
          <p:cNvSpPr txBox="1"/>
          <p:nvPr/>
        </p:nvSpPr>
        <p:spPr>
          <a:xfrm>
            <a:off x="1155592" y="3859779"/>
            <a:ext cx="904432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params diff 070869d 785ea1b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Param          070869d    785ea1b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train_model.C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0.5        1.0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9D9FDA-DD80-6A7B-82FB-352144F9378C}"/>
              </a:ext>
            </a:extLst>
          </p:cNvPr>
          <p:cNvSpPr txBox="1"/>
          <p:nvPr/>
        </p:nvSpPr>
        <p:spPr>
          <a:xfrm>
            <a:off x="3842657" y="5426843"/>
            <a:ext cx="453098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--all</a:t>
            </a:r>
            <a:r>
              <a:rPr lang="en-US" sz="2400" dirty="0"/>
              <a:t> to see all parameters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3274680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544F1-4B74-2885-B07B-CCAFEFA93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R?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6B181-EA28-ABED-DC60-BA5FB6689D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Nothing R specific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Reading YAML files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FE272-6DB1-CDF8-5F57-BA7CF8637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615923F-26B2-5EBA-A2A7-17CADE222723}"/>
              </a:ext>
            </a:extLst>
          </p:cNvPr>
          <p:cNvGrpSpPr/>
          <p:nvPr/>
        </p:nvGrpSpPr>
        <p:grpSpPr>
          <a:xfrm>
            <a:off x="4463144" y="1459360"/>
            <a:ext cx="7175800" cy="2898163"/>
            <a:chOff x="4702629" y="1056588"/>
            <a:chExt cx="7175800" cy="289816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5AD6433-67DE-D458-122B-F8013C6BB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02629" y="1056588"/>
              <a:ext cx="7175800" cy="2898163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F898E73-0AA3-D92D-E42D-2BC69526C632}"/>
                </a:ext>
              </a:extLst>
            </p:cNvPr>
            <p:cNvSpPr txBox="1"/>
            <p:nvPr/>
          </p:nvSpPr>
          <p:spPr>
            <a:xfrm>
              <a:off x="5083629" y="2505670"/>
              <a:ext cx="1654628" cy="92333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This is not a</a:t>
              </a:r>
              <a:br>
                <a:rPr lang="en-US" dirty="0"/>
              </a:br>
              <a:r>
                <a:rPr lang="en-US" dirty="0"/>
                <a:t>problem you</a:t>
              </a:r>
              <a:br>
                <a:rPr lang="en-US" dirty="0"/>
              </a:br>
              <a:r>
                <a:rPr lang="en-US" dirty="0"/>
                <a:t>need to solve</a:t>
              </a:r>
              <a:endParaRPr lang="LID4096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F87B21-0884-D9E0-3FA8-4BAFD814E5F2}"/>
              </a:ext>
            </a:extLst>
          </p:cNvPr>
          <p:cNvSpPr txBox="1"/>
          <p:nvPr/>
        </p:nvSpPr>
        <p:spPr>
          <a:xfrm>
            <a:off x="1077687" y="4950876"/>
            <a:ext cx="5987142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library(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yaml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lvl="0">
              <a:defRPr/>
            </a:pP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config &lt;-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yaml.load_file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("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config$split_data$random_state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90593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35B8F-E4D3-4C58-4E8D-8B674D2C0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41953-3CCA-D33C-9BB7-4B876A4B0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F03960-7FDA-B802-19E0-0B057946F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 management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F7877E-D186-0306-41AF-A2156616D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46CB8F-FBE3-11E8-68F0-13EAA425C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5904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873C2-5DD1-EF40-1470-2EABB35B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E671C-4352-A23A-F8DE-F0F251CD1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72FB89-D287-64A0-DCBF-F9AE85883E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DVCLive</a:t>
            </a:r>
            <a:r>
              <a:rPr lang="en-US" dirty="0"/>
              <a:t> Python module</a:t>
            </a:r>
          </a:p>
          <a:p>
            <a:r>
              <a:rPr lang="en-US" dirty="0"/>
              <a:t>Log experiments</a:t>
            </a:r>
          </a:p>
          <a:p>
            <a:pPr lvl="1"/>
            <a:r>
              <a:rPr lang="en-US" dirty="0"/>
              <a:t>Parameter values</a:t>
            </a:r>
          </a:p>
          <a:p>
            <a:pPr lvl="1"/>
            <a:r>
              <a:rPr lang="en-US" dirty="0"/>
              <a:t>Time step</a:t>
            </a:r>
          </a:p>
          <a:p>
            <a:pPr lvl="1"/>
            <a:r>
              <a:rPr lang="en-US" dirty="0"/>
              <a:t>Metric values</a:t>
            </a:r>
          </a:p>
          <a:p>
            <a:pPr lvl="1"/>
            <a:r>
              <a:rPr lang="en-US" dirty="0"/>
              <a:t>Images/plots/artifacts</a:t>
            </a:r>
          </a:p>
          <a:p>
            <a:r>
              <a:rPr lang="en-US" dirty="0"/>
              <a:t>Report generation</a:t>
            </a:r>
          </a:p>
          <a:p>
            <a:r>
              <a:rPr lang="en-US" dirty="0"/>
              <a:t>Compare experiments</a:t>
            </a:r>
          </a:p>
          <a:p>
            <a:r>
              <a:rPr lang="en-US" dirty="0"/>
              <a:t>Share via GitHub/DVC Studio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948FA-9A0D-3036-9FD9-46AC370CB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14388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B6E4B-D2E9-B24F-97FE-30274A8B3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DVCLive</a:t>
            </a:r>
            <a:r>
              <a:rPr lang="en-US" dirty="0"/>
              <a:t> basics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6FF7F-5AA7-B3A2-6D7C-719CCA876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35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D63023-1980-1F2A-DC13-A6B0364F46E6}"/>
              </a:ext>
            </a:extLst>
          </p:cNvPr>
          <p:cNvSpPr txBox="1"/>
          <p:nvPr/>
        </p:nvSpPr>
        <p:spPr>
          <a:xfrm>
            <a:off x="108859" y="2931524"/>
            <a:ext cx="5105398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param = 5.0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system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init_system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(param)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t in range(1,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):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evolve(system)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metric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compute_metric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(system)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print(t, metric)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save(system, 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system.pkl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16532F0-C7FB-5236-650D-85B6DC805675}"/>
              </a:ext>
            </a:extLst>
          </p:cNvPr>
          <p:cNvGrpSpPr/>
          <p:nvPr/>
        </p:nvGrpSpPr>
        <p:grpSpPr>
          <a:xfrm>
            <a:off x="5399314" y="1823529"/>
            <a:ext cx="6651170" cy="3970318"/>
            <a:chOff x="5399314" y="1823529"/>
            <a:chExt cx="6651170" cy="397031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822221E-950B-44DF-3D50-F18E423656DC}"/>
                </a:ext>
              </a:extLst>
            </p:cNvPr>
            <p:cNvSpPr txBox="1"/>
            <p:nvPr/>
          </p:nvSpPr>
          <p:spPr>
            <a:xfrm>
              <a:off x="6183084" y="1823529"/>
              <a:ext cx="5867400" cy="397031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dvclive</a:t>
              </a:r>
              <a:endPara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endPara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with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dvclive.Live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(report='html') as live: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param = 5.0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live.log_param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('param', param)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system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init_system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(param)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for t in range(1,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evolve(system)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metric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compute_metric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(system)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live.log_metric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('metric', metric)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live.next_step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save(system, '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system.pkl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')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live.log_artifact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('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system.pkl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',</a:t>
              </a:r>
              <a:b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                      type='model')</a:t>
              </a:r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F0D31021-F96B-ECEF-CDC4-BF7E4CC02FBA}"/>
                </a:ext>
              </a:extLst>
            </p:cNvPr>
            <p:cNvSpPr/>
            <p:nvPr/>
          </p:nvSpPr>
          <p:spPr>
            <a:xfrm>
              <a:off x="5399314" y="3947186"/>
              <a:ext cx="609603" cy="298243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2866883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B0FF0-EB0B-ADB7-85EE-B87920FA1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experiment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496625-B6DE-7C10-FAE8-0E21770713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Python script as usual</a:t>
            </a:r>
          </a:p>
          <a:p>
            <a:r>
              <a:rPr lang="en-US" dirty="0"/>
              <a:t>Creates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dvc.yaml</a:t>
            </a:r>
            <a:r>
              <a:rPr lang="en-US" dirty="0"/>
              <a:t>: location of parameters/metrics/plots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dvclive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lvl="2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metrics.json</a:t>
            </a:r>
            <a:r>
              <a:rPr lang="en-US" dirty="0">
                <a:cs typeface="Courier New" panose="02070309020205020404" pitchFamily="49" charset="0"/>
              </a:rPr>
              <a:t>: metrics of last time step</a:t>
            </a:r>
          </a:p>
          <a:p>
            <a:pPr lvl="2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params.yaml</a:t>
            </a:r>
            <a:r>
              <a:rPr lang="en-US" dirty="0">
                <a:cs typeface="Courier New" panose="02070309020205020404" pitchFamily="49" charset="0"/>
              </a:rPr>
              <a:t>: parameter values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plots/metrics/</a:t>
            </a:r>
          </a:p>
          <a:p>
            <a:pPr lvl="3"/>
            <a:r>
              <a:rPr lang="en-US" dirty="0">
                <a:cs typeface="Courier New" panose="02070309020205020404" pitchFamily="49" charset="0"/>
              </a:rPr>
              <a:t>TSV file per metric, value for each time step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report.html</a:t>
            </a:r>
          </a:p>
          <a:p>
            <a:r>
              <a:rPr lang="en-US" dirty="0"/>
              <a:t>Pushes git experiment ref to remote for sharing</a:t>
            </a:r>
          </a:p>
          <a:p>
            <a:pPr lvl="3"/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9F4A6B-C4BE-627C-06D5-2FFC2B778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12502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410F218-AB36-7A72-0A40-4890EE655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30" y="1065015"/>
            <a:ext cx="8341765" cy="57712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6792E4F-9FD5-191E-727E-5119219DE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report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E69077-99E3-0D17-3FB3-E50E86364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37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7577362-355A-26A6-757C-FEC6BA1E6C03}"/>
              </a:ext>
            </a:extLst>
          </p:cNvPr>
          <p:cNvGrpSpPr/>
          <p:nvPr/>
        </p:nvGrpSpPr>
        <p:grpSpPr>
          <a:xfrm>
            <a:off x="5404566" y="365125"/>
            <a:ext cx="3206035" cy="1250898"/>
            <a:chOff x="88563" y="5501785"/>
            <a:chExt cx="5047585" cy="1135701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A320EAD-39ED-5F69-302A-6BAFDFC7F076}"/>
                </a:ext>
              </a:extLst>
            </p:cNvPr>
            <p:cNvSpPr txBox="1"/>
            <p:nvPr/>
          </p:nvSpPr>
          <p:spPr>
            <a:xfrm>
              <a:off x="2083559" y="5501785"/>
              <a:ext cx="3052589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Parameter values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5702458-C966-289C-51E0-A997432CDA0F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88563" y="5669445"/>
              <a:ext cx="1994996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79C8E80-395A-1215-7FA8-3CE3DC99724F}"/>
              </a:ext>
            </a:extLst>
          </p:cNvPr>
          <p:cNvGrpSpPr/>
          <p:nvPr/>
        </p:nvGrpSpPr>
        <p:grpSpPr>
          <a:xfrm>
            <a:off x="7946570" y="1230518"/>
            <a:ext cx="2862943" cy="1250898"/>
            <a:chOff x="88563" y="5501785"/>
            <a:chExt cx="4507421" cy="113570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CF9B459-6DA3-6F9D-F4FA-B2B486D61F3F}"/>
                </a:ext>
              </a:extLst>
            </p:cNvPr>
            <p:cNvSpPr txBox="1"/>
            <p:nvPr/>
          </p:nvSpPr>
          <p:spPr>
            <a:xfrm>
              <a:off x="2083561" y="5501785"/>
              <a:ext cx="2512423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Metric values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D85D0EA3-F1B3-BACC-F2B5-BA8B412040C0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>
              <a:off x="88563" y="5669445"/>
              <a:ext cx="1994998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78F29B5-B8EC-01EA-4087-92C5CE400C7E}"/>
              </a:ext>
            </a:extLst>
          </p:cNvPr>
          <p:cNvGrpSpPr/>
          <p:nvPr/>
        </p:nvGrpSpPr>
        <p:grpSpPr>
          <a:xfrm>
            <a:off x="6973125" y="4233277"/>
            <a:ext cx="3368302" cy="1250898"/>
            <a:chOff x="88563" y="5501785"/>
            <a:chExt cx="5303059" cy="113570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1585BCD-6E44-9DE2-E231-64C76BC983DE}"/>
                </a:ext>
              </a:extLst>
            </p:cNvPr>
            <p:cNvSpPr txBox="1"/>
            <p:nvPr/>
          </p:nvSpPr>
          <p:spPr>
            <a:xfrm>
              <a:off x="2083561" y="5501785"/>
              <a:ext cx="3308061" cy="58680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Plots based on TSV files, interactive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E5D21A9-F6E3-55F6-87DE-A0F528DC3355}"/>
                </a:ext>
              </a:extLst>
            </p:cNvPr>
            <p:cNvCxnSpPr>
              <a:cxnSpLocks/>
              <a:stCxn id="20" idx="1"/>
            </p:cNvCxnSpPr>
            <p:nvPr/>
          </p:nvCxnSpPr>
          <p:spPr>
            <a:xfrm flipH="1">
              <a:off x="88563" y="5795190"/>
              <a:ext cx="1994998" cy="8422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703C93F-8221-FBC1-86C0-F9DB2E680581}"/>
              </a:ext>
            </a:extLst>
          </p:cNvPr>
          <p:cNvGrpSpPr/>
          <p:nvPr/>
        </p:nvGrpSpPr>
        <p:grpSpPr>
          <a:xfrm>
            <a:off x="9605805" y="4932394"/>
            <a:ext cx="2271286" cy="1210028"/>
            <a:chOff x="6061878" y="373626"/>
            <a:chExt cx="2271286" cy="121002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67D306A-9652-4B6A-B041-08CBE277F554}"/>
                </a:ext>
              </a:extLst>
            </p:cNvPr>
            <p:cNvSpPr txBox="1"/>
            <p:nvPr/>
          </p:nvSpPr>
          <p:spPr>
            <a:xfrm>
              <a:off x="6061878" y="752657"/>
              <a:ext cx="1835759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On WSL2</a:t>
              </a:r>
              <a:br>
                <a:rPr lang="en-US" sz="2400" dirty="0"/>
              </a:br>
              <a:r>
                <a:rPr lang="en-US" sz="2400" dirty="0"/>
                <a:t>use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--open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6" name="Graphic 5" descr="Smiling face with solid fill with solid fill">
              <a:extLst>
                <a:ext uri="{FF2B5EF4-FFF2-40B4-BE49-F238E27FC236}">
                  <a16:creationId xmlns:a16="http://schemas.microsoft.com/office/drawing/2014/main" id="{8B011098-B56D-B679-5982-18AF64E24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725322" y="373626"/>
              <a:ext cx="607842" cy="60784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45272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B3818-0E54-8D78-B819-CD54F9A36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2A1C1-3EE3-3D7E-FD75-C38CE189C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List experiments at HEAD</a:t>
            </a:r>
          </a:p>
          <a:p>
            <a:endParaRPr lang="en-US" dirty="0"/>
          </a:p>
          <a:p>
            <a:r>
              <a:rPr lang="en-US" dirty="0"/>
              <a:t>List all experiments</a:t>
            </a:r>
          </a:p>
          <a:p>
            <a:endParaRPr lang="en-US" dirty="0"/>
          </a:p>
          <a:p>
            <a:r>
              <a:rPr lang="en-US" dirty="0"/>
              <a:t>Save workspace as experiment</a:t>
            </a:r>
          </a:p>
          <a:p>
            <a:endParaRPr lang="en-US" dirty="0"/>
          </a:p>
          <a:p>
            <a:r>
              <a:rPr lang="en-US" dirty="0"/>
              <a:t>Rename experiment</a:t>
            </a:r>
          </a:p>
          <a:p>
            <a:endParaRPr lang="en-US" dirty="0"/>
          </a:p>
          <a:p>
            <a:r>
              <a:rPr lang="en-US" dirty="0"/>
              <a:t>Remove experiment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19BBCB-7C78-8187-B738-C0C273D4B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AB447A-7F95-ED59-FBAE-C8C77B914853}"/>
              </a:ext>
            </a:extLst>
          </p:cNvPr>
          <p:cNvSpPr txBox="1"/>
          <p:nvPr/>
        </p:nvSpPr>
        <p:spPr>
          <a:xfrm>
            <a:off x="1317171" y="2249173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ls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37ADF1-6E9F-B07E-50FD-E89774B3CF0C}"/>
              </a:ext>
            </a:extLst>
          </p:cNvPr>
          <p:cNvSpPr txBox="1"/>
          <p:nvPr/>
        </p:nvSpPr>
        <p:spPr>
          <a:xfrm>
            <a:off x="1317170" y="6073816"/>
            <a:ext cx="5606144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remove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C5846-0A03-3D69-BB9B-19A296312F12}"/>
              </a:ext>
            </a:extLst>
          </p:cNvPr>
          <p:cNvSpPr txBox="1"/>
          <p:nvPr/>
        </p:nvSpPr>
        <p:spPr>
          <a:xfrm>
            <a:off x="1317171" y="4150165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save  --name '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DF3C11-3335-70DC-5DE0-49D7351651FD}"/>
              </a:ext>
            </a:extLst>
          </p:cNvPr>
          <p:cNvSpPr txBox="1"/>
          <p:nvPr/>
        </p:nvSpPr>
        <p:spPr>
          <a:xfrm>
            <a:off x="1317171" y="3189692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ls  -A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611112-FFFB-24F6-DBC7-5D43A1BF8E8B}"/>
              </a:ext>
            </a:extLst>
          </p:cNvPr>
          <p:cNvSpPr txBox="1"/>
          <p:nvPr/>
        </p:nvSpPr>
        <p:spPr>
          <a:xfrm>
            <a:off x="1317169" y="5063693"/>
            <a:ext cx="560614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rename  rival-slew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761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C5FFFA1-80E7-FE5F-95B4-793CC0FCF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parameters &amp; metrics</a:t>
            </a:r>
            <a:endParaRPr lang="LID4096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E7C4AE-5111-0F7E-76CB-8C3C6CF59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Show experiments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Many measures/parameters  very wide output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LESS='-S'</a:t>
            </a:r>
            <a:r>
              <a:rPr lang="en-US" dirty="0"/>
              <a:t> prevents wrapping</a:t>
            </a:r>
          </a:p>
          <a:p>
            <a:pPr lvl="1"/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--csv --no-pager</a:t>
            </a:r>
            <a:r>
              <a:rPr lang="en-US" dirty="0"/>
              <a:t> and </a:t>
            </a:r>
            <a:r>
              <a:rPr lang="en-US" dirty="0" err="1"/>
              <a:t>csvkit</a:t>
            </a:r>
            <a:r>
              <a:rPr lang="en-US" dirty="0"/>
              <a:t> to select columns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csvcut</a:t>
            </a:r>
            <a:r>
              <a:rPr lang="en-US" dirty="0"/>
              <a:t>) and format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csvlook</a:t>
            </a:r>
            <a:r>
              <a:rPr lang="en-US" dirty="0"/>
              <a:t>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CAD41E-D374-AC03-C2CF-DD3676012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39</a:t>
            </a:fld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1014BE-EF49-9BE4-1727-4751E2EB5466}"/>
              </a:ext>
            </a:extLst>
          </p:cNvPr>
          <p:cNvSpPr txBox="1"/>
          <p:nvPr/>
        </p:nvSpPr>
        <p:spPr>
          <a:xfrm>
            <a:off x="533400" y="2246968"/>
            <a:ext cx="11386458" cy="175432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LESS='-S'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show --only-changed --md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Experiment               | Created   | magnetization   | energy   |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ising.h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|--------------------------|-----------|-----------------|----------|-----------|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workspace                | -         | 0.9734          | -2.3871  | 0.5       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main                     | 11:23 AM  | 0.4944          | -1.2352  | 1         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├── 44fcecf [rival-slew] | 11:39 AM  | 0.9734          | -2.3871  | 0.5       |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7122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AF386-E6D7-F5DB-C51F-93F729911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plots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9FF7DD-5DA6-18C4-4D1D-4257F4FC3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40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273256-D8A0-52DF-0E7A-3CB389C77D61}"/>
              </a:ext>
            </a:extLst>
          </p:cNvPr>
          <p:cNvSpPr txBox="1"/>
          <p:nvPr/>
        </p:nvSpPr>
        <p:spPr>
          <a:xfrm>
            <a:off x="1317171" y="1879057"/>
            <a:ext cx="418011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plots show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6C7F585-197F-1BAC-3CFD-51EE79E5ECF7}"/>
              </a:ext>
            </a:extLst>
          </p:cNvPr>
          <p:cNvGrpSpPr/>
          <p:nvPr/>
        </p:nvGrpSpPr>
        <p:grpSpPr>
          <a:xfrm>
            <a:off x="1132114" y="2683802"/>
            <a:ext cx="8946821" cy="4174198"/>
            <a:chOff x="1132114" y="2683802"/>
            <a:chExt cx="8946821" cy="4174198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06A1521-DD7F-157E-A284-99D6450215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2114" y="2683802"/>
              <a:ext cx="8946821" cy="4174198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63E99FA-21E3-0262-02EC-49D61910601E}"/>
                </a:ext>
              </a:extLst>
            </p:cNvPr>
            <p:cNvSpPr txBox="1"/>
            <p:nvPr/>
          </p:nvSpPr>
          <p:spPr>
            <a:xfrm>
              <a:off x="8523514" y="4973022"/>
              <a:ext cx="11079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HTML file</a:t>
              </a:r>
              <a:endParaRPr lang="LID4096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0332A15-2890-7F95-4177-670EBE5F6AAD}"/>
              </a:ext>
            </a:extLst>
          </p:cNvPr>
          <p:cNvGrpSpPr/>
          <p:nvPr/>
        </p:nvGrpSpPr>
        <p:grpSpPr>
          <a:xfrm>
            <a:off x="6061878" y="752657"/>
            <a:ext cx="3376036" cy="1283447"/>
            <a:chOff x="6061878" y="752657"/>
            <a:chExt cx="3376036" cy="128344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9869AB2-DDDF-0CA2-D329-91BB16218C8C}"/>
                </a:ext>
              </a:extLst>
            </p:cNvPr>
            <p:cNvSpPr txBox="1"/>
            <p:nvPr/>
          </p:nvSpPr>
          <p:spPr>
            <a:xfrm>
              <a:off x="6061878" y="752657"/>
              <a:ext cx="3015634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If you have a browser,</a:t>
              </a:r>
              <a:br>
                <a:rPr lang="en-US" sz="2400" dirty="0"/>
              </a:br>
              <a:r>
                <a:rPr lang="en-US" sz="2400" dirty="0"/>
                <a:t>use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--open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12" name="Graphic 11" descr="Smiling face with solid fill with solid fill">
              <a:extLst>
                <a:ext uri="{FF2B5EF4-FFF2-40B4-BE49-F238E27FC236}">
                  <a16:creationId xmlns:a16="http://schemas.microsoft.com/office/drawing/2014/main" id="{BA1EB4FF-1075-D0BC-B773-69ACAD9735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523514" y="1121704"/>
              <a:ext cx="914400" cy="914400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CE147B6-8370-4B6E-1245-BB840C21CD24}"/>
              </a:ext>
            </a:extLst>
          </p:cNvPr>
          <p:cNvGrpSpPr/>
          <p:nvPr/>
        </p:nvGrpSpPr>
        <p:grpSpPr>
          <a:xfrm>
            <a:off x="8105240" y="2058353"/>
            <a:ext cx="3368302" cy="1250898"/>
            <a:chOff x="88563" y="5501785"/>
            <a:chExt cx="5303059" cy="113570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BA59516-5AAB-7B87-0309-2D1C1CAD1650}"/>
                </a:ext>
              </a:extLst>
            </p:cNvPr>
            <p:cNvSpPr txBox="1"/>
            <p:nvPr/>
          </p:nvSpPr>
          <p:spPr>
            <a:xfrm>
              <a:off x="2083561" y="5501785"/>
              <a:ext cx="3308061" cy="58680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Plots based on TSV files, interactive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90F7800-678F-D266-462D-92AB4961B9D6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88563" y="5795190"/>
              <a:ext cx="1994998" cy="8422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32838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206CA-3919-5554-121C-1B9552CA4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experiments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0A6D1-9366-11EB-DF4E-384739120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1968"/>
            <a:ext cx="10515600" cy="4351338"/>
          </a:xfrm>
        </p:spPr>
        <p:txBody>
          <a:bodyPr/>
          <a:lstStyle/>
          <a:p>
            <a:r>
              <a:rPr lang="en-US" dirty="0"/>
              <a:t>Parameters/final metrics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Evolution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D123B-5FCA-205D-BF1D-F928E9541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253980-B1C5-EE74-F219-D0D1DE071438}"/>
              </a:ext>
            </a:extLst>
          </p:cNvPr>
          <p:cNvSpPr txBox="1"/>
          <p:nvPr/>
        </p:nvSpPr>
        <p:spPr>
          <a:xfrm>
            <a:off x="1240972" y="1836390"/>
            <a:ext cx="10515600" cy="20313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diff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  Metric     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Change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metrics.json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energy         -2.3871      -0.6899     1.6972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metrics.json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magnetization  0.9734       0.295       -0.6784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 Param             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Change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dynamics.temperature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2.0          5.0         3.0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C1B6BC-9FD8-434E-3730-24E8F29D819E}"/>
              </a:ext>
            </a:extLst>
          </p:cNvPr>
          <p:cNvSpPr txBox="1"/>
          <p:nvPr/>
        </p:nvSpPr>
        <p:spPr>
          <a:xfrm>
            <a:off x="1240972" y="4446178"/>
            <a:ext cx="521425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plots diff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36179A3-DD02-54D3-34D7-09BC5B01B865}"/>
              </a:ext>
            </a:extLst>
          </p:cNvPr>
          <p:cNvGrpSpPr/>
          <p:nvPr/>
        </p:nvGrpSpPr>
        <p:grpSpPr>
          <a:xfrm>
            <a:off x="5780314" y="4199202"/>
            <a:ext cx="5649650" cy="2080948"/>
            <a:chOff x="5780314" y="4199202"/>
            <a:chExt cx="5649650" cy="208094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37F60CD-CE2E-AA84-07D4-646E2BC895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83722" y="4199202"/>
              <a:ext cx="4746242" cy="2080948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E6E73F6-47AF-2664-8C32-27D6AB9D2B00}"/>
                </a:ext>
              </a:extLst>
            </p:cNvPr>
            <p:cNvSpPr txBox="1"/>
            <p:nvPr/>
          </p:nvSpPr>
          <p:spPr>
            <a:xfrm>
              <a:off x="5780314" y="5559718"/>
              <a:ext cx="11079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HTML file</a:t>
              </a:r>
              <a:endParaRPr lang="LID4096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E85CCD-6D7D-3879-AA23-56B0BBA3C446}"/>
              </a:ext>
            </a:extLst>
          </p:cNvPr>
          <p:cNvGrpSpPr/>
          <p:nvPr/>
        </p:nvGrpSpPr>
        <p:grpSpPr>
          <a:xfrm>
            <a:off x="1169535" y="5255465"/>
            <a:ext cx="3376036" cy="1283447"/>
            <a:chOff x="6061878" y="752657"/>
            <a:chExt cx="3376036" cy="128344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C04D22C-6CE7-EF8A-DD62-2EBE454B7ABE}"/>
                </a:ext>
              </a:extLst>
            </p:cNvPr>
            <p:cNvSpPr txBox="1"/>
            <p:nvPr/>
          </p:nvSpPr>
          <p:spPr>
            <a:xfrm>
              <a:off x="6061878" y="752657"/>
              <a:ext cx="3015634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If you have a browser,</a:t>
              </a:r>
              <a:br>
                <a:rPr lang="en-US" sz="2400" dirty="0"/>
              </a:br>
              <a:r>
                <a:rPr lang="en-US" sz="2400" dirty="0"/>
                <a:t>use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--open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9" name="Graphic 8" descr="Smiling face with solid fill with solid fill">
              <a:extLst>
                <a:ext uri="{FF2B5EF4-FFF2-40B4-BE49-F238E27FC236}">
                  <a16:creationId xmlns:a16="http://schemas.microsoft.com/office/drawing/2014/main" id="{4D1D8A83-ACA7-8425-BABE-15AFA29B35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523514" y="1121704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169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F57E0-A434-0F25-8810-27DED2523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Sharing experiments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2FCF8-B809-DD95-86E9-B1DA899BEA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Push experiments to GitHub</a:t>
            </a:r>
          </a:p>
          <a:p>
            <a:endParaRPr lang="en-US" dirty="0"/>
          </a:p>
          <a:p>
            <a:r>
              <a:rPr lang="en-US" dirty="0"/>
              <a:t>Pull experiments to GitHub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BD7B2-FCD6-562B-4011-98567506D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970B18-B139-6675-9285-2512622F4AAB}"/>
              </a:ext>
            </a:extLst>
          </p:cNvPr>
          <p:cNvSpPr txBox="1"/>
          <p:nvPr/>
        </p:nvSpPr>
        <p:spPr>
          <a:xfrm>
            <a:off x="1284515" y="2358030"/>
            <a:ext cx="346165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push  origin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0D8C08-EE54-490F-0420-7DFC2CC90C83}"/>
              </a:ext>
            </a:extLst>
          </p:cNvPr>
          <p:cNvSpPr txBox="1"/>
          <p:nvPr/>
        </p:nvSpPr>
        <p:spPr>
          <a:xfrm>
            <a:off x="1284514" y="3337745"/>
            <a:ext cx="346165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pull  origin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09B1F7F-969D-D1BA-DFDD-C8F8C13D92B0}"/>
              </a:ext>
            </a:extLst>
          </p:cNvPr>
          <p:cNvGrpSpPr/>
          <p:nvPr/>
        </p:nvGrpSpPr>
        <p:grpSpPr>
          <a:xfrm>
            <a:off x="4746172" y="2542700"/>
            <a:ext cx="4680857" cy="979711"/>
            <a:chOff x="4746172" y="2542700"/>
            <a:chExt cx="4680857" cy="97971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10740FA-6CEA-F3A5-E2FA-A8898F5F8081}"/>
                </a:ext>
              </a:extLst>
            </p:cNvPr>
            <p:cNvGrpSpPr/>
            <p:nvPr/>
          </p:nvGrpSpPr>
          <p:grpSpPr>
            <a:xfrm>
              <a:off x="4746173" y="2542700"/>
              <a:ext cx="4680856" cy="646337"/>
              <a:chOff x="-1875092" y="5501780"/>
              <a:chExt cx="7369546" cy="586814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90D43E-0539-E6DA-D927-1852ECF0F6C8}"/>
                  </a:ext>
                </a:extLst>
              </p:cNvPr>
              <p:cNvSpPr txBox="1"/>
              <p:nvPr/>
            </p:nvSpPr>
            <p:spPr>
              <a:xfrm>
                <a:off x="2083561" y="5501785"/>
                <a:ext cx="3410893" cy="586809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Name of git remote,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  <a:latin typeface="Courier New" panose="02070309020205020404" pitchFamily="49" charset="0"/>
                  </a:rPr>
                  <a:t>no default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B102E545-5547-3E49-3ABD-BD39A199286D}"/>
                  </a:ext>
                </a:extLst>
              </p:cNvPr>
              <p:cNvCxnSpPr>
                <a:cxnSpLocks/>
                <a:stCxn id="8" idx="1"/>
                <a:endCxn id="5" idx="3"/>
              </p:cNvCxnSpPr>
              <p:nvPr/>
            </p:nvCxnSpPr>
            <p:spPr>
              <a:xfrm flipH="1" flipV="1">
                <a:off x="-1875092" y="5501780"/>
                <a:ext cx="3958653" cy="293409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AEBD127-1D55-D715-31A4-A9DC92B1C84F}"/>
                </a:ext>
              </a:extLst>
            </p:cNvPr>
            <p:cNvCxnSpPr>
              <a:cxnSpLocks/>
              <a:stCxn id="8" idx="1"/>
              <a:endCxn id="6" idx="3"/>
            </p:cNvCxnSpPr>
            <p:nvPr/>
          </p:nvCxnSpPr>
          <p:spPr>
            <a:xfrm flipH="1">
              <a:off x="4746172" y="2865872"/>
              <a:ext cx="2514387" cy="656539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80B76E-9E75-5766-9591-85778F37A33F}"/>
              </a:ext>
            </a:extLst>
          </p:cNvPr>
          <p:cNvGrpSpPr/>
          <p:nvPr/>
        </p:nvGrpSpPr>
        <p:grpSpPr>
          <a:xfrm>
            <a:off x="3461552" y="4159938"/>
            <a:ext cx="5083625" cy="1379498"/>
            <a:chOff x="424546" y="5228351"/>
            <a:chExt cx="5083625" cy="137949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F8BC51-5153-06D0-761B-19D80FEC2989}"/>
                </a:ext>
              </a:extLst>
            </p:cNvPr>
            <p:cNvSpPr txBox="1"/>
            <p:nvPr/>
          </p:nvSpPr>
          <p:spPr>
            <a:xfrm>
              <a:off x="424546" y="5653742"/>
              <a:ext cx="4661469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Don’t forget to </a:t>
              </a:r>
              <a:r>
                <a:rPr lang="en-US" sz="2800" dirty="0" err="1"/>
                <a:t>dvc</a:t>
              </a:r>
              <a:r>
                <a:rPr lang="en-US" sz="2800" dirty="0"/>
                <a:t> push/pull,</a:t>
              </a:r>
              <a:br>
                <a:rPr lang="en-US" sz="2800" dirty="0"/>
              </a:br>
              <a:r>
                <a:rPr lang="en-US" sz="2800" dirty="0"/>
                <a:t>git push/pull is not enough!</a:t>
              </a:r>
              <a:endParaRPr lang="LID4096" sz="2800" dirty="0"/>
            </a:p>
          </p:txBody>
        </p:sp>
        <p:pic>
          <p:nvPicPr>
            <p:cNvPr id="13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CE4F2AF2-2090-AEFA-BB78-E2542DB9AA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42020" y="5228351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827296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6BD0C-DC7C-ECEF-F228-FE714A00D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R?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8B397-F5D8-CF03-9E79-56AD679B8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31226" cy="4351338"/>
          </a:xfrm>
        </p:spPr>
        <p:txBody>
          <a:bodyPr>
            <a:normAutofit/>
          </a:bodyPr>
          <a:lstStyle/>
          <a:p>
            <a:r>
              <a:rPr lang="en-US" dirty="0"/>
              <a:t>Easy: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reticulate</a:t>
            </a:r>
            <a:r>
              <a:rPr lang="en-US" dirty="0"/>
              <a:t> to use Python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dvclive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7F08BB-3246-52C0-4035-F9D2DCD5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43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E346A6-577F-EDE7-79B9-D41BA4AF4C6B}"/>
              </a:ext>
            </a:extLst>
          </p:cNvPr>
          <p:cNvSpPr txBox="1"/>
          <p:nvPr/>
        </p:nvSpPr>
        <p:spPr>
          <a:xfrm>
            <a:off x="424546" y="2985631"/>
            <a:ext cx="493122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arguments &lt;-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commandArgs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delta &lt;-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as.numeric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(arguments[1])</a:t>
            </a: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score &lt;- 0.0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for(step in 1:100) {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score &lt;- score + delta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95BBC80-FBF1-5EEC-33A6-F012E063D7F2}"/>
              </a:ext>
            </a:extLst>
          </p:cNvPr>
          <p:cNvGrpSpPr/>
          <p:nvPr/>
        </p:nvGrpSpPr>
        <p:grpSpPr>
          <a:xfrm>
            <a:off x="5638802" y="1043047"/>
            <a:ext cx="6128652" cy="5078313"/>
            <a:chOff x="5638802" y="1043047"/>
            <a:chExt cx="6128652" cy="507831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70D0454-FA1D-63A3-0ECC-CCC405365DB9}"/>
                </a:ext>
              </a:extLst>
            </p:cNvPr>
            <p:cNvSpPr txBox="1"/>
            <p:nvPr/>
          </p:nvSpPr>
          <p:spPr>
            <a:xfrm>
              <a:off x="6487883" y="1043047"/>
              <a:ext cx="5279571" cy="507831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library(reticulate)</a:t>
              </a:r>
            </a:p>
            <a:p>
              <a:pPr lvl="0">
                <a:defRPr/>
              </a:pP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dvclive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 &lt;- import("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dvclive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")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 &lt;-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dvclive$Live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(report='html')</a:t>
              </a:r>
            </a:p>
            <a:p>
              <a:pPr lvl="0">
                <a:defRPr/>
              </a:pPr>
              <a:endPara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latin typeface="Courier New" pitchFamily="49" charset="0"/>
                  <a:cs typeface="Courier New" pitchFamily="49" charset="0"/>
                </a:rPr>
                <a:t>arguments &lt;-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commandArgs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pPr lvl="0">
                <a:defRPr/>
              </a:pPr>
              <a:r>
                <a:rPr lang="en-US" dirty="0">
                  <a:latin typeface="Courier New" pitchFamily="49" charset="0"/>
                  <a:cs typeface="Courier New" pitchFamily="49" charset="0"/>
                </a:rPr>
                <a:t>delta &lt;-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as.numeric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(arguments[1])</a:t>
              </a:r>
            </a:p>
            <a:p>
              <a:pPr lvl="0">
                <a:defRPr/>
              </a:pP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live$log_param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("delta", delta)</a:t>
              </a:r>
            </a:p>
            <a:p>
              <a:pPr lvl="0">
                <a:defRPr/>
              </a:pPr>
              <a:endPara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latin typeface="Courier New" pitchFamily="49" charset="0"/>
                  <a:cs typeface="Courier New" pitchFamily="49" charset="0"/>
                </a:rPr>
                <a:t>score &lt;- 0.0</a:t>
              </a:r>
            </a:p>
            <a:p>
              <a:pPr lvl="0">
                <a:defRPr/>
              </a:pP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live$log_metric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("score", score)</a:t>
              </a:r>
            </a:p>
            <a:p>
              <a:pPr lvl="0">
                <a:defRPr/>
              </a:pP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live$next_step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()</a:t>
              </a:r>
            </a:p>
            <a:p>
              <a:pPr lvl="0">
                <a:defRPr/>
              </a:pPr>
              <a:r>
                <a:rPr lang="en-US" dirty="0">
                  <a:latin typeface="Courier New" pitchFamily="49" charset="0"/>
                  <a:cs typeface="Courier New" pitchFamily="49" charset="0"/>
                </a:rPr>
                <a:t>for(step in 1:100) {</a:t>
              </a:r>
            </a:p>
            <a:p>
              <a:pPr lvl="0">
                <a:defRPr/>
              </a:pPr>
              <a:r>
                <a:rPr lang="en-US" dirty="0">
                  <a:latin typeface="Courier New" pitchFamily="49" charset="0"/>
                  <a:cs typeface="Courier New" pitchFamily="49" charset="0"/>
                </a:rPr>
                <a:t>  score &lt;- score + delta</a:t>
              </a:r>
            </a:p>
            <a:p>
              <a:pPr lvl="0">
                <a:defRPr/>
              </a:pPr>
              <a:r>
                <a:rPr lang="en-US" b="1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live$log_metric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("score", score)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live$next_step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()</a:t>
              </a:r>
            </a:p>
            <a:p>
              <a:pPr lvl="0">
                <a:defRPr/>
              </a:pPr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  <a:p>
              <a:pPr lvl="0">
                <a:defRPr/>
              </a:pPr>
              <a:endPara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live$end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()</a:t>
              </a:r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A90D2F71-9A9C-35DF-9C3C-56F35709DD44}"/>
                </a:ext>
              </a:extLst>
            </p:cNvPr>
            <p:cNvSpPr/>
            <p:nvPr/>
          </p:nvSpPr>
          <p:spPr>
            <a:xfrm>
              <a:off x="5638802" y="3703050"/>
              <a:ext cx="609603" cy="298243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AD85B6A-FAEE-F5E9-FB23-0D57305477E7}"/>
              </a:ext>
            </a:extLst>
          </p:cNvPr>
          <p:cNvGrpSpPr/>
          <p:nvPr/>
        </p:nvGrpSpPr>
        <p:grpSpPr>
          <a:xfrm>
            <a:off x="424546" y="5228351"/>
            <a:ext cx="5671454" cy="948611"/>
            <a:chOff x="424546" y="5228351"/>
            <a:chExt cx="5671454" cy="94861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3D7CA67-8F01-1A12-6ABC-77A5963E9FA5}"/>
                </a:ext>
              </a:extLst>
            </p:cNvPr>
            <p:cNvSpPr txBox="1"/>
            <p:nvPr/>
          </p:nvSpPr>
          <p:spPr>
            <a:xfrm>
              <a:off x="424546" y="5653742"/>
              <a:ext cx="5346079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Don’t forget to call </a:t>
              </a:r>
              <a:r>
                <a:rPr lang="en-US" sz="28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live$end</a:t>
              </a:r>
              <a:r>
                <a:rPr lang="en-US" sz="2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sz="2800" dirty="0"/>
                <a:t>!</a:t>
              </a:r>
              <a:endParaRPr lang="LID4096" sz="2800" dirty="0"/>
            </a:p>
          </p:txBody>
        </p:sp>
        <p:pic>
          <p:nvPicPr>
            <p:cNvPr id="11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7289967E-7D2F-C9AD-2A80-87212B4535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29849" y="5228351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78707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80915-6496-8594-95CA-983C936C8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248AE-579D-3672-BC55-0435E386A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B69F1D-805B-C683-401C-988A9C78E4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 management &amp; pipelines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5FC04-9F55-83C4-BE76-F5E339243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44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D3830D-FC92-C049-8D91-E9C1645C2A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9913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9E7FA19-4BC4-C638-81F6-077D0A159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Pipelines &amp; DVCLive</a:t>
            </a:r>
            <a:endParaRPr lang="LID4096" sz="40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528C44-C257-7D56-531F-9ACBC298B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US" sz="2000" dirty="0"/>
              <a:t>Experiment == stage</a:t>
            </a:r>
          </a:p>
          <a:p>
            <a:pPr lvl="1"/>
            <a:r>
              <a:rPr lang="en-US" sz="2000" dirty="0"/>
              <a:t>Uses </a:t>
            </a:r>
            <a:r>
              <a:rPr lang="en-US" sz="2000" dirty="0" err="1"/>
              <a:t>DVCLive</a:t>
            </a:r>
            <a:endParaRPr lang="en-US" sz="2000" dirty="0"/>
          </a:p>
          <a:p>
            <a:r>
              <a:rPr lang="en-US" sz="2400" dirty="0"/>
              <a:t>Keep track of</a:t>
            </a:r>
          </a:p>
          <a:p>
            <a:pPr lvl="1"/>
            <a:r>
              <a:rPr lang="en-US" sz="2000" dirty="0"/>
              <a:t>Dependencies</a:t>
            </a:r>
          </a:p>
          <a:p>
            <a:pPr lvl="1"/>
            <a:r>
              <a:rPr lang="en-US" sz="2000" dirty="0"/>
              <a:t>Parameters</a:t>
            </a:r>
          </a:p>
          <a:p>
            <a:pPr lvl="1"/>
            <a:r>
              <a:rPr lang="en-US" sz="2000" dirty="0"/>
              <a:t>Metrics</a:t>
            </a:r>
          </a:p>
          <a:p>
            <a:pPr lvl="1"/>
            <a:r>
              <a:rPr lang="en-US" sz="2000" dirty="0"/>
              <a:t>Outputs</a:t>
            </a:r>
            <a:endParaRPr lang="LID4096" sz="2000" dirty="0"/>
          </a:p>
        </p:txBody>
      </p:sp>
      <p:pic>
        <p:nvPicPr>
          <p:cNvPr id="8" name="Picture 7" descr="Manometer beer equipment">
            <a:extLst>
              <a:ext uri="{FF2B5EF4-FFF2-40B4-BE49-F238E27FC236}">
                <a16:creationId xmlns:a16="http://schemas.microsoft.com/office/drawing/2014/main" id="{01EE5749-D367-9BA3-1232-18424D093E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039" r="8006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450FD-72CB-BD96-1D52-EE1365A0B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C7CE217-4467-4B8D-A735-B008FA7C4816}" type="slidenum">
              <a:rPr lang="LID4096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45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527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82DBD-FEF5-0FF4-FBD1-3F111CAB9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Experiments in pipelines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D0B90-64C3-3AD3-CA17-042F56417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stage as usual</a:t>
            </a:r>
          </a:p>
          <a:p>
            <a:pPr lvl="1"/>
            <a:r>
              <a:rPr lang="en-US" dirty="0"/>
              <a:t>Contains </a:t>
            </a:r>
            <a:r>
              <a:rPr lang="en-US" dirty="0" err="1"/>
              <a:t>DVCLive</a:t>
            </a:r>
            <a:r>
              <a:rPr lang="en-US" dirty="0"/>
              <a:t> experiment management</a:t>
            </a:r>
          </a:p>
          <a:p>
            <a:pPr lvl="1"/>
            <a:r>
              <a:rPr lang="en-US" dirty="0"/>
              <a:t>Parameters read from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params.yaml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Run experiment</a:t>
            </a:r>
          </a:p>
          <a:p>
            <a:endParaRPr lang="en-US" dirty="0"/>
          </a:p>
          <a:p>
            <a:r>
              <a:rPr lang="en-US" dirty="0"/>
              <a:t>Run experiment with specific parameter value</a:t>
            </a:r>
          </a:p>
          <a:p>
            <a:endParaRPr lang="en-US" dirty="0"/>
          </a:p>
          <a:p>
            <a:r>
              <a:rPr lang="en-US" dirty="0"/>
              <a:t>Prepare workspace for specific experiment,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high_a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322AA-E6A9-9A7E-60AC-B72ED4870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18B632-4041-16BF-9C39-26D4BD9DEEC1}"/>
              </a:ext>
            </a:extLst>
          </p:cNvPr>
          <p:cNvSpPr txBox="1"/>
          <p:nvPr/>
        </p:nvSpPr>
        <p:spPr>
          <a:xfrm>
            <a:off x="1349828" y="3609890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41F1C2-ABC2-273C-7742-1E9CE66F2C17}"/>
              </a:ext>
            </a:extLst>
          </p:cNvPr>
          <p:cNvSpPr txBox="1"/>
          <p:nvPr/>
        </p:nvSpPr>
        <p:spPr>
          <a:xfrm>
            <a:off x="1349827" y="4632558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--set-param a=2.0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8B25769-28A9-2124-8B58-79C5B91E1965}"/>
              </a:ext>
            </a:extLst>
          </p:cNvPr>
          <p:cNvGrpSpPr/>
          <p:nvPr/>
        </p:nvGrpSpPr>
        <p:grpSpPr>
          <a:xfrm>
            <a:off x="7456714" y="4172597"/>
            <a:ext cx="3897086" cy="830997"/>
            <a:chOff x="-418324" y="5501785"/>
            <a:chExt cx="6135578" cy="75446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A518634-1A20-8570-E9E3-2B7A841DD994}"/>
                </a:ext>
              </a:extLst>
            </p:cNvPr>
            <p:cNvSpPr txBox="1"/>
            <p:nvPr/>
          </p:nvSpPr>
          <p:spPr>
            <a:xfrm>
              <a:off x="2083561" y="5501785"/>
              <a:ext cx="3633693" cy="75446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Modifies </a:t>
              </a:r>
              <a:r>
                <a:rPr kumimoji="0" lang="en-US" sz="24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rPr>
                <a:t>params.yaml</a:t>
              </a:r>
              <a:endParaRPr kumimoji="0" lang="nl-B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4A9833-410D-0FDB-BCC7-786F2FC6A843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-418324" y="5879020"/>
              <a:ext cx="2501884" cy="20802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BEC9D5B-063F-5A20-E7C0-58F4A2A325F5}"/>
              </a:ext>
            </a:extLst>
          </p:cNvPr>
          <p:cNvSpPr txBox="1"/>
          <p:nvPr/>
        </p:nvSpPr>
        <p:spPr>
          <a:xfrm>
            <a:off x="1349826" y="5655226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apply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7536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650B7-9531-E003-0160-20919755F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Queues &amp; parameter sweeps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56BB4-5101-B73B-611B-F2108D1BD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experiment to queue</a:t>
            </a:r>
          </a:p>
          <a:p>
            <a:endParaRPr lang="en-US" dirty="0"/>
          </a:p>
          <a:p>
            <a:r>
              <a:rPr lang="en-US" dirty="0"/>
              <a:t>Queue parameter sweep</a:t>
            </a:r>
          </a:p>
          <a:p>
            <a:endParaRPr lang="en-US" dirty="0"/>
          </a:p>
          <a:p>
            <a:r>
              <a:rPr lang="en-US" dirty="0"/>
              <a:t>Run queued experiment sequentially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F2AA8-F2D6-153C-80B0-D1A5AB317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E83890-6D9E-4A0A-C56E-959CEC4CA7BE}"/>
              </a:ext>
            </a:extLst>
          </p:cNvPr>
          <p:cNvSpPr txBox="1"/>
          <p:nvPr/>
        </p:nvSpPr>
        <p:spPr>
          <a:xfrm>
            <a:off x="1349827" y="2292717"/>
            <a:ext cx="76635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--queue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1E0867-C179-9BD8-2CC6-CCE42549A8C8}"/>
              </a:ext>
            </a:extLst>
          </p:cNvPr>
          <p:cNvSpPr txBox="1"/>
          <p:nvPr/>
        </p:nvSpPr>
        <p:spPr>
          <a:xfrm>
            <a:off x="1349827" y="3361450"/>
            <a:ext cx="7663544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--queue  -0set-param 'a=3.0,4.0,5.0'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358864-2BCD-DFF1-8CB3-D650EB88646A}"/>
              </a:ext>
            </a:extLst>
          </p:cNvPr>
          <p:cNvSpPr txBox="1"/>
          <p:nvPr/>
        </p:nvSpPr>
        <p:spPr>
          <a:xfrm>
            <a:off x="1349826" y="4354374"/>
            <a:ext cx="76635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--run-all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658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28D75-D4F9-4A2E-F1A2-134246666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status &amp;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DC946-4F82-703E-7F74-6B2866FCD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Check status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Show logs</a:t>
            </a:r>
          </a:p>
          <a:p>
            <a:endParaRPr lang="en-US" dirty="0"/>
          </a:p>
          <a:p>
            <a:r>
              <a:rPr lang="en-US" dirty="0"/>
              <a:t>Remove queued/completed task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B2601-ED0B-3E66-CEFD-7D6F43BD2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241780-6D75-A4E4-73FB-961362A1BCB6}"/>
              </a:ext>
            </a:extLst>
          </p:cNvPr>
          <p:cNvSpPr txBox="1"/>
          <p:nvPr/>
        </p:nvSpPr>
        <p:spPr>
          <a:xfrm>
            <a:off x="1209868" y="2264313"/>
            <a:ext cx="7260772" cy="230832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status</a:t>
            </a:r>
          </a:p>
          <a:p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Task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Name     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Created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Status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db756f8  found-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impi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02:24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Queued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6c431db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fuzzy-sash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02:24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Queued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96f84ca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regal-coho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02:24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Queued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20cacaa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muley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-tams  02:17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Success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cf70af4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dopey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-vang  02:17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Success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097310c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umber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-wind  02:17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Success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FAA8EE-9C06-79BD-0BC0-F0CBA594B01D}"/>
              </a:ext>
            </a:extLst>
          </p:cNvPr>
          <p:cNvSpPr txBox="1"/>
          <p:nvPr/>
        </p:nvSpPr>
        <p:spPr>
          <a:xfrm>
            <a:off x="1209868" y="5066607"/>
            <a:ext cx="72607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logs dopey-vang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390648-381A-8592-AF74-56EEA48F56D3}"/>
              </a:ext>
            </a:extLst>
          </p:cNvPr>
          <p:cNvSpPr txBox="1"/>
          <p:nvPr/>
        </p:nvSpPr>
        <p:spPr>
          <a:xfrm>
            <a:off x="1209868" y="5993477"/>
            <a:ext cx="72607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remove dopey-vang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677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7F20D-B717-4A43-8652-C8EA897CA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control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487BA-C93F-A595-3900-803762A107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all tasks in queue, 2 workers</a:t>
            </a:r>
          </a:p>
          <a:p>
            <a:endParaRPr lang="en-US" dirty="0"/>
          </a:p>
          <a:p>
            <a:r>
              <a:rPr lang="en-US" dirty="0"/>
              <a:t>Stop all workers</a:t>
            </a:r>
          </a:p>
          <a:p>
            <a:endParaRPr lang="en-US" dirty="0"/>
          </a:p>
          <a:p>
            <a:r>
              <a:rPr lang="en-US" dirty="0"/>
              <a:t>Stop &amp; kill all workers</a:t>
            </a:r>
          </a:p>
          <a:p>
            <a:endParaRPr lang="en-US" dirty="0"/>
          </a:p>
          <a:p>
            <a:r>
              <a:rPr lang="en-US" dirty="0"/>
              <a:t>Kill specific running task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552D53-879C-4DE5-6A08-14B28745E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49</a:t>
            </a:fld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1816CD-E0CB-C635-DC4E-978238819E41}"/>
              </a:ext>
            </a:extLst>
          </p:cNvPr>
          <p:cNvSpPr txBox="1"/>
          <p:nvPr/>
        </p:nvSpPr>
        <p:spPr>
          <a:xfrm>
            <a:off x="1181876" y="2410501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start  --jobs 2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1F8B04C-A4F0-BC88-48E5-AA94D8A28E75}"/>
              </a:ext>
            </a:extLst>
          </p:cNvPr>
          <p:cNvGrpSpPr/>
          <p:nvPr/>
        </p:nvGrpSpPr>
        <p:grpSpPr>
          <a:xfrm>
            <a:off x="5355772" y="2095538"/>
            <a:ext cx="3254828" cy="917156"/>
            <a:chOff x="8922121" y="5118668"/>
            <a:chExt cx="3254828" cy="91715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D3776D9-521E-BC27-1EE7-1C3BB8327889}"/>
                </a:ext>
              </a:extLst>
            </p:cNvPr>
            <p:cNvSpPr txBox="1"/>
            <p:nvPr/>
          </p:nvSpPr>
          <p:spPr>
            <a:xfrm>
              <a:off x="8922121" y="5574159"/>
              <a:ext cx="294330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Don’t oversubscribe!</a:t>
              </a:r>
              <a:endParaRPr lang="LID4096" sz="2400" dirty="0"/>
            </a:p>
          </p:txBody>
        </p:sp>
        <p:pic>
          <p:nvPicPr>
            <p:cNvPr id="11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B6E5AF44-60EB-BAD4-7CAC-6EDA44E5D2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534991" y="5118668"/>
              <a:ext cx="641958" cy="641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5EB37C2-F18E-67D6-EB6A-1BDC1181921E}"/>
              </a:ext>
            </a:extLst>
          </p:cNvPr>
          <p:cNvSpPr txBox="1"/>
          <p:nvPr/>
        </p:nvSpPr>
        <p:spPr>
          <a:xfrm>
            <a:off x="1181876" y="3339856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stop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0012E2-9BD1-4440-A21C-5DE9AD7F25AD}"/>
              </a:ext>
            </a:extLst>
          </p:cNvPr>
          <p:cNvSpPr txBox="1"/>
          <p:nvPr/>
        </p:nvSpPr>
        <p:spPr>
          <a:xfrm>
            <a:off x="1181876" y="4363513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stop  --kill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B9849E-3E9C-4178-C39F-D5D31A0D8F0C}"/>
              </a:ext>
            </a:extLst>
          </p:cNvPr>
          <p:cNvSpPr txBox="1"/>
          <p:nvPr/>
        </p:nvSpPr>
        <p:spPr>
          <a:xfrm>
            <a:off x="1181876" y="5387170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kill leaky-wasp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643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5" grpId="0" animBg="1"/>
      <p:bldP spid="6" grpId="0" animBg="1"/>
      <p:bldP spid="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A3D8D-1E3E-A506-CF8D-1A50741A2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D28C77-F7DF-9D95-99EA-189A0E96C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F2629-DA0D-6188-9309-0F1728987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846248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0D080-03FD-95CB-6C17-2AE9FAF79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Take-aways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C6B09-2203-7249-5A48-8357BD879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+ DVC = standalone</a:t>
            </a:r>
          </a:p>
          <a:p>
            <a:pPr lvl="1"/>
            <a:r>
              <a:rPr lang="en-US" dirty="0"/>
              <a:t>Light weight</a:t>
            </a:r>
          </a:p>
          <a:p>
            <a:pPr lvl="1"/>
            <a:r>
              <a:rPr lang="en-US" dirty="0"/>
              <a:t>Promotes reproducibility</a:t>
            </a:r>
          </a:p>
          <a:p>
            <a:pPr lvl="2"/>
            <a:r>
              <a:rPr lang="en-US" dirty="0"/>
              <a:t>Experiments</a:t>
            </a:r>
          </a:p>
          <a:p>
            <a:pPr lvl="2"/>
            <a:r>
              <a:rPr lang="en-US" dirty="0"/>
              <a:t>Workflows</a:t>
            </a:r>
          </a:p>
          <a:p>
            <a:pPr lvl="1"/>
            <a:r>
              <a:rPr lang="en-US" dirty="0"/>
              <a:t>Facilitates data/experiment/model sharing</a:t>
            </a:r>
          </a:p>
          <a:p>
            <a:r>
              <a:rPr lang="en-US" dirty="0"/>
              <a:t>Requires</a:t>
            </a:r>
          </a:p>
          <a:p>
            <a:pPr lvl="1"/>
            <a:r>
              <a:rPr lang="en-US" dirty="0"/>
              <a:t>Discipline using version control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F528A-8A5B-DBF6-DE04-292E9382D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17268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73BB4-C6F8-7E5F-6EBF-08676EDE3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472650-163C-B12D-795A-4807F89AC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https://git-scm.com/doc</a:t>
            </a:r>
            <a:r>
              <a:rPr lang="en-US" dirty="0"/>
              <a:t> </a:t>
            </a:r>
          </a:p>
          <a:p>
            <a:r>
              <a:rPr lang="en-US" dirty="0"/>
              <a:t>DVC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https://dvc.org/doc</a:t>
            </a: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4F75E1-9838-4C5B-166D-4927C4DB5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34379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3986</TotalTime>
  <Words>3089</Words>
  <Application>Microsoft Office PowerPoint</Application>
  <PresentationFormat>Widescreen</PresentationFormat>
  <Paragraphs>649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9" baseType="lpstr">
      <vt:lpstr>Aptos</vt:lpstr>
      <vt:lpstr>Aptos Display</vt:lpstr>
      <vt:lpstr>Arial</vt:lpstr>
      <vt:lpstr>Calibri</vt:lpstr>
      <vt:lpstr>Courier New</vt:lpstr>
      <vt:lpstr>Symbol</vt:lpstr>
      <vt:lpstr>Office Theme</vt:lpstr>
      <vt:lpstr>MLOps on HPC</vt:lpstr>
      <vt:lpstr>PowerPoint Presentation</vt:lpstr>
      <vt:lpstr>PowerPoint Presentation</vt:lpstr>
      <vt:lpstr>Typographical conventions I</vt:lpstr>
      <vt:lpstr>Typographical conventions II</vt:lpstr>
      <vt:lpstr>Introduction</vt:lpstr>
      <vt:lpstr>Motivation</vt:lpstr>
      <vt:lpstr>Many options</vt:lpstr>
      <vt:lpstr>Data Version Control</vt:lpstr>
      <vt:lpstr>DVC advantages</vt:lpstr>
      <vt:lpstr>Repository setup for DVC</vt:lpstr>
      <vt:lpstr>DVC remote storage options</vt:lpstr>
      <vt:lpstr>DVC remotes examples</vt:lpstr>
      <vt:lpstr>Data Version Control</vt:lpstr>
      <vt:lpstr>DVC data versioning</vt:lpstr>
      <vt:lpstr>Interacting with DVC remote</vt:lpstr>
      <vt:lpstr>Modifying data</vt:lpstr>
      <vt:lpstr>Check out previous versions</vt:lpstr>
      <vt:lpstr>Check out only previous versions of data sets</vt:lpstr>
      <vt:lpstr>Importing data</vt:lpstr>
      <vt:lpstr>Data Version Control</vt:lpstr>
      <vt:lpstr>Data pipelines</vt:lpstr>
      <vt:lpstr>Add stage</vt:lpstr>
      <vt:lpstr>Parameters</vt:lpstr>
      <vt:lpstr>Add next stage</vt:lpstr>
      <vt:lpstr>Metrics</vt:lpstr>
      <vt:lpstr>Visualizing pipeline</vt:lpstr>
      <vt:lpstr>Run pipeline</vt:lpstr>
      <vt:lpstr>Viewing &amp; comparing metrics</vt:lpstr>
      <vt:lpstr>Comparing arbitrary runs</vt:lpstr>
      <vt:lpstr>Comparing parameters</vt:lpstr>
      <vt:lpstr>What about R?</vt:lpstr>
      <vt:lpstr>Data Version Control</vt:lpstr>
      <vt:lpstr>Experiment management</vt:lpstr>
      <vt:lpstr>DVCLive basics</vt:lpstr>
      <vt:lpstr>Run experiment</vt:lpstr>
      <vt:lpstr>HTML report</vt:lpstr>
      <vt:lpstr>Experiment management</vt:lpstr>
      <vt:lpstr>Experiment parameters &amp; metrics</vt:lpstr>
      <vt:lpstr>Experiment plots</vt:lpstr>
      <vt:lpstr>Comparing experiments</vt:lpstr>
      <vt:lpstr>Sharing experiments</vt:lpstr>
      <vt:lpstr>What about R?</vt:lpstr>
      <vt:lpstr>Data Version Control</vt:lpstr>
      <vt:lpstr>Pipelines &amp; DVCLive</vt:lpstr>
      <vt:lpstr>Experiments in pipelines</vt:lpstr>
      <vt:lpstr>Queues &amp; parameter sweeps</vt:lpstr>
      <vt:lpstr>Queue status &amp; management</vt:lpstr>
      <vt:lpstr>Queue control</vt:lpstr>
      <vt:lpstr>Conclusions</vt:lpstr>
      <vt:lpstr>Take-aways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41</cp:revision>
  <dcterms:created xsi:type="dcterms:W3CDTF">2025-01-17T10:10:41Z</dcterms:created>
  <dcterms:modified xsi:type="dcterms:W3CDTF">2025-12-03T12:30:05Z</dcterms:modified>
</cp:coreProperties>
</file>