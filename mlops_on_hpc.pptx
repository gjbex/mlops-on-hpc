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54"/>
  </p:notesMasterIdLst>
  <p:sldIdLst>
    <p:sldId id="257" r:id="rId2"/>
    <p:sldId id="355" r:id="rId3"/>
    <p:sldId id="357" r:id="rId4"/>
    <p:sldId id="353" r:id="rId5"/>
    <p:sldId id="348" r:id="rId6"/>
    <p:sldId id="359" r:id="rId7"/>
    <p:sldId id="360" r:id="rId8"/>
    <p:sldId id="361" r:id="rId9"/>
    <p:sldId id="362" r:id="rId10"/>
    <p:sldId id="363" r:id="rId11"/>
    <p:sldId id="364" r:id="rId12"/>
    <p:sldId id="365" r:id="rId13"/>
    <p:sldId id="367" r:id="rId14"/>
    <p:sldId id="373" r:id="rId15"/>
    <p:sldId id="366" r:id="rId16"/>
    <p:sldId id="368" r:id="rId17"/>
    <p:sldId id="369" r:id="rId18"/>
    <p:sldId id="370" r:id="rId19"/>
    <p:sldId id="372" r:id="rId20"/>
    <p:sldId id="396" r:id="rId21"/>
    <p:sldId id="374" r:id="rId22"/>
    <p:sldId id="371" r:id="rId23"/>
    <p:sldId id="375" r:id="rId24"/>
    <p:sldId id="376" r:id="rId25"/>
    <p:sldId id="377" r:id="rId26"/>
    <p:sldId id="379" r:id="rId27"/>
    <p:sldId id="380" r:id="rId28"/>
    <p:sldId id="378" r:id="rId29"/>
    <p:sldId id="382" r:id="rId30"/>
    <p:sldId id="381" r:id="rId31"/>
    <p:sldId id="383" r:id="rId32"/>
    <p:sldId id="395" r:id="rId33"/>
    <p:sldId id="384" r:id="rId34"/>
    <p:sldId id="385" r:id="rId35"/>
    <p:sldId id="386" r:id="rId36"/>
    <p:sldId id="387" r:id="rId37"/>
    <p:sldId id="388" r:id="rId38"/>
    <p:sldId id="390" r:id="rId39"/>
    <p:sldId id="389" r:id="rId40"/>
    <p:sldId id="392" r:id="rId41"/>
    <p:sldId id="391" r:id="rId42"/>
    <p:sldId id="393" r:id="rId43"/>
    <p:sldId id="394" r:id="rId44"/>
    <p:sldId id="397" r:id="rId45"/>
    <p:sldId id="398" r:id="rId46"/>
    <p:sldId id="399" r:id="rId47"/>
    <p:sldId id="400" r:id="rId48"/>
    <p:sldId id="401" r:id="rId49"/>
    <p:sldId id="402" r:id="rId50"/>
    <p:sldId id="403" r:id="rId51"/>
    <p:sldId id="404" r:id="rId52"/>
    <p:sldId id="405" r:id="rId53"/>
  </p:sldIdLst>
  <p:sldSz cx="12192000" cy="6858000"/>
  <p:notesSz cx="6858000" cy="9144000"/>
  <p:defaultTextStyle>
    <a:defPPr>
      <a:defRPr lang="LID4096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browse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801832E-0171-4C3A-8280-47AD1B442FFF}" v="3" dt="2025-05-21T15:29:13.07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0" d="100"/>
          <a:sy n="70" d="100"/>
        </p:scale>
        <p:origin x="149" y="2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presProps" Target="pres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tableStyles" Target="tableStyles.xml"/><Relationship Id="rId5" Type="http://schemas.openxmlformats.org/officeDocument/2006/relationships/slide" Target="slides/slide4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viewProps" Target="view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microsoft.com/office/2016/11/relationships/changesInfo" Target="changesInfos/changesInfo1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theme" Target="theme/theme1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Geert Jan Bex" userId="b602d378c858ceb4" providerId="LiveId" clId="{4801832E-0171-4C3A-8280-47AD1B442FFF}"/>
    <pc:docChg chg="custSel addSld modSld">
      <pc:chgData name="Geert Jan Bex" userId="b602d378c858ceb4" providerId="LiveId" clId="{4801832E-0171-4C3A-8280-47AD1B442FFF}" dt="2025-05-21T15:28:55.882" v="37" actId="478"/>
      <pc:docMkLst>
        <pc:docMk/>
      </pc:docMkLst>
      <pc:sldChg chg="addSp delSp modSp new mod modClrScheme chgLayout">
        <pc:chgData name="Geert Jan Bex" userId="b602d378c858ceb4" providerId="LiveId" clId="{4801832E-0171-4C3A-8280-47AD1B442FFF}" dt="2025-05-21T15:28:55.882" v="37" actId="478"/>
        <pc:sldMkLst>
          <pc:docMk/>
          <pc:sldMk cId="688779831" sldId="358"/>
        </pc:sldMkLst>
        <pc:spChg chg="mod ord">
          <ac:chgData name="Geert Jan Bex" userId="b602d378c858ceb4" providerId="LiveId" clId="{4801832E-0171-4C3A-8280-47AD1B442FFF}" dt="2025-05-21T15:28:22.627" v="33" actId="700"/>
          <ac:spMkLst>
            <pc:docMk/>
            <pc:sldMk cId="688779831" sldId="358"/>
            <ac:spMk id="2" creationId="{09B6272A-02E9-F2EE-436A-3F4932E13A7A}"/>
          </ac:spMkLst>
        </pc:spChg>
        <pc:spChg chg="del">
          <ac:chgData name="Geert Jan Bex" userId="b602d378c858ceb4" providerId="LiveId" clId="{4801832E-0171-4C3A-8280-47AD1B442FFF}" dt="2025-05-21T15:28:22.627" v="33" actId="700"/>
          <ac:spMkLst>
            <pc:docMk/>
            <pc:sldMk cId="688779831" sldId="358"/>
            <ac:spMk id="3" creationId="{656988EA-9D81-5792-4562-CEF34AF7D24C}"/>
          </ac:spMkLst>
        </pc:spChg>
        <pc:spChg chg="mod">
          <ac:chgData name="Geert Jan Bex" userId="b602d378c858ceb4" providerId="LiveId" clId="{4801832E-0171-4C3A-8280-47AD1B442FFF}" dt="2025-05-21T15:28:38.249" v="34"/>
          <ac:spMkLst>
            <pc:docMk/>
            <pc:sldMk cId="688779831" sldId="358"/>
            <ac:spMk id="5" creationId="{D4751453-B372-41FE-6AD4-8053745813A4}"/>
          </ac:spMkLst>
        </pc:spChg>
        <pc:spChg chg="mod">
          <ac:chgData name="Geert Jan Bex" userId="b602d378c858ceb4" providerId="LiveId" clId="{4801832E-0171-4C3A-8280-47AD1B442FFF}" dt="2025-05-21T15:28:38.249" v="34"/>
          <ac:spMkLst>
            <pc:docMk/>
            <pc:sldMk cId="688779831" sldId="358"/>
            <ac:spMk id="6" creationId="{3EA672C9-D16F-6ECC-CD9F-13E1D5E2FD77}"/>
          </ac:spMkLst>
        </pc:spChg>
        <pc:spChg chg="mod">
          <ac:chgData name="Geert Jan Bex" userId="b602d378c858ceb4" providerId="LiveId" clId="{4801832E-0171-4C3A-8280-47AD1B442FFF}" dt="2025-05-21T15:28:38.249" v="34"/>
          <ac:spMkLst>
            <pc:docMk/>
            <pc:sldMk cId="688779831" sldId="358"/>
            <ac:spMk id="10" creationId="{5D409F96-829B-F0E2-9CA3-638A81E0EDFE}"/>
          </ac:spMkLst>
        </pc:spChg>
        <pc:spChg chg="mod">
          <ac:chgData name="Geert Jan Bex" userId="b602d378c858ceb4" providerId="LiveId" clId="{4801832E-0171-4C3A-8280-47AD1B442FFF}" dt="2025-05-21T15:28:45.282" v="35"/>
          <ac:spMkLst>
            <pc:docMk/>
            <pc:sldMk cId="688779831" sldId="358"/>
            <ac:spMk id="15" creationId="{9C3EDA34-C6EA-CACB-4B57-6632CD8078E2}"/>
          </ac:spMkLst>
        </pc:spChg>
        <pc:grpChg chg="add mod">
          <ac:chgData name="Geert Jan Bex" userId="b602d378c858ceb4" providerId="LiveId" clId="{4801832E-0171-4C3A-8280-47AD1B442FFF}" dt="2025-05-21T15:28:38.249" v="34"/>
          <ac:grpSpMkLst>
            <pc:docMk/>
            <pc:sldMk cId="688779831" sldId="358"/>
            <ac:grpSpMk id="4" creationId="{86DB24A3-C16D-CA53-A6A4-4F7EE1D879CE}"/>
          </ac:grpSpMkLst>
        </pc:grpChg>
        <pc:grpChg chg="add mod">
          <ac:chgData name="Geert Jan Bex" userId="b602d378c858ceb4" providerId="LiveId" clId="{4801832E-0171-4C3A-8280-47AD1B442FFF}" dt="2025-05-21T15:28:38.249" v="34"/>
          <ac:grpSpMkLst>
            <pc:docMk/>
            <pc:sldMk cId="688779831" sldId="358"/>
            <ac:grpSpMk id="7" creationId="{9E754873-0153-0D97-958A-06B2E493E517}"/>
          </ac:grpSpMkLst>
        </pc:grpChg>
        <pc:grpChg chg="mod">
          <ac:chgData name="Geert Jan Bex" userId="b602d378c858ceb4" providerId="LiveId" clId="{4801832E-0171-4C3A-8280-47AD1B442FFF}" dt="2025-05-21T15:28:38.249" v="34"/>
          <ac:grpSpMkLst>
            <pc:docMk/>
            <pc:sldMk cId="688779831" sldId="358"/>
            <ac:grpSpMk id="8" creationId="{BF59F79E-E11C-9AF7-FFCE-6CF4E4F7A8DF}"/>
          </ac:grpSpMkLst>
        </pc:grpChg>
        <pc:grpChg chg="add del mod">
          <ac:chgData name="Geert Jan Bex" userId="b602d378c858ceb4" providerId="LiveId" clId="{4801832E-0171-4C3A-8280-47AD1B442FFF}" dt="2025-05-21T15:28:55.882" v="37" actId="478"/>
          <ac:grpSpMkLst>
            <pc:docMk/>
            <pc:sldMk cId="688779831" sldId="358"/>
            <ac:grpSpMk id="12" creationId="{D8DC2B81-AD45-EEB4-4C48-A85C4EDF6F42}"/>
          </ac:grpSpMkLst>
        </pc:grpChg>
        <pc:grpChg chg="mod topLvl">
          <ac:chgData name="Geert Jan Bex" userId="b602d378c858ceb4" providerId="LiveId" clId="{4801832E-0171-4C3A-8280-47AD1B442FFF}" dt="2025-05-21T15:28:55.882" v="37" actId="478"/>
          <ac:grpSpMkLst>
            <pc:docMk/>
            <pc:sldMk cId="688779831" sldId="358"/>
            <ac:grpSpMk id="13" creationId="{B59AB037-1BEC-2578-88A3-40011B584EE4}"/>
          </ac:grpSpMkLst>
        </pc:grpChg>
        <pc:picChg chg="mod">
          <ac:chgData name="Geert Jan Bex" userId="b602d378c858ceb4" providerId="LiveId" clId="{4801832E-0171-4C3A-8280-47AD1B442FFF}" dt="2025-05-21T15:28:38.249" v="34"/>
          <ac:picMkLst>
            <pc:docMk/>
            <pc:sldMk cId="688779831" sldId="358"/>
            <ac:picMk id="9" creationId="{4FAF59EB-21B6-BDAF-B485-6D2BCDA5310A}"/>
          </ac:picMkLst>
        </pc:picChg>
        <pc:picChg chg="del mod topLvl">
          <ac:chgData name="Geert Jan Bex" userId="b602d378c858ceb4" providerId="LiveId" clId="{4801832E-0171-4C3A-8280-47AD1B442FFF}" dt="2025-05-21T15:28:55.882" v="37" actId="478"/>
          <ac:picMkLst>
            <pc:docMk/>
            <pc:sldMk cId="688779831" sldId="358"/>
            <ac:picMk id="14" creationId="{D3AC97ED-C105-5CA5-7B1C-7A1EB712B858}"/>
          </ac:picMkLst>
        </pc:picChg>
        <pc:cxnChg chg="mod">
          <ac:chgData name="Geert Jan Bex" userId="b602d378c858ceb4" providerId="LiveId" clId="{4801832E-0171-4C3A-8280-47AD1B442FFF}" dt="2025-05-21T15:28:38.249" v="34"/>
          <ac:cxnSpMkLst>
            <pc:docMk/>
            <pc:sldMk cId="688779831" sldId="358"/>
            <ac:cxnSpMk id="11" creationId="{B112BDF1-5478-EDB5-1F1C-048F81465E56}"/>
          </ac:cxnSpMkLst>
        </pc:cxnChg>
        <pc:cxnChg chg="mod">
          <ac:chgData name="Geert Jan Bex" userId="b602d378c858ceb4" providerId="LiveId" clId="{4801832E-0171-4C3A-8280-47AD1B442FFF}" dt="2025-05-21T15:28:45.282" v="35"/>
          <ac:cxnSpMkLst>
            <pc:docMk/>
            <pc:sldMk cId="688779831" sldId="358"/>
            <ac:cxnSpMk id="16" creationId="{7831DE07-2CFA-646A-1CF4-7EF5832801BD}"/>
          </ac:cxnSpMkLst>
        </pc:cxnChg>
      </pc:sldChg>
    </pc:docChg>
  </pc:docChgLst>
  <pc:docChgLst>
    <pc:chgData name="Geert Jan Bex" userId="b602d378c858ceb4" providerId="LiveId" clId="{30EAD574-1FC7-4A86-A60C-5DB10ABC81BA}"/>
    <pc:docChg chg="custSel addSld modSld">
      <pc:chgData name="Geert Jan Bex" userId="b602d378c858ceb4" providerId="LiveId" clId="{30EAD574-1FC7-4A86-A60C-5DB10ABC81BA}" dt="2025-02-03T12:51:50.899" v="87"/>
      <pc:docMkLst>
        <pc:docMk/>
      </pc:docMkLst>
      <pc:sldChg chg="modSp add mod">
        <pc:chgData name="Geert Jan Bex" userId="b602d378c858ceb4" providerId="LiveId" clId="{30EAD574-1FC7-4A86-A60C-5DB10ABC81BA}" dt="2025-01-17T10:12:00.991" v="16" actId="20577"/>
        <pc:sldMkLst>
          <pc:docMk/>
          <pc:sldMk cId="695502024" sldId="257"/>
        </pc:sldMkLst>
      </pc:sldChg>
      <pc:sldChg chg="addSp delSp modSp add mod delAnim modAnim">
        <pc:chgData name="Geert Jan Bex" userId="b602d378c858ceb4" providerId="LiveId" clId="{30EAD574-1FC7-4A86-A60C-5DB10ABC81BA}" dt="2025-02-03T12:51:50.899" v="87"/>
        <pc:sldMkLst>
          <pc:docMk/>
          <pc:sldMk cId="2597093166" sldId="348"/>
        </pc:sldMkLst>
      </pc:sldChg>
      <pc:sldChg chg="modSp add mod">
        <pc:chgData name="Geert Jan Bex" userId="b602d378c858ceb4" providerId="LiveId" clId="{30EAD574-1FC7-4A86-A60C-5DB10ABC81BA}" dt="2025-02-03T12:49:53.874" v="77" actId="208"/>
        <pc:sldMkLst>
          <pc:docMk/>
          <pc:sldMk cId="1464286054" sldId="353"/>
        </pc:sldMkLst>
      </pc:sldChg>
      <pc:sldChg chg="add">
        <pc:chgData name="Geert Jan Bex" userId="b602d378c858ceb4" providerId="LiveId" clId="{30EAD574-1FC7-4A86-A60C-5DB10ABC81BA}" dt="2025-01-17T10:11:19.324" v="0"/>
        <pc:sldMkLst>
          <pc:docMk/>
          <pc:sldMk cId="4231110881" sldId="355"/>
        </pc:sldMkLst>
      </pc:sldChg>
      <pc:sldChg chg="add">
        <pc:chgData name="Geert Jan Bex" userId="b602d378c858ceb4" providerId="LiveId" clId="{30EAD574-1FC7-4A86-A60C-5DB10ABC81BA}" dt="2025-01-17T10:11:19.324" v="0"/>
        <pc:sldMkLst>
          <pc:docMk/>
          <pc:sldMk cId="2488509471" sldId="357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LID4096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BC644CB-8FFF-4F59-B04D-9A1D2A5DB720}" type="datetimeFigureOut">
              <a:rPr lang="LID4096" smtClean="0"/>
              <a:t>12/03/2025</a:t>
            </a:fld>
            <a:endParaRPr lang="LID4096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LID4096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LID4096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EB56DA1-3D99-4D19-9FEB-5AC9318F79C3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30134188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0495A0-BC49-8BC7-1E67-C4B11669D31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94900E4-3B6F-DF8D-A7E9-E87ACA05A7E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LID4096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9E996B0-26F5-65C2-4CAF-CF343A6F45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DC7A01-813B-4B59-A1CC-F2D63921E46A}" type="datetime1">
              <a:rPr lang="LID4096" smtClean="0"/>
              <a:t>12/03/2025</a:t>
            </a:fld>
            <a:endParaRPr lang="LID4096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7EFB615-95FB-1537-3191-B298AB7C31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B8110DC-31BC-7B20-17FF-310635056F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7CE217-4467-4B8D-A735-B008FA7C4816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111044670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68CFE0-2AC0-20ED-73B0-DFEFBB291F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799922-9839-DC11-7C1D-ECADEB76E35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2EE9A3D-7BDD-6410-DA6F-FEFCD2B18B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5C8B8A-B2CE-4D78-88A4-476B2363B71E}" type="datetime1">
              <a:rPr lang="LID4096" smtClean="0"/>
              <a:t>12/03/2025</a:t>
            </a:fld>
            <a:endParaRPr lang="LID4096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92A90FE-55A1-7B15-FD37-1BCA33A256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717E73B-D033-E0BF-6482-AD60F16D54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7CE217-4467-4B8D-A735-B008FA7C4816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400708456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27239B-0275-2624-DB81-0073ABD42D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90DA172-6B82-EE0F-2416-127BEF68746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EFCA1B6-427A-6E7C-2AFA-D1EAEBCD95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DAB553-EE67-480E-BCE3-F64D7D51D294}" type="datetime1">
              <a:rPr lang="LID4096" smtClean="0"/>
              <a:t>12/03/2025</a:t>
            </a:fld>
            <a:endParaRPr lang="LID4096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5D4012E-CDF7-D679-B514-2CBC536D92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05633E4-6D54-38AB-E9B4-2F51C28120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7CE217-4467-4B8D-A735-B008FA7C4816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126924823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1B74F-C018-95A8-027A-3FF4642222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0DA37D-E9D6-3DCD-59DF-8AF936E5B52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7FDF64B-0394-0D71-631C-C785F759B35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808D6A4-379D-4A0E-2836-A41BD4B4F7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270038-A599-4345-BE24-96A4E06BF8E3}" type="datetime1">
              <a:rPr lang="LID4096" smtClean="0"/>
              <a:t>12/03/2025</a:t>
            </a:fld>
            <a:endParaRPr lang="LID4096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6A53563-6A2D-1248-28AA-B6430C3836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689FB0A-1310-A96A-1402-36A73BD654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7CE217-4467-4B8D-A735-B008FA7C4816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171564583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08611B-B5B0-EDFB-DE7F-36186440A0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89BDBDB-270E-7F86-324F-E5275BDCACC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3795170-0ECD-519A-4581-6EE194EA892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36B4056-2B27-C5AB-9540-BAFE7B98019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96B4B51-DA67-08D5-D585-5B636936571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81C0D61-D66B-66F0-9E7A-3BFE464238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A719F7-59BE-4FD1-8AC5-F7BFCCA290D7}" type="datetime1">
              <a:rPr lang="LID4096" smtClean="0"/>
              <a:t>12/03/2025</a:t>
            </a:fld>
            <a:endParaRPr lang="LID4096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2755B6F-9C13-8619-447D-D1CD0CD506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91414A0-6B8B-80E9-8AEB-4B2F55F32F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7CE217-4467-4B8D-A735-B008FA7C4816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8240822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1E8F80-DF2C-02C9-F9CE-30DC0A664F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7896BA8-AF4F-D72D-E98D-EA94266FCC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93A37-6A61-4F10-A100-9676ACB86039}" type="datetime1">
              <a:rPr lang="LID4096" smtClean="0"/>
              <a:t>12/03/2025</a:t>
            </a:fld>
            <a:endParaRPr lang="LID4096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D3BF2A7-B010-2894-CC55-E9E63E8FB9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5EEC4B5-0741-2E3F-9A78-1C1E2C3175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7CE217-4467-4B8D-A735-B008FA7C4816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301499012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E8C7838-3BAB-A1C5-8CAF-67D592D704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73F7F9-09CC-4C21-BDB8-90E2F1A013BD}" type="datetime1">
              <a:rPr lang="LID4096" smtClean="0"/>
              <a:t>12/03/2025</a:t>
            </a:fld>
            <a:endParaRPr lang="LID4096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52E5432-C801-692F-D338-B4F3500756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B632DF7-8080-EE34-A83E-73135A5F1F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7CE217-4467-4B8D-A735-B008FA7C4816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337970611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9AF1D7-A6D5-40B8-8824-60E6BBAD24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CB2DC19-502C-19DB-E622-A545A647C98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ABCAF2B-BDF8-72C4-8F9D-B0496957F9A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A4A98AF-1D79-A6B0-0497-39201954BD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166AE6-E2E5-4774-8434-34F2AD9BDDCE}" type="datetime1">
              <a:rPr lang="LID4096" smtClean="0"/>
              <a:t>12/03/2025</a:t>
            </a:fld>
            <a:endParaRPr lang="LID4096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FC7578A-D2CE-562B-B989-7A69F4C631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F0916E7-788A-E49E-6DE8-14A3030F60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7CE217-4467-4B8D-A735-B008FA7C4816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332982665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536504-E5EE-54C4-AE3A-30ED4173A7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7762CFE-64BD-F4E1-68C3-4B0B8476AA0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LID4096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F219B84-962A-EE60-E472-B2D374CDA10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5B64168-CB93-11C4-544E-0B50C34801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5E2CCE-BBFE-4BEC-9002-70F26B158681}" type="datetime1">
              <a:rPr lang="LID4096" smtClean="0"/>
              <a:t>12/03/2025</a:t>
            </a:fld>
            <a:endParaRPr lang="LID4096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0E69202-8A06-0672-D078-63EC07001C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308DC89-2294-2048-F46C-FCDE78466F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7CE217-4467-4B8D-A735-B008FA7C4816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90628596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9AE5A5-8380-474E-9718-DD7F07E6EB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60302E5-27E2-6CFC-0B4D-DBC49A14CC9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3B5411E-6EB2-31BA-A950-D24D1E98CE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2A7740-B6F2-4CC5-9AD0-B161B943DB10}" type="datetime1">
              <a:rPr lang="LID4096" smtClean="0"/>
              <a:t>12/03/2025</a:t>
            </a:fld>
            <a:endParaRPr lang="LID4096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E1D62B9-6717-ADE5-539C-1612B0F9F1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7F9D565-4095-C862-96BC-DFBD266767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7CE217-4467-4B8D-A735-B008FA7C4816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35464150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914EFB7-D5E7-4262-8070-ADB45C08CBA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406F322-17F0-953A-FA92-92DF253EF05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C379FCB-D52F-974B-EE82-54AA1D31B4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94B025-8F26-4EDF-B991-413B82D6446E}" type="datetime1">
              <a:rPr lang="LID4096" smtClean="0"/>
              <a:t>12/03/2025</a:t>
            </a:fld>
            <a:endParaRPr lang="LID4096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9D135FE-97EA-1624-7547-B5ADF59F8F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0AF64BE-0E81-3731-6FFD-F28281E704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7CE217-4467-4B8D-A735-B008FA7C4816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88335771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823FA6B-4030-DE44-2291-F89E77FD7C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3704096-10C6-4F5D-CB62-BDE1AE79CF3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FAC22DB-A27F-EE11-EAEA-3A48DED31A1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795C0FD-7BB7-48C9-86F3-9771767F1BC3}" type="datetime1">
              <a:rPr lang="LID4096" smtClean="0"/>
              <a:t>12/03/2025</a:t>
            </a:fld>
            <a:endParaRPr lang="LID4096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BCD8504-FCB1-8947-3439-E301FE05DEC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LID4096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2D93685-9ED8-B0C8-595B-0FD6042162C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C7CE217-4467-4B8D-A735-B008FA7C4816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5490702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LID4096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creativecommons.org/licenses/by/4.0/deed.ast" TargetMode="External"/><Relationship Id="rId2" Type="http://schemas.openxmlformats.org/officeDocument/2006/relationships/hyperlink" Target="mailto:geertjan.bex@uhasselt.be" TargetMode="Externa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hyperlink" Target="https://bit.ly/4737qM1" TargetMode="Externa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6.png"/><Relationship Id="rId7" Type="http://schemas.openxmlformats.org/officeDocument/2006/relationships/image" Target="../media/image10.sv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png"/><Relationship Id="rId5" Type="http://schemas.openxmlformats.org/officeDocument/2006/relationships/image" Target="../media/image8.svg"/><Relationship Id="rId4" Type="http://schemas.openxmlformats.org/officeDocument/2006/relationships/image" Target="../media/image7.png"/><Relationship Id="rId9" Type="http://schemas.openxmlformats.org/officeDocument/2006/relationships/image" Target="../media/image12.sv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sv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hyperlink" Target="https://dvc.org/doc/user-guide/data-management/cloud-versioning" TargetMode="Externa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hyperlink" Target="mailto:git@github.com:gjbex/ml_project.git" TargetMode="Externa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svg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23.svg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23.svg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3.svg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3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jpeg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hyperlink" Target="https://dvc.org/doc" TargetMode="External"/><Relationship Id="rId2" Type="http://schemas.openxmlformats.org/officeDocument/2006/relationships/hyperlink" Target="https://git-scm.com/doc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err="1"/>
              <a:t>MLOps</a:t>
            </a:r>
            <a:r>
              <a:rPr lang="en-US" dirty="0"/>
              <a:t> on HPC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Geert Jan Bex</a:t>
            </a:r>
          </a:p>
          <a:p>
            <a:r>
              <a:rPr lang="en-US" dirty="0"/>
              <a:t>(</a:t>
            </a:r>
            <a:r>
              <a:rPr lang="en-US" dirty="0">
                <a:hlinkClick r:id="rId2"/>
              </a:rPr>
              <a:t>geertjan.bex@uhasselt.be</a:t>
            </a:r>
            <a:r>
              <a:rPr lang="en-US" dirty="0"/>
              <a:t>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726841" y="6009448"/>
            <a:ext cx="742421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License</a:t>
            </a:r>
            <a:r>
              <a:rPr lang="en-US" dirty="0"/>
              <a:t>: this presentation is released under the Creative Commons CC BY 4.0,</a:t>
            </a:r>
            <a:br>
              <a:rPr lang="en-US" dirty="0"/>
            </a:br>
            <a:r>
              <a:rPr lang="en-US" dirty="0"/>
              <a:t>see </a:t>
            </a:r>
            <a:r>
              <a:rPr lang="en-US" dirty="0">
                <a:hlinkClick r:id="rId3"/>
              </a:rPr>
              <a:t>https://creativecommons.org/licenses/by/4.0/deed.ast</a:t>
            </a:r>
            <a:endParaRPr lang="nl-BE" dirty="0"/>
          </a:p>
        </p:txBody>
      </p:sp>
      <p:pic>
        <p:nvPicPr>
          <p:cNvPr id="6" name="Picture 4">
            <a:extLst>
              <a:ext uri="{FF2B5EF4-FFF2-40B4-BE49-F238E27FC236}">
                <a16:creationId xmlns:a16="http://schemas.microsoft.com/office/drawing/2014/main" id="{D8EE7878-9270-9A2D-BCEA-6A2A8E117046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6829"/>
          <a:stretch/>
        </p:blipFill>
        <p:spPr bwMode="auto">
          <a:xfrm>
            <a:off x="9529799" y="318938"/>
            <a:ext cx="1534493" cy="14226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C9B74C2-95F1-B7A1-BE28-4F677A74F6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7CE217-4467-4B8D-A735-B008FA7C4816}" type="slidenum">
              <a:rPr lang="LID4096" smtClean="0"/>
              <a:t>1</a:t>
            </a:fld>
            <a:endParaRPr lang="LID4096"/>
          </a:p>
        </p:txBody>
      </p:sp>
      <p:pic>
        <p:nvPicPr>
          <p:cNvPr id="8" name="Picture 7" descr="A black text on an orange background&#10;&#10;AI-generated content may be incorrect.">
            <a:extLst>
              <a:ext uri="{FF2B5EF4-FFF2-40B4-BE49-F238E27FC236}">
                <a16:creationId xmlns:a16="http://schemas.microsoft.com/office/drawing/2014/main" id="{431F04A4-B182-7D9A-2216-19A7C3BB347A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7891" y="511430"/>
            <a:ext cx="3946238" cy="15316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550202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A598EC-1C61-495B-A9F8-4410E339CCF5}" type="slidenum">
              <a:rPr lang="en-US" smtClean="0"/>
              <a:t>2</a:t>
            </a:fld>
            <a:endParaRPr lang="en-US"/>
          </a:p>
        </p:txBody>
      </p:sp>
      <p:sp>
        <p:nvSpPr>
          <p:cNvPr id="6" name="TextBox 5"/>
          <p:cNvSpPr txBox="1"/>
          <p:nvPr/>
        </p:nvSpPr>
        <p:spPr>
          <a:xfrm>
            <a:off x="3588693" y="5445224"/>
            <a:ext cx="525817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dirty="0">
                <a:hlinkClick r:id="rId2"/>
              </a:rPr>
              <a:t>https://bit.ly/4737qM1</a:t>
            </a:r>
            <a:r>
              <a:rPr lang="en-US" sz="4000" dirty="0"/>
              <a:t> 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1FFC480-9116-B2BE-7116-6AB38E009BF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52875" y="1285875"/>
            <a:ext cx="4286250" cy="42862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3111088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Qr code&#10;&#10;Description automatically generated">
            <a:extLst>
              <a:ext uri="{FF2B5EF4-FFF2-40B4-BE49-F238E27FC236}">
                <a16:creationId xmlns:a16="http://schemas.microsoft.com/office/drawing/2014/main" id="{73A4FCC5-DC3D-4500-9780-EECF84D9A9C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F570AEBC-58DC-06FC-AE67-813A2E7C9C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7CE217-4467-4B8D-A735-B008FA7C4816}" type="slidenum">
              <a:rPr lang="LID4096" smtClean="0"/>
              <a:t>3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48850947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Typographical conventions I</a:t>
            </a:r>
            <a:endParaRPr lang="nl-BE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Inline code fragments and file names are rendered as, e.g., </a:t>
            </a:r>
            <a:r>
              <a:rPr lang="en-US" dirty="0">
                <a:latin typeface="Courier New" pitchFamily="49" charset="0"/>
                <a:cs typeface="Courier New" pitchFamily="49" charset="0"/>
              </a:rPr>
              <a:t>hello_world.py</a:t>
            </a:r>
          </a:p>
          <a:p>
            <a:r>
              <a:rPr lang="en-US" dirty="0"/>
              <a:t>Longer code fragments are rendered as</a:t>
            </a:r>
          </a:p>
          <a:p>
            <a:endParaRPr lang="en-US" dirty="0">
              <a:solidFill>
                <a:srgbClr val="FF0000"/>
              </a:solidFill>
            </a:endParaRPr>
          </a:p>
          <a:p>
            <a:endParaRPr lang="en-US" dirty="0">
              <a:solidFill>
                <a:srgbClr val="FF0000"/>
              </a:solidFill>
            </a:endParaRPr>
          </a:p>
          <a:p>
            <a:r>
              <a:rPr lang="en-US" dirty="0"/>
              <a:t>Data files are rendered as</a:t>
            </a:r>
            <a:endParaRPr lang="nl-BE" dirty="0"/>
          </a:p>
          <a:p>
            <a:endParaRPr lang="nl-B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A209D72-2E9D-49B0-8977-41DCCC66C0BB}" type="slidenum">
              <a:rPr kumimoji="0" lang="nl-BE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nl-BE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2855641" y="3137030"/>
            <a:ext cx="5285421" cy="1200329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itchFamily="49" charset="0"/>
                <a:ea typeface="+mn-ea"/>
                <a:cs typeface="Courier New" pitchFamily="49" charset="0"/>
              </a:rPr>
              <a:t>#!/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itchFamily="49" charset="0"/>
                <a:ea typeface="+mn-ea"/>
                <a:cs typeface="Courier New" pitchFamily="49" charset="0"/>
              </a:rPr>
              <a:t>usr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itchFamily="49" charset="0"/>
                <a:ea typeface="+mn-ea"/>
                <a:cs typeface="Courier New" pitchFamily="49" charset="0"/>
              </a:rPr>
              <a:t>/bin/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itchFamily="49" charset="0"/>
                <a:ea typeface="+mn-ea"/>
                <a:cs typeface="Courier New" pitchFamily="49" charset="0"/>
              </a:rPr>
              <a:t>env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itchFamily="49" charset="0"/>
                <a:ea typeface="+mn-ea"/>
                <a:cs typeface="Courier New" pitchFamily="49" charset="0"/>
              </a:rPr>
              <a:t> python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itchFamily="49" charset="0"/>
                <a:ea typeface="+mn-ea"/>
                <a:cs typeface="Courier New" pitchFamily="49" charset="0"/>
              </a:rPr>
              <a:t>…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itchFamily="49" charset="0"/>
                <a:ea typeface="+mn-ea"/>
                <a:cs typeface="Courier New" pitchFamily="49" charset="0"/>
              </a:rPr>
              <a:t>if __name__ == '__main__':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itchFamily="49" charset="0"/>
                <a:ea typeface="+mn-ea"/>
                <a:cs typeface="Courier New" pitchFamily="49" charset="0"/>
              </a:rPr>
              <a:t>    print('hello world!')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855640" y="4841414"/>
            <a:ext cx="5285421" cy="156966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itchFamily="49" charset="0"/>
                <a:ea typeface="+mn-ea"/>
                <a:cs typeface="Courier New" pitchFamily="49" charset="0"/>
              </a:rPr>
              <a:t>case dim temp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itchFamily="49" charset="0"/>
                <a:ea typeface="+mn-ea"/>
                <a:cs typeface="Courier New" pitchFamily="49" charset="0"/>
              </a:rPr>
              <a:t>1 1 -0.5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itchFamily="49" charset="0"/>
                <a:ea typeface="+mn-ea"/>
                <a:cs typeface="Courier New" pitchFamily="49" charset="0"/>
              </a:rPr>
              <a:t>2 1 0.0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itchFamily="49" charset="0"/>
                <a:ea typeface="+mn-ea"/>
                <a:cs typeface="Courier New" pitchFamily="49" charset="0"/>
              </a:rPr>
              <a:t>3 1 0.5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itchFamily="49" charset="0"/>
                <a:ea typeface="+mn-ea"/>
                <a:cs typeface="Courier New" pitchFamily="49" charset="0"/>
              </a:rPr>
              <a:t>4 2 -0.5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itchFamily="49" charset="0"/>
                <a:ea typeface="+mn-ea"/>
                <a:cs typeface="Courier New" pitchFamily="49" charset="0"/>
              </a:rPr>
              <a:t>…</a:t>
            </a:r>
          </a:p>
        </p:txBody>
      </p:sp>
      <p:grpSp>
        <p:nvGrpSpPr>
          <p:cNvPr id="14" name="Group 13"/>
          <p:cNvGrpSpPr/>
          <p:nvPr/>
        </p:nvGrpSpPr>
        <p:grpSpPr>
          <a:xfrm>
            <a:off x="2845250" y="3484460"/>
            <a:ext cx="3603014" cy="2926615"/>
            <a:chOff x="1321249" y="3584213"/>
            <a:chExt cx="3603014" cy="2926615"/>
          </a:xfrm>
        </p:grpSpPr>
        <p:sp>
          <p:nvSpPr>
            <p:cNvPr id="7" name="Oval 6"/>
            <p:cNvSpPr/>
            <p:nvPr/>
          </p:nvSpPr>
          <p:spPr>
            <a:xfrm>
              <a:off x="1331639" y="6237312"/>
              <a:ext cx="360041" cy="273516"/>
            </a:xfrm>
            <a:prstGeom prst="ellipse">
              <a:avLst/>
            </a:prstGeom>
            <a:noFill/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nl-BE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cxnSp>
          <p:nvCxnSpPr>
            <p:cNvPr id="9" name="Straight Arrow Connector 8"/>
            <p:cNvCxnSpPr>
              <a:stCxn id="10" idx="1"/>
              <a:endCxn id="7" idx="6"/>
            </p:cNvCxnSpPr>
            <p:nvPr/>
          </p:nvCxnSpPr>
          <p:spPr>
            <a:xfrm flipH="1">
              <a:off x="1691680" y="5858572"/>
              <a:ext cx="2016224" cy="515498"/>
            </a:xfrm>
            <a:prstGeom prst="straightConnector1">
              <a:avLst/>
            </a:prstGeom>
            <a:ln w="28575">
              <a:solidFill>
                <a:srgbClr val="C00000"/>
              </a:solidFill>
              <a:tailEnd type="stealth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" name="TextBox 9"/>
            <p:cNvSpPr txBox="1"/>
            <p:nvPr/>
          </p:nvSpPr>
          <p:spPr>
            <a:xfrm>
              <a:off x="3707904" y="5535406"/>
              <a:ext cx="1216359" cy="646331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rgbClr val="C00000"/>
              </a:solidFill>
            </a:ln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ea typeface="+mn-ea"/>
                  <a:cs typeface="+mn-cs"/>
                </a:rPr>
                <a:t>fragment</a:t>
              </a:r>
              <a:b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ea typeface="+mn-ea"/>
                  <a:cs typeface="+mn-cs"/>
                </a:rPr>
              </a:b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ea typeface="+mn-ea"/>
                  <a:cs typeface="+mn-cs"/>
                </a:rPr>
                <a:t>not shown</a:t>
              </a:r>
              <a:endParaRPr kumimoji="0" lang="nl-BE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+mn-ea"/>
                <a:cs typeface="+mn-cs"/>
              </a:endParaRPr>
            </a:p>
          </p:txBody>
        </p:sp>
        <p:sp>
          <p:nvSpPr>
            <p:cNvPr id="11" name="Oval 10"/>
            <p:cNvSpPr/>
            <p:nvPr/>
          </p:nvSpPr>
          <p:spPr>
            <a:xfrm>
              <a:off x="1321249" y="3584213"/>
              <a:ext cx="360041" cy="273516"/>
            </a:xfrm>
            <a:prstGeom prst="ellipse">
              <a:avLst/>
            </a:prstGeom>
            <a:noFill/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nl-BE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cxnSp>
          <p:nvCxnSpPr>
            <p:cNvPr id="12" name="Straight Arrow Connector 11"/>
            <p:cNvCxnSpPr>
              <a:stCxn id="10" idx="1"/>
              <a:endCxn id="11" idx="6"/>
            </p:cNvCxnSpPr>
            <p:nvPr/>
          </p:nvCxnSpPr>
          <p:spPr>
            <a:xfrm flipH="1" flipV="1">
              <a:off x="1681290" y="3720971"/>
              <a:ext cx="2026614" cy="2137601"/>
            </a:xfrm>
            <a:prstGeom prst="straightConnector1">
              <a:avLst/>
            </a:prstGeom>
            <a:ln w="28575">
              <a:solidFill>
                <a:srgbClr val="C00000"/>
              </a:solidFill>
              <a:tailEnd type="stealth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4642860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5" grpId="0" animBg="1"/>
      <p:bldP spid="6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Typographical conventions II</a:t>
            </a:r>
            <a:endParaRPr lang="nl-BE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Shell commands are rendered as</a:t>
            </a:r>
          </a:p>
          <a:p>
            <a:endParaRPr lang="en-US" dirty="0"/>
          </a:p>
          <a:p>
            <a:pPr lvl="1"/>
            <a:r>
              <a:rPr lang="en-US" dirty="0"/>
              <a:t>Do </a:t>
            </a:r>
            <a:r>
              <a:rPr lang="en-US" i="1" dirty="0"/>
              <a:t>not</a:t>
            </a:r>
            <a:r>
              <a:rPr lang="en-US" dirty="0"/>
              <a:t> type </a:t>
            </a:r>
            <a:r>
              <a:rPr lang="en-US" dirty="0">
                <a:latin typeface="Courier New" pitchFamily="49" charset="0"/>
                <a:cs typeface="Courier New" pitchFamily="49" charset="0"/>
              </a:rPr>
              <a:t>$</a:t>
            </a:r>
            <a:r>
              <a:rPr lang="en-US" dirty="0"/>
              <a:t>, it represents your shell prompt!</a:t>
            </a:r>
          </a:p>
          <a:p>
            <a:endParaRPr lang="en-US" dirty="0"/>
          </a:p>
          <a:p>
            <a:r>
              <a:rPr lang="en-US" dirty="0"/>
              <a:t>Good practice:</a:t>
            </a:r>
          </a:p>
          <a:p>
            <a:r>
              <a:rPr lang="en-US" dirty="0"/>
              <a:t>Bad practice:</a:t>
            </a:r>
          </a:p>
          <a:p>
            <a:r>
              <a:rPr lang="en-US" dirty="0"/>
              <a:t>(Potential) hazards/bugs:</a:t>
            </a:r>
          </a:p>
          <a:p>
            <a:r>
              <a:rPr lang="en-US" dirty="0"/>
              <a:t>Performance issue:</a:t>
            </a:r>
          </a:p>
          <a:p>
            <a:r>
              <a:rPr lang="en-US" dirty="0"/>
              <a:t>Warning: </a:t>
            </a:r>
          </a:p>
          <a:p>
            <a:endParaRPr 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2855641" y="2321241"/>
            <a:ext cx="5423280" cy="369332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$  python  –m </a:t>
            </a:r>
            <a:r>
              <a:rPr lang="en-US" b="1" dirty="0" err="1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doctest</a:t>
            </a:r>
            <a:r>
              <a:rPr lang="en-US" b="1" dirty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  data_parsing.py</a:t>
            </a:r>
            <a:endParaRPr lang="nl-BE" b="1" dirty="0">
              <a:solidFill>
                <a:schemeClr val="bg1"/>
              </a:solidFill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52A05A-A776-4391-ACD7-D6BC34D3145C}" type="slidenum">
              <a:rPr lang="nl-BE" smtClean="0"/>
              <a:t>5</a:t>
            </a:fld>
            <a:endParaRPr lang="nl-BE"/>
          </a:p>
        </p:txBody>
      </p:sp>
      <p:pic>
        <p:nvPicPr>
          <p:cNvPr id="6" name="Picture 2" descr="C:\Users\lucg5005\AppData\Local\Microsoft\Windows\Temporary Internet Files\Content.IE5\CWZUAEH4\lgi01a201309290600[1].jpg">
            <a:extLst>
              <a:ext uri="{FF2B5EF4-FFF2-40B4-BE49-F238E27FC236}">
                <a16:creationId xmlns:a16="http://schemas.microsoft.com/office/drawing/2014/main" id="{F0B1C861-027C-AE93-1BCB-962F1DBAB0E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41480" y="4393364"/>
            <a:ext cx="566151" cy="5809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3" descr="C:\Users\lucg5005\AppData\Local\Microsoft\Windows\Temporary Internet Files\Content.IE5\T8RCCH8G\cute_snail_by_gniyuhs-d4lvbji[1].png">
            <a:extLst>
              <a:ext uri="{FF2B5EF4-FFF2-40B4-BE49-F238E27FC236}">
                <a16:creationId xmlns:a16="http://schemas.microsoft.com/office/drawing/2014/main" id="{9955A620-341D-09A8-65FD-6BB630BACFF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53919" y="4775923"/>
            <a:ext cx="792088" cy="7920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Graphic 8" descr="Warning with solid fill">
            <a:extLst>
              <a:ext uri="{FF2B5EF4-FFF2-40B4-BE49-F238E27FC236}">
                <a16:creationId xmlns:a16="http://schemas.microsoft.com/office/drawing/2014/main" id="{024A877E-0481-E081-DA6C-323BCC25DA8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684005" y="5294549"/>
            <a:ext cx="648072" cy="648072"/>
          </a:xfrm>
          <a:prstGeom prst="rect">
            <a:avLst/>
          </a:prstGeom>
        </p:spPr>
      </p:pic>
      <p:pic>
        <p:nvPicPr>
          <p:cNvPr id="11" name="Graphic 10" descr="Thumbs up sign with solid fill">
            <a:extLst>
              <a:ext uri="{FF2B5EF4-FFF2-40B4-BE49-F238E27FC236}">
                <a16:creationId xmlns:a16="http://schemas.microsoft.com/office/drawing/2014/main" id="{CE1CDE01-821E-6748-0DC3-4FDB15D603A1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3558218" y="3307140"/>
            <a:ext cx="724200" cy="724200"/>
          </a:xfrm>
          <a:prstGeom prst="rect">
            <a:avLst/>
          </a:prstGeom>
        </p:spPr>
      </p:pic>
      <p:pic>
        <p:nvPicPr>
          <p:cNvPr id="13" name="Graphic 12" descr="Thumbs Down with solid fill">
            <a:extLst>
              <a:ext uri="{FF2B5EF4-FFF2-40B4-BE49-F238E27FC236}">
                <a16:creationId xmlns:a16="http://schemas.microsoft.com/office/drawing/2014/main" id="{0BE55C85-E7E5-B333-4889-9C023DF91895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3558218" y="3959617"/>
            <a:ext cx="724201" cy="7242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970931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4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3683CD-BDA9-F0C6-70DC-263023541A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Introduction</a:t>
            </a:r>
            <a:endParaRPr lang="LID4096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755E867-A8AD-3113-92B2-F950898F6D0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BBA70F4-2B97-F08B-A400-14610A6971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7CE217-4467-4B8D-A735-B008FA7C4816}" type="slidenum">
              <a:rPr lang="LID4096" smtClean="0"/>
              <a:t>6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115302172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Slide Background">
            <a:extLst>
              <a:ext uri="{FF2B5EF4-FFF2-40B4-BE49-F238E27FC236}">
                <a16:creationId xmlns:a16="http://schemas.microsoft.com/office/drawing/2014/main" id="{C0763A76-9F1C-4FC5-82B7-DD475DA461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-1" y="0"/>
            <a:ext cx="12191999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E81BF4F6-F2CF-4984-9D14-D6966D92F9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8522446" cy="2285999"/>
          </a:xfrm>
          <a:prstGeom prst="rect">
            <a:avLst/>
          </a:prstGeom>
          <a:ln>
            <a:noFill/>
          </a:ln>
          <a:effectLst>
            <a:outerShdw blurRad="596900" dist="304800" dir="7140000" sx="90000" sy="90000" algn="t" rotWithShape="0">
              <a:srgbClr val="000000">
                <a:alpha val="15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085605F-E7D2-A6BC-E621-D27565B168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1803" y="350196"/>
            <a:ext cx="4646904" cy="1624520"/>
          </a:xfrm>
        </p:spPr>
        <p:txBody>
          <a:bodyPr anchor="ctr">
            <a:normAutofit/>
          </a:bodyPr>
          <a:lstStyle/>
          <a:p>
            <a:r>
              <a:rPr lang="en-US" sz="4000"/>
              <a:t>Motivation</a:t>
            </a:r>
            <a:endParaRPr lang="LID4096" sz="400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00F28C4-1AC3-BE14-F6BE-11B68875E80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1802" y="1643742"/>
            <a:ext cx="4646905" cy="3613149"/>
          </a:xfrm>
        </p:spPr>
        <p:txBody>
          <a:bodyPr anchor="ctr">
            <a:normAutofit/>
          </a:bodyPr>
          <a:lstStyle/>
          <a:p>
            <a:r>
              <a:rPr lang="en-US" sz="2000" dirty="0"/>
              <a:t>Machine learning</a:t>
            </a:r>
          </a:p>
          <a:p>
            <a:pPr lvl="1"/>
            <a:r>
              <a:rPr lang="en-US" sz="2000" dirty="0"/>
              <a:t>Increasingly important in many domains</a:t>
            </a:r>
          </a:p>
          <a:p>
            <a:pPr lvl="1"/>
            <a:r>
              <a:rPr lang="en-US" sz="2000" dirty="0"/>
              <a:t>Not trivial to reproduce</a:t>
            </a:r>
          </a:p>
          <a:p>
            <a:pPr lvl="1"/>
            <a:r>
              <a:rPr lang="en-US" sz="2000" dirty="0"/>
              <a:t>Requires flexibility to experiment</a:t>
            </a:r>
          </a:p>
          <a:p>
            <a:pPr lvl="1"/>
            <a:endParaRPr lang="en-US" sz="2000" dirty="0"/>
          </a:p>
          <a:p>
            <a:endParaRPr lang="en-US" sz="2400" dirty="0"/>
          </a:p>
          <a:p>
            <a:r>
              <a:rPr lang="en-US" sz="2000" dirty="0"/>
              <a:t>However, not limited to ML!</a:t>
            </a:r>
          </a:p>
          <a:p>
            <a:pPr lvl="1"/>
            <a:r>
              <a:rPr lang="en-US" sz="2000" dirty="0"/>
              <a:t>Any type of experiments</a:t>
            </a:r>
            <a:endParaRPr lang="LID4096" sz="2000" dirty="0"/>
          </a:p>
        </p:txBody>
      </p:sp>
      <p:pic>
        <p:nvPicPr>
          <p:cNvPr id="6" name="Picture 5" descr="Machine in a laboratory">
            <a:extLst>
              <a:ext uri="{FF2B5EF4-FFF2-40B4-BE49-F238E27FC236}">
                <a16:creationId xmlns:a16="http://schemas.microsoft.com/office/drawing/2014/main" id="{59D88B83-4DAB-5889-35AB-497F5412879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4070" r="16530" b="-2"/>
          <a:stretch>
            <a:fillRect/>
          </a:stretch>
        </p:blipFill>
        <p:spPr>
          <a:xfrm>
            <a:off x="6096000" y="1"/>
            <a:ext cx="6102825" cy="6858000"/>
          </a:xfrm>
          <a:prstGeom prst="rect">
            <a:avLst/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B396115-DFA5-43A3-EF71-34E1D03201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32520" y="6356350"/>
            <a:ext cx="3200400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9C7CE217-4467-4B8D-A735-B008FA7C4816}" type="slidenum">
              <a:rPr lang="LID4096">
                <a:solidFill>
                  <a:srgbClr val="FFFFFF"/>
                </a:solidFill>
              </a:rPr>
              <a:pPr>
                <a:spcAft>
                  <a:spcPts val="600"/>
                </a:spcAft>
              </a:pPr>
              <a:t>7</a:t>
            </a:fld>
            <a:endParaRPr lang="LID4096">
              <a:solidFill>
                <a:srgbClr val="FFFFFF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B13E2B7-F060-FE0E-D44A-E8B79994E60B}"/>
              </a:ext>
            </a:extLst>
          </p:cNvPr>
          <p:cNvSpPr txBox="1"/>
          <p:nvPr/>
        </p:nvSpPr>
        <p:spPr>
          <a:xfrm>
            <a:off x="2486981" y="3704421"/>
            <a:ext cx="1122038" cy="46166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sz="2400" dirty="0" err="1"/>
              <a:t>MLOps</a:t>
            </a:r>
            <a:endParaRPr lang="LID4096" sz="2400" dirty="0"/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588CB673-09F9-92B7-3C69-DAC9236D1FB6}"/>
              </a:ext>
            </a:extLst>
          </p:cNvPr>
          <p:cNvGrpSpPr/>
          <p:nvPr/>
        </p:nvGrpSpPr>
        <p:grpSpPr>
          <a:xfrm>
            <a:off x="2441103" y="4961332"/>
            <a:ext cx="1557440" cy="714591"/>
            <a:chOff x="2441103" y="4961332"/>
            <a:chExt cx="1557440" cy="714591"/>
          </a:xfrm>
        </p:grpSpPr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B834E0CF-CC55-76E9-BAC1-C3426E1C6B88}"/>
                </a:ext>
              </a:extLst>
            </p:cNvPr>
            <p:cNvSpPr txBox="1"/>
            <p:nvPr/>
          </p:nvSpPr>
          <p:spPr>
            <a:xfrm>
              <a:off x="2441103" y="5214258"/>
              <a:ext cx="1213794" cy="461665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none" rtlCol="0">
              <a:spAutoFit/>
            </a:bodyPr>
            <a:lstStyle/>
            <a:p>
              <a:r>
                <a:rPr lang="en-US" sz="2400" dirty="0" err="1"/>
                <a:t>ExpOps</a:t>
              </a:r>
              <a:endParaRPr lang="LID4096" sz="2400" dirty="0"/>
            </a:p>
          </p:txBody>
        </p:sp>
        <p:pic>
          <p:nvPicPr>
            <p:cNvPr id="8" name="Graphic 7" descr="Thumbs up sign with solid fill">
              <a:extLst>
                <a:ext uri="{FF2B5EF4-FFF2-40B4-BE49-F238E27FC236}">
                  <a16:creationId xmlns:a16="http://schemas.microsoft.com/office/drawing/2014/main" id="{BCE167F5-DE8A-5BE7-13B1-519EC16B6D4C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3493468" y="4961332"/>
              <a:ext cx="505075" cy="505075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28499394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01329C-EFBF-A4F4-61B1-990F095AEF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Many options</a:t>
            </a:r>
            <a:endParaRPr lang="LID4096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046390-B09D-DCFF-F23F-C98E6BAAED7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MLFlow</a:t>
            </a:r>
            <a:endParaRPr lang="en-US" dirty="0"/>
          </a:p>
          <a:p>
            <a:endParaRPr lang="en-US" dirty="0"/>
          </a:p>
          <a:p>
            <a:r>
              <a:rPr lang="en-US" dirty="0" err="1"/>
              <a:t>ZenML</a:t>
            </a:r>
            <a:endParaRPr lang="en-US" dirty="0"/>
          </a:p>
          <a:p>
            <a:endParaRPr lang="en-US" dirty="0"/>
          </a:p>
          <a:p>
            <a:r>
              <a:rPr lang="en-US" dirty="0"/>
              <a:t>DVC</a:t>
            </a:r>
            <a:endParaRPr lang="LID4096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946C2A7-88E8-036E-CBF3-80BFCAE0F2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7CE217-4467-4B8D-A735-B008FA7C4816}" type="slidenum">
              <a:rPr lang="LID4096" smtClean="0"/>
              <a:t>8</a:t>
            </a:fld>
            <a:endParaRPr lang="LID4096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3BDC27A-F312-C227-80CD-F4C81A638E5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79058" y="2645290"/>
            <a:ext cx="2505425" cy="762106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F6D43EC7-DD31-B709-4B67-54D1CA84FDC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33231" y="1602642"/>
            <a:ext cx="2010056" cy="809738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3B6D617D-DF3F-3C14-10EC-6787B69578A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11148" y="3579660"/>
            <a:ext cx="1343138" cy="8374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2744095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EB91FC-F3E9-8B2D-93C7-E612E3E2F0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 Version Control</a:t>
            </a:r>
            <a:endParaRPr lang="LID4096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9222A94-D9EE-07BD-D2CC-A1179BB765A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F9CCB1D-FD41-2462-A217-E8818F2DD7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7CE217-4467-4B8D-A735-B008FA7C4816}" type="slidenum">
              <a:rPr lang="LID4096" smtClean="0"/>
              <a:t>9</a:t>
            </a:fld>
            <a:endParaRPr lang="LID4096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90F6E89-1C1F-5484-625B-9E682E1A582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5545" y="3429000"/>
            <a:ext cx="2450335" cy="15278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850597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Slide Background">
            <a:extLst>
              <a:ext uri="{FF2B5EF4-FFF2-40B4-BE49-F238E27FC236}">
                <a16:creationId xmlns:a16="http://schemas.microsoft.com/office/drawing/2014/main" id="{C0763A76-9F1C-4FC5-82B7-DD475DA461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-1" y="0"/>
            <a:ext cx="12191999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E81BF4F6-F2CF-4984-9D14-D6966D92F9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8522446" cy="2285999"/>
          </a:xfrm>
          <a:prstGeom prst="rect">
            <a:avLst/>
          </a:prstGeom>
          <a:ln>
            <a:noFill/>
          </a:ln>
          <a:effectLst>
            <a:outerShdw blurRad="596900" dist="304800" dir="7140000" sx="90000" sy="90000" algn="t" rotWithShape="0">
              <a:srgbClr val="000000">
                <a:alpha val="15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2D94AE0-795D-0EDB-31CE-636F5C69C9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1803" y="350196"/>
            <a:ext cx="4646904" cy="1624520"/>
          </a:xfrm>
        </p:spPr>
        <p:txBody>
          <a:bodyPr anchor="ctr">
            <a:normAutofit/>
          </a:bodyPr>
          <a:lstStyle/>
          <a:p>
            <a:r>
              <a:rPr lang="en-US" sz="4000"/>
              <a:t>DVC advantages</a:t>
            </a:r>
            <a:endParaRPr lang="LID4096" sz="400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491741E-5B6A-974E-2202-F1265213052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1802" y="2743200"/>
            <a:ext cx="4646905" cy="3613149"/>
          </a:xfrm>
        </p:spPr>
        <p:txBody>
          <a:bodyPr anchor="ctr">
            <a:normAutofit fontScale="92500"/>
          </a:bodyPr>
          <a:lstStyle/>
          <a:p>
            <a:r>
              <a:rPr lang="en-US" sz="2000" dirty="0"/>
              <a:t>Interoperates with git</a:t>
            </a:r>
          </a:p>
          <a:p>
            <a:r>
              <a:rPr lang="en-US" sz="2000" dirty="0"/>
              <a:t>Like git</a:t>
            </a:r>
          </a:p>
          <a:p>
            <a:r>
              <a:rPr lang="en-US" sz="2000" dirty="0"/>
              <a:t>Git + DVC = standalone</a:t>
            </a:r>
          </a:p>
          <a:p>
            <a:r>
              <a:rPr lang="en-US" sz="2000" dirty="0"/>
              <a:t>Supports remote data storage</a:t>
            </a:r>
          </a:p>
          <a:p>
            <a:endParaRPr lang="en-US" sz="2000" dirty="0"/>
          </a:p>
          <a:p>
            <a:r>
              <a:rPr lang="en-US" sz="2000" dirty="0"/>
              <a:t>Features</a:t>
            </a:r>
          </a:p>
          <a:p>
            <a:pPr lvl="1"/>
            <a:r>
              <a:rPr lang="en-US" sz="2000" dirty="0"/>
              <a:t>Data versioning</a:t>
            </a:r>
          </a:p>
          <a:p>
            <a:pPr lvl="1"/>
            <a:r>
              <a:rPr lang="en-US" sz="2000" dirty="0"/>
              <a:t>Data pipelines</a:t>
            </a:r>
          </a:p>
          <a:p>
            <a:pPr lvl="1"/>
            <a:r>
              <a:rPr lang="en-US" sz="2000" dirty="0"/>
              <a:t>Experiment management</a:t>
            </a:r>
          </a:p>
          <a:p>
            <a:pPr lvl="1"/>
            <a:r>
              <a:rPr lang="en-US" sz="2000" dirty="0"/>
              <a:t>Model registry (requires DVC Studio)</a:t>
            </a:r>
            <a:endParaRPr lang="LID4096" sz="2000" dirty="0"/>
          </a:p>
        </p:txBody>
      </p:sp>
      <p:pic>
        <p:nvPicPr>
          <p:cNvPr id="6" name="Picture 5" descr="Stretched steel tapes in different lengths">
            <a:extLst>
              <a:ext uri="{FF2B5EF4-FFF2-40B4-BE49-F238E27FC236}">
                <a16:creationId xmlns:a16="http://schemas.microsoft.com/office/drawing/2014/main" id="{8E5B289C-7600-BC91-47DF-20BFFD7F37D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0345" r="20478"/>
          <a:stretch>
            <a:fillRect/>
          </a:stretch>
        </p:blipFill>
        <p:spPr>
          <a:xfrm>
            <a:off x="6096000" y="1"/>
            <a:ext cx="6102825" cy="6858000"/>
          </a:xfrm>
          <a:prstGeom prst="rect">
            <a:avLst/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B96352E-2986-DF89-A4F3-1D56AF4B33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32520" y="6356350"/>
            <a:ext cx="3200400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9C7CE217-4467-4B8D-A735-B008FA7C4816}" type="slidenum">
              <a:rPr lang="LID4096">
                <a:solidFill>
                  <a:srgbClr val="FFFFFF"/>
                </a:solidFill>
              </a:rPr>
              <a:pPr>
                <a:spcAft>
                  <a:spcPts val="600"/>
                </a:spcAft>
              </a:pPr>
              <a:t>10</a:t>
            </a:fld>
            <a:endParaRPr lang="LID4096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267648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8A1D71-9C46-7A3A-A6F7-E26F63259A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Repository setup for DVC</a:t>
            </a:r>
            <a:endParaRPr lang="LID4096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38D002-A646-D36D-054D-0D51F543F26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/>
            </a:pPr>
            <a:r>
              <a:rPr lang="en-US" dirty="0"/>
              <a:t>Set up git repository in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ml_project</a:t>
            </a:r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514350" indent="-514350">
              <a:buFont typeface="+mj-lt"/>
              <a:buAutoNum type="arabicPeriod"/>
            </a:pPr>
            <a:endParaRPr lang="en-US" dirty="0"/>
          </a:p>
          <a:p>
            <a:pPr marL="514350" indent="-514350">
              <a:buFont typeface="+mj-lt"/>
              <a:buAutoNum type="arabicPeriod"/>
            </a:pPr>
            <a:endParaRPr lang="en-US" dirty="0"/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Initialize DVC</a:t>
            </a:r>
          </a:p>
          <a:p>
            <a:pPr marL="514350" indent="-514350">
              <a:buFont typeface="+mj-lt"/>
              <a:buAutoNum type="arabicPeriod"/>
            </a:pPr>
            <a:endParaRPr lang="en-US" dirty="0"/>
          </a:p>
          <a:p>
            <a:pPr marL="514350" indent="-514350">
              <a:buFont typeface="+mj-lt"/>
              <a:buAutoNum type="arabicPeriod"/>
            </a:pPr>
            <a:endParaRPr lang="en-US" dirty="0"/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Configure remote for DVC</a:t>
            </a:r>
            <a:endParaRPr lang="LID4096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7380717-D273-892C-4CAE-6FDB9F60E0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7CE217-4467-4B8D-A735-B008FA7C4816}" type="slidenum">
              <a:rPr lang="LID4096" smtClean="0"/>
              <a:t>11</a:t>
            </a:fld>
            <a:endParaRPr lang="LID4096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BD46715-3524-94A1-C6FA-927E09CACF93}"/>
              </a:ext>
            </a:extLst>
          </p:cNvPr>
          <p:cNvSpPr txBox="1"/>
          <p:nvPr/>
        </p:nvSpPr>
        <p:spPr>
          <a:xfrm>
            <a:off x="1808737" y="2332124"/>
            <a:ext cx="6801861" cy="923330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$  </a:t>
            </a:r>
            <a:r>
              <a:rPr lang="en-US" b="1" dirty="0" err="1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mkdir</a:t>
            </a:r>
            <a:r>
              <a:rPr lang="en-US" b="1" dirty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en-US" b="1" dirty="0" err="1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ml_project</a:t>
            </a:r>
            <a:endParaRPr lang="en-US" b="1" dirty="0">
              <a:solidFill>
                <a:schemeClr val="bg1"/>
              </a:solidFill>
              <a:latin typeface="Courier New" pitchFamily="49" charset="0"/>
              <a:cs typeface="Courier New" pitchFamily="49" charset="0"/>
            </a:endParaRPr>
          </a:p>
          <a:p>
            <a:r>
              <a:rPr lang="en-US" b="1" dirty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$  cd </a:t>
            </a:r>
            <a:r>
              <a:rPr lang="en-US" b="1" dirty="0" err="1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ml_project</a:t>
            </a:r>
            <a:endParaRPr lang="en-US" b="1" dirty="0">
              <a:solidFill>
                <a:schemeClr val="bg1"/>
              </a:solidFill>
              <a:latin typeface="Courier New" pitchFamily="49" charset="0"/>
              <a:cs typeface="Courier New" pitchFamily="49" charset="0"/>
            </a:endParaRPr>
          </a:p>
          <a:p>
            <a:r>
              <a:rPr lang="en-US" b="1" dirty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$  git </a:t>
            </a:r>
            <a:r>
              <a:rPr lang="en-US" b="1" dirty="0" err="1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init</a:t>
            </a:r>
            <a:endParaRPr lang="nl-BE" b="1" dirty="0">
              <a:solidFill>
                <a:schemeClr val="bg1"/>
              </a:solidFill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30FAB97-A03B-47EF-EF0F-75DE025AF7A0}"/>
              </a:ext>
            </a:extLst>
          </p:cNvPr>
          <p:cNvSpPr txBox="1"/>
          <p:nvPr/>
        </p:nvSpPr>
        <p:spPr>
          <a:xfrm>
            <a:off x="1808737" y="3877899"/>
            <a:ext cx="6801861" cy="646331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$  </a:t>
            </a:r>
            <a:r>
              <a:rPr lang="en-US" b="1" dirty="0" err="1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dvc</a:t>
            </a:r>
            <a:r>
              <a:rPr lang="en-US" b="1" dirty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en-US" b="1" dirty="0" err="1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init</a:t>
            </a:r>
            <a:endParaRPr lang="en-US" b="1" dirty="0">
              <a:solidFill>
                <a:schemeClr val="bg1"/>
              </a:solidFill>
              <a:latin typeface="Courier New" pitchFamily="49" charset="0"/>
              <a:cs typeface="Courier New" pitchFamily="49" charset="0"/>
            </a:endParaRPr>
          </a:p>
          <a:p>
            <a:r>
              <a:rPr lang="en-US" b="1" dirty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$  git commit -m 'Initialize DVC'</a:t>
            </a:r>
            <a:endParaRPr lang="nl-BE" b="1" dirty="0">
              <a:solidFill>
                <a:schemeClr val="bg1"/>
              </a:solidFill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D91D15D-2842-FF2D-D0F4-D2D24CD1A4DC}"/>
              </a:ext>
            </a:extLst>
          </p:cNvPr>
          <p:cNvSpPr txBox="1"/>
          <p:nvPr/>
        </p:nvSpPr>
        <p:spPr>
          <a:xfrm>
            <a:off x="1808738" y="5411248"/>
            <a:ext cx="6801862" cy="923330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$  </a:t>
            </a:r>
            <a:r>
              <a:rPr lang="en-US" b="1" dirty="0" err="1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dvc</a:t>
            </a:r>
            <a:r>
              <a:rPr lang="en-US" b="1" dirty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 remote add  -d </a:t>
            </a:r>
            <a:r>
              <a:rPr lang="en-US" b="1" dirty="0" err="1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local_storage</a:t>
            </a:r>
            <a:r>
              <a:rPr lang="en-US" b="1" dirty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  ../</a:t>
            </a:r>
            <a:r>
              <a:rPr lang="en-US" b="1" dirty="0" err="1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dvc_data</a:t>
            </a:r>
            <a:endParaRPr lang="en-US" b="1" dirty="0">
              <a:solidFill>
                <a:schemeClr val="bg1"/>
              </a:solidFill>
              <a:latin typeface="Courier New" pitchFamily="49" charset="0"/>
              <a:cs typeface="Courier New" pitchFamily="49" charset="0"/>
            </a:endParaRPr>
          </a:p>
          <a:p>
            <a:r>
              <a:rPr lang="en-US" b="1" dirty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$  git add .</a:t>
            </a:r>
            <a:r>
              <a:rPr lang="en-US" b="1" dirty="0" err="1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dvc</a:t>
            </a:r>
            <a:r>
              <a:rPr lang="en-US" b="1" dirty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/config</a:t>
            </a:r>
          </a:p>
          <a:p>
            <a:r>
              <a:rPr lang="en-US" b="1" dirty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$  git commit -m 'Add remote storage for DVC'</a:t>
            </a:r>
            <a:endParaRPr lang="nl-BE" b="1" dirty="0">
              <a:solidFill>
                <a:schemeClr val="bg1"/>
              </a:solidFill>
              <a:latin typeface="Courier New" pitchFamily="49" charset="0"/>
              <a:cs typeface="Courier New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820481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E8EA23-0FE9-9F61-34A7-6602725011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DVC remote storage options</a:t>
            </a:r>
            <a:endParaRPr lang="LID4096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58936BA-69E2-AA8E-04BD-95211F6BA40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Data </a:t>
            </a:r>
            <a:r>
              <a:rPr lang="en-US" i="1" dirty="0"/>
              <a:t>not</a:t>
            </a:r>
            <a:r>
              <a:rPr lang="en-US" dirty="0"/>
              <a:t> in git repository</a:t>
            </a:r>
          </a:p>
          <a:p>
            <a:pPr lvl="1"/>
            <a:r>
              <a:rPr lang="en-US" dirty="0"/>
              <a:t>Too large</a:t>
            </a:r>
          </a:p>
          <a:p>
            <a:pPr lvl="1"/>
            <a:r>
              <a:rPr lang="en-US" dirty="0"/>
              <a:t>Bad match with git, i.e., binary files</a:t>
            </a:r>
          </a:p>
          <a:p>
            <a:r>
              <a:rPr lang="en-US" dirty="0"/>
              <a:t>DVC</a:t>
            </a:r>
          </a:p>
          <a:p>
            <a:pPr lvl="1"/>
            <a:r>
              <a:rPr lang="en-US" dirty="0"/>
              <a:t>Meta-data in git repository</a:t>
            </a:r>
          </a:p>
          <a:p>
            <a:pPr lvl="1"/>
            <a:r>
              <a:rPr lang="en-US" dirty="0"/>
              <a:t>Data in remote storage</a:t>
            </a:r>
          </a:p>
          <a:p>
            <a:r>
              <a:rPr lang="en-US" dirty="0"/>
              <a:t>Remote storage</a:t>
            </a:r>
          </a:p>
          <a:p>
            <a:pPr lvl="1"/>
            <a:r>
              <a:rPr lang="en-US" dirty="0"/>
              <a:t>Local directory</a:t>
            </a:r>
          </a:p>
          <a:p>
            <a:pPr lvl="1"/>
            <a:r>
              <a:rPr lang="en-US" dirty="0"/>
              <a:t>SSH &amp; SFTP</a:t>
            </a:r>
          </a:p>
          <a:p>
            <a:pPr lvl="1"/>
            <a:r>
              <a:rPr lang="en-US" dirty="0"/>
              <a:t>HTTP/WebDAV</a:t>
            </a:r>
          </a:p>
          <a:p>
            <a:pPr lvl="1"/>
            <a:r>
              <a:rPr lang="en-US" dirty="0"/>
              <a:t>Cloud (S3, Azure Blob Storage, GCP, Google Drive, ...)</a:t>
            </a:r>
            <a:endParaRPr lang="LID4096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0F81EFC-0F2E-2E2C-811D-D443B16F54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7CE217-4467-4B8D-A735-B008FA7C4816}" type="slidenum">
              <a:rPr lang="LID4096" smtClean="0"/>
              <a:t>12</a:t>
            </a:fld>
            <a:endParaRPr lang="LID4096"/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EF2FB6E9-E272-E2BD-C49F-967EB6FA3FB6}"/>
              </a:ext>
            </a:extLst>
          </p:cNvPr>
          <p:cNvGrpSpPr/>
          <p:nvPr/>
        </p:nvGrpSpPr>
        <p:grpSpPr>
          <a:xfrm>
            <a:off x="3254828" y="4001294"/>
            <a:ext cx="7597462" cy="1135701"/>
            <a:chOff x="-450540" y="5535406"/>
            <a:chExt cx="7597462" cy="1135701"/>
          </a:xfrm>
        </p:grpSpPr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9F89C3C7-09A3-FA90-403A-515C7DA21585}"/>
                </a:ext>
              </a:extLst>
            </p:cNvPr>
            <p:cNvSpPr txBox="1"/>
            <p:nvPr/>
          </p:nvSpPr>
          <p:spPr>
            <a:xfrm>
              <a:off x="3707904" y="5535406"/>
              <a:ext cx="3439018" cy="523220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rgbClr val="C00000"/>
              </a:solidFill>
            </a:ln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800" b="0" i="0" u="none" strike="noStrike" kern="1200" cap="none" spc="0" normalizeH="0" baseline="0" noProof="0" dirty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ea typeface="+mn-ea"/>
                  <a:cs typeface="+mn-cs"/>
                </a:rPr>
                <a:t>Good choice for HPC</a:t>
              </a:r>
              <a:endParaRPr kumimoji="0" lang="nl-BE" sz="28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ea typeface="+mn-ea"/>
                <a:cs typeface="+mn-cs"/>
              </a:endParaRPr>
            </a:p>
          </p:txBody>
        </p:sp>
        <p:cxnSp>
          <p:nvCxnSpPr>
            <p:cNvPr id="7" name="Straight Arrow Connector 6">
              <a:extLst>
                <a:ext uri="{FF2B5EF4-FFF2-40B4-BE49-F238E27FC236}">
                  <a16:creationId xmlns:a16="http://schemas.microsoft.com/office/drawing/2014/main" id="{B8E75BB4-B799-B618-BBC3-CD1AEA0B3F94}"/>
                </a:ext>
              </a:extLst>
            </p:cNvPr>
            <p:cNvCxnSpPr>
              <a:cxnSpLocks/>
              <a:stCxn id="6" idx="1"/>
            </p:cNvCxnSpPr>
            <p:nvPr/>
          </p:nvCxnSpPr>
          <p:spPr>
            <a:xfrm flipH="1">
              <a:off x="-450540" y="5797016"/>
              <a:ext cx="4158444" cy="874091"/>
            </a:xfrm>
            <a:prstGeom prst="straightConnector1">
              <a:avLst/>
            </a:prstGeom>
            <a:ln w="28575">
              <a:solidFill>
                <a:srgbClr val="C00000"/>
              </a:solidFill>
              <a:tailEnd type="stealth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30521415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CDF64B-E17F-6EFA-83EA-30FD2E0273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DVC remotes examples</a:t>
            </a:r>
            <a:endParaRPr lang="LID4096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DA2DF27-FE27-0776-7496-677AB3B9C8D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Directory in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$VSC_DATA</a:t>
            </a:r>
            <a:r>
              <a:rPr lang="en-US" dirty="0">
                <a:cs typeface="Courier New" panose="02070309020205020404" pitchFamily="49" charset="0"/>
              </a:rPr>
              <a:t>, only for HPC access</a:t>
            </a:r>
          </a:p>
          <a:p>
            <a:endParaRPr lang="en-US" dirty="0">
              <a:cs typeface="Courier New" panose="02070309020205020404" pitchFamily="49" charset="0"/>
            </a:endParaRPr>
          </a:p>
          <a:p>
            <a:endParaRPr lang="en-US" dirty="0">
              <a:cs typeface="Courier New" panose="02070309020205020404" pitchFamily="49" charset="0"/>
            </a:endParaRPr>
          </a:p>
          <a:p>
            <a:r>
              <a:rPr lang="en-US" dirty="0">
                <a:cs typeface="Courier New" panose="02070309020205020404" pitchFamily="49" charset="0"/>
              </a:rPr>
              <a:t>Directory in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$VSC_DATA</a:t>
            </a:r>
            <a:r>
              <a:rPr lang="en-US" dirty="0">
                <a:cs typeface="Courier New" panose="02070309020205020404" pitchFamily="49" charset="0"/>
              </a:rPr>
              <a:t>, accessible via SFTP</a:t>
            </a:r>
          </a:p>
          <a:p>
            <a:endParaRPr lang="en-US" dirty="0">
              <a:cs typeface="Courier New" panose="02070309020205020404" pitchFamily="49" charset="0"/>
            </a:endParaRPr>
          </a:p>
          <a:p>
            <a:endParaRPr lang="en-US" dirty="0">
              <a:cs typeface="Courier New" panose="02070309020205020404" pitchFamily="49" charset="0"/>
            </a:endParaRPr>
          </a:p>
          <a:p>
            <a:r>
              <a:rPr lang="en-US" dirty="0">
                <a:cs typeface="Courier New" panose="02070309020205020404" pitchFamily="49" charset="0"/>
              </a:rPr>
              <a:t>Cloud access, see documentation</a:t>
            </a:r>
            <a:br>
              <a:rPr lang="en-US" dirty="0">
                <a:cs typeface="Courier New" panose="02070309020205020404" pitchFamily="49" charset="0"/>
              </a:rPr>
            </a:br>
            <a:r>
              <a:rPr lang="en-US" sz="2400" dirty="0">
                <a:cs typeface="Courier New" panose="02070309020205020404" pitchFamily="49" charset="0"/>
                <a:hlinkClick r:id="rId2"/>
              </a:rPr>
              <a:t>https://dvc.org/doc/user-guide/data-management/cloud-versioning</a:t>
            </a:r>
            <a:r>
              <a:rPr lang="en-US" sz="2400" dirty="0">
                <a:cs typeface="Courier New" panose="02070309020205020404" pitchFamily="49" charset="0"/>
              </a:rPr>
              <a:t> </a:t>
            </a:r>
            <a:endParaRPr lang="LID4096" dirty="0">
              <a:cs typeface="Courier New" panose="02070309020205020404" pitchFamily="49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D411360-9D34-81D4-4D5B-1C6F94D0AD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7CE217-4467-4B8D-A735-B008FA7C4816}" type="slidenum">
              <a:rPr lang="LID4096" smtClean="0"/>
              <a:t>13</a:t>
            </a:fld>
            <a:endParaRPr lang="LID4096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AA98B6A-3BDB-0471-0B16-8F34E40325E6}"/>
              </a:ext>
            </a:extLst>
          </p:cNvPr>
          <p:cNvSpPr txBox="1"/>
          <p:nvPr/>
        </p:nvSpPr>
        <p:spPr>
          <a:xfrm>
            <a:off x="1340650" y="3923055"/>
            <a:ext cx="10661893" cy="646331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$  </a:t>
            </a:r>
            <a:r>
              <a:rPr lang="en-US" b="1" dirty="0" err="1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dvc</a:t>
            </a:r>
            <a:r>
              <a:rPr lang="en-US" b="1" dirty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 remote add -d </a:t>
            </a:r>
            <a:r>
              <a:rPr lang="en-US" b="1" dirty="0" err="1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vsc</a:t>
            </a:r>
            <a:r>
              <a:rPr lang="en-US" b="1" dirty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 \</a:t>
            </a:r>
          </a:p>
          <a:p>
            <a:r>
              <a:rPr lang="en-US" b="1" dirty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     ssh://vsc30000@login.hpc.kuleuven.be:/data/leuven/300/vsc30000/dvc_data</a:t>
            </a:r>
            <a:endParaRPr lang="nl-BE" b="1" dirty="0">
              <a:solidFill>
                <a:schemeClr val="bg1"/>
              </a:solidFill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3427547-4DCE-692F-CD52-71EA68B6250E}"/>
              </a:ext>
            </a:extLst>
          </p:cNvPr>
          <p:cNvSpPr txBox="1"/>
          <p:nvPr/>
        </p:nvSpPr>
        <p:spPr>
          <a:xfrm>
            <a:off x="1340650" y="2366846"/>
            <a:ext cx="10661893" cy="369332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$  </a:t>
            </a:r>
            <a:r>
              <a:rPr lang="en-US" b="1" dirty="0" err="1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dvc</a:t>
            </a:r>
            <a:r>
              <a:rPr lang="en-US" b="1" dirty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 remote add -d </a:t>
            </a:r>
            <a:r>
              <a:rPr lang="en-US" b="1" dirty="0" err="1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local_storage</a:t>
            </a:r>
            <a:r>
              <a:rPr lang="en-US" b="1" dirty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  $VSC_DATA/</a:t>
            </a:r>
            <a:r>
              <a:rPr lang="en-US" b="1" dirty="0" err="1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dvc_data</a:t>
            </a:r>
            <a:endParaRPr lang="nl-BE" b="1" dirty="0">
              <a:solidFill>
                <a:schemeClr val="bg1"/>
              </a:solidFill>
              <a:latin typeface="Courier New" pitchFamily="49" charset="0"/>
              <a:cs typeface="Courier New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675769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5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6B542E-B741-7F4F-9520-963F6737D3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F21D01-A148-6D32-0A56-9482F66D4A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 Version Control</a:t>
            </a:r>
            <a:endParaRPr lang="LID4096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4AAEBDE-D5D2-5070-B447-344CBD06DAE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Data versioning</a:t>
            </a:r>
            <a:endParaRPr lang="LID4096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BC53BD9-3651-0170-C0A9-ACAEE5580C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7CE217-4467-4B8D-A735-B008FA7C4816}" type="slidenum">
              <a:rPr lang="LID4096" smtClean="0"/>
              <a:t>14</a:t>
            </a:fld>
            <a:endParaRPr lang="LID4096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F21C4E8-F51B-2CBF-47F8-29C450ACCDF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5545" y="3429000"/>
            <a:ext cx="2450335" cy="15278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3407134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56F1A4-37FF-4F4A-4619-9F73AFDADA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DVC data versioning</a:t>
            </a:r>
            <a:endParaRPr lang="LID4096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79B6E9C-01BE-3220-B836-5F1FE8C3F36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Add data to DVC</a:t>
            </a:r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Data can be</a:t>
            </a:r>
          </a:p>
          <a:p>
            <a:pPr lvl="1"/>
            <a:r>
              <a:rPr lang="en-US" dirty="0"/>
              <a:t>Textual (CSV, JSON, YAML, </a:t>
            </a:r>
            <a:r>
              <a:rPr lang="en-US" dirty="0">
                <a:sym typeface="Symbol" panose="05050102010706020507" pitchFamily="18" charset="2"/>
              </a:rPr>
              <a:t></a:t>
            </a:r>
            <a:r>
              <a:rPr lang="en-US" dirty="0"/>
              <a:t>)</a:t>
            </a:r>
          </a:p>
          <a:p>
            <a:pPr lvl="1"/>
            <a:r>
              <a:rPr lang="en-US" dirty="0"/>
              <a:t>Binary (HDF5, JPEG, </a:t>
            </a:r>
            <a:r>
              <a:rPr lang="en-US" dirty="0" err="1"/>
              <a:t>HuggingFace</a:t>
            </a:r>
            <a:r>
              <a:rPr lang="en-US" dirty="0"/>
              <a:t> dataset, </a:t>
            </a:r>
            <a:r>
              <a:rPr lang="en-US" dirty="0">
                <a:sym typeface="Symbol" panose="05050102010706020507" pitchFamily="18" charset="2"/>
              </a:rPr>
              <a:t></a:t>
            </a:r>
            <a:r>
              <a:rPr lang="en-US" dirty="0"/>
              <a:t>)</a:t>
            </a:r>
          </a:p>
          <a:p>
            <a:r>
              <a:rPr lang="en-US" dirty="0"/>
              <a:t>Convenient auto staging (optional)</a:t>
            </a:r>
            <a:endParaRPr lang="LID4096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F64C9CA-DDF1-5A17-DBCF-7A652DF01B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7CE217-4467-4B8D-A735-B008FA7C4816}" type="slidenum">
              <a:rPr lang="LID4096" smtClean="0"/>
              <a:t>15</a:t>
            </a:fld>
            <a:endParaRPr lang="LID4096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6651F20-6957-3714-196F-F9443056B3C7}"/>
              </a:ext>
            </a:extLst>
          </p:cNvPr>
          <p:cNvSpPr txBox="1"/>
          <p:nvPr/>
        </p:nvSpPr>
        <p:spPr>
          <a:xfrm>
            <a:off x="1808737" y="2332124"/>
            <a:ext cx="7226406" cy="923330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$  </a:t>
            </a:r>
            <a:r>
              <a:rPr lang="en-US" b="1" dirty="0" err="1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dvc</a:t>
            </a:r>
            <a:r>
              <a:rPr lang="en-US" b="1" dirty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 add data/data.csv</a:t>
            </a:r>
          </a:p>
          <a:p>
            <a:r>
              <a:rPr lang="en-US" b="1" dirty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$  git add data/</a:t>
            </a:r>
            <a:r>
              <a:rPr lang="en-US" b="1" dirty="0" err="1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data.csv.dvc</a:t>
            </a:r>
            <a:endParaRPr lang="en-US" b="1" dirty="0">
              <a:solidFill>
                <a:schemeClr val="bg1"/>
              </a:solidFill>
              <a:latin typeface="Courier New" pitchFamily="49" charset="0"/>
              <a:cs typeface="Courier New" pitchFamily="49" charset="0"/>
            </a:endParaRPr>
          </a:p>
          <a:p>
            <a:r>
              <a:rPr lang="en-US" b="1" dirty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$  git commit -m 'Add data set'</a:t>
            </a:r>
            <a:endParaRPr lang="nl-BE" b="1" dirty="0">
              <a:solidFill>
                <a:schemeClr val="bg1"/>
              </a:solidFill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B31F26D-9708-9F92-EE70-9FFC7BAD0B1D}"/>
              </a:ext>
            </a:extLst>
          </p:cNvPr>
          <p:cNvSpPr txBox="1"/>
          <p:nvPr/>
        </p:nvSpPr>
        <p:spPr>
          <a:xfrm>
            <a:off x="1808737" y="5253633"/>
            <a:ext cx="7226406" cy="923330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$  </a:t>
            </a:r>
            <a:r>
              <a:rPr lang="en-US" b="1" dirty="0" err="1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dvc</a:t>
            </a:r>
            <a:r>
              <a:rPr lang="en-US" b="1" dirty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 config </a:t>
            </a:r>
            <a:r>
              <a:rPr lang="en-US" b="1" dirty="0" err="1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core.autostage</a:t>
            </a:r>
            <a:r>
              <a:rPr lang="en-US" b="1" dirty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 true</a:t>
            </a:r>
          </a:p>
          <a:p>
            <a:r>
              <a:rPr lang="en-US" b="1" dirty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$  git add .</a:t>
            </a:r>
            <a:r>
              <a:rPr lang="en-US" b="1" dirty="0" err="1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dvc</a:t>
            </a:r>
            <a:r>
              <a:rPr lang="en-US" b="1" dirty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/config</a:t>
            </a:r>
          </a:p>
          <a:p>
            <a:r>
              <a:rPr lang="en-US" b="1" dirty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$  git commit  -m 'Switch on DVC auto-staging'</a:t>
            </a:r>
            <a:endParaRPr lang="nl-BE" b="1" dirty="0">
              <a:solidFill>
                <a:schemeClr val="bg1"/>
              </a:solidFill>
              <a:latin typeface="Courier New" pitchFamily="49" charset="0"/>
              <a:cs typeface="Courier New" pitchFamily="49" charset="0"/>
            </a:endParaRP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AF5B27E6-5DD7-D1B7-98AC-2A88896B6E08}"/>
              </a:ext>
            </a:extLst>
          </p:cNvPr>
          <p:cNvGrpSpPr/>
          <p:nvPr/>
        </p:nvGrpSpPr>
        <p:grpSpPr>
          <a:xfrm>
            <a:off x="5856514" y="1640960"/>
            <a:ext cx="5295196" cy="1004270"/>
            <a:chOff x="-2074887" y="5501785"/>
            <a:chExt cx="7297156" cy="1135701"/>
          </a:xfrm>
        </p:grpSpPr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F97D4B7E-4461-D47D-41A1-9DEB1C2105B8}"/>
                </a:ext>
              </a:extLst>
            </p:cNvPr>
            <p:cNvSpPr txBox="1"/>
            <p:nvPr/>
          </p:nvSpPr>
          <p:spPr>
            <a:xfrm>
              <a:off x="2083559" y="5501785"/>
              <a:ext cx="3138710" cy="417667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rgbClr val="C00000"/>
              </a:solidFill>
            </a:ln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ea typeface="+mn-ea"/>
                  <a:cs typeface="+mn-cs"/>
                </a:rPr>
                <a:t>Created by </a:t>
              </a:r>
              <a:r>
                <a:rPr kumimoji="0" lang="en-US" sz="18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ourier New" panose="02070309020205020404" pitchFamily="49" charset="0"/>
                  <a:cs typeface="Courier New" panose="02070309020205020404" pitchFamily="49" charset="0"/>
                </a:rPr>
                <a:t>dvc</a:t>
              </a: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ourier New" panose="02070309020205020404" pitchFamily="49" charset="0"/>
                  <a:cs typeface="Courier New" panose="02070309020205020404" pitchFamily="49" charset="0"/>
                </a:rPr>
                <a:t> add</a:t>
              </a:r>
              <a:endParaRPr kumimoji="0" lang="nl-BE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cxnSp>
          <p:nvCxnSpPr>
            <p:cNvPr id="9" name="Straight Arrow Connector 8">
              <a:extLst>
                <a:ext uri="{FF2B5EF4-FFF2-40B4-BE49-F238E27FC236}">
                  <a16:creationId xmlns:a16="http://schemas.microsoft.com/office/drawing/2014/main" id="{D86DECE1-A6E8-FAD1-5178-A9934E07A407}"/>
                </a:ext>
              </a:extLst>
            </p:cNvPr>
            <p:cNvCxnSpPr>
              <a:cxnSpLocks/>
              <a:stCxn id="8" idx="1"/>
            </p:cNvCxnSpPr>
            <p:nvPr/>
          </p:nvCxnSpPr>
          <p:spPr>
            <a:xfrm flipH="1">
              <a:off x="-2074887" y="5710619"/>
              <a:ext cx="4158446" cy="926867"/>
            </a:xfrm>
            <a:prstGeom prst="straightConnector1">
              <a:avLst/>
            </a:prstGeom>
            <a:ln w="28575">
              <a:solidFill>
                <a:srgbClr val="C00000"/>
              </a:solidFill>
              <a:tailEnd type="stealth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0" name="Group 9">
            <a:extLst>
              <a:ext uri="{FF2B5EF4-FFF2-40B4-BE49-F238E27FC236}">
                <a16:creationId xmlns:a16="http://schemas.microsoft.com/office/drawing/2014/main" id="{B890C900-1234-3FE7-3358-C5CDFC5C536F}"/>
              </a:ext>
            </a:extLst>
          </p:cNvPr>
          <p:cNvGrpSpPr/>
          <p:nvPr/>
        </p:nvGrpSpPr>
        <p:grpSpPr>
          <a:xfrm>
            <a:off x="6389914" y="3428998"/>
            <a:ext cx="5693835" cy="517618"/>
            <a:chOff x="-304736" y="5334092"/>
            <a:chExt cx="7846508" cy="585360"/>
          </a:xfrm>
        </p:grpSpPr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EDAC8DEE-E6FC-FF3D-3974-6E1DC238E04A}"/>
                </a:ext>
              </a:extLst>
            </p:cNvPr>
            <p:cNvSpPr txBox="1"/>
            <p:nvPr/>
          </p:nvSpPr>
          <p:spPr>
            <a:xfrm>
              <a:off x="2083559" y="5501785"/>
              <a:ext cx="5458213" cy="417667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rgbClr val="C00000"/>
              </a:solidFill>
            </a:ln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ea typeface="+mn-ea"/>
                  <a:cs typeface="+mn-cs"/>
                </a:rPr>
                <a:t>Version of data == commit </a:t>
              </a:r>
              <a:r>
                <a:rPr lang="en-US" dirty="0">
                  <a:solidFill>
                    <a:prstClr val="black"/>
                  </a:solidFill>
                </a:rPr>
                <a:t>of </a:t>
              </a:r>
              <a:r>
                <a:rPr lang="en-US" dirty="0">
                  <a:solidFill>
                    <a:prstClr val="black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.</a:t>
              </a:r>
              <a:r>
                <a:rPr lang="en-US" dirty="0" err="1">
                  <a:solidFill>
                    <a:prstClr val="black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dvc</a:t>
              </a:r>
              <a:r>
                <a:rPr lang="en-US" dirty="0">
                  <a:solidFill>
                    <a:prstClr val="black"/>
                  </a:solidFill>
                </a:rPr>
                <a:t> file</a:t>
              </a:r>
              <a:endParaRPr kumimoji="0" lang="nl-BE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cs typeface="Courier New" panose="02070309020205020404" pitchFamily="49" charset="0"/>
              </a:endParaRPr>
            </a:p>
          </p:txBody>
        </p:sp>
        <p:cxnSp>
          <p:nvCxnSpPr>
            <p:cNvPr id="12" name="Straight Arrow Connector 11">
              <a:extLst>
                <a:ext uri="{FF2B5EF4-FFF2-40B4-BE49-F238E27FC236}">
                  <a16:creationId xmlns:a16="http://schemas.microsoft.com/office/drawing/2014/main" id="{745480FD-EEB3-07F7-6281-4D20FA637EDA}"/>
                </a:ext>
              </a:extLst>
            </p:cNvPr>
            <p:cNvCxnSpPr>
              <a:cxnSpLocks/>
              <a:stCxn id="11" idx="1"/>
            </p:cNvCxnSpPr>
            <p:nvPr/>
          </p:nvCxnSpPr>
          <p:spPr>
            <a:xfrm flipH="1" flipV="1">
              <a:off x="-304736" y="5334092"/>
              <a:ext cx="2388295" cy="376526"/>
            </a:xfrm>
            <a:prstGeom prst="straightConnector1">
              <a:avLst/>
            </a:prstGeom>
            <a:ln w="28575">
              <a:solidFill>
                <a:srgbClr val="C00000"/>
              </a:solidFill>
              <a:tailEnd type="stealth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952278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6D62FB-630A-219F-2A2C-EED94EFEC5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Interacting with DVC remote</a:t>
            </a:r>
            <a:endParaRPr lang="LID4096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B23DA91-72FE-416D-7FEF-8F2AD149397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Like git</a:t>
            </a:r>
          </a:p>
          <a:p>
            <a:pPr lvl="1"/>
            <a:r>
              <a:rPr lang="en-US" dirty="0"/>
              <a:t>Push changes to remote</a:t>
            </a:r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r>
              <a:rPr lang="en-US" dirty="0"/>
              <a:t>Pull changes from remote</a:t>
            </a:r>
            <a:endParaRPr lang="LID4096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3DF0A14-4458-7144-264D-012F640C2E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7CE217-4467-4B8D-A735-B008FA7C4816}" type="slidenum">
              <a:rPr lang="LID4096" smtClean="0"/>
              <a:t>16</a:t>
            </a:fld>
            <a:endParaRPr lang="LID4096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B0F827B-5ADB-BD15-82F0-27D3577C88A9}"/>
              </a:ext>
            </a:extLst>
          </p:cNvPr>
          <p:cNvSpPr txBox="1"/>
          <p:nvPr/>
        </p:nvSpPr>
        <p:spPr>
          <a:xfrm>
            <a:off x="1612794" y="2793464"/>
            <a:ext cx="3830063" cy="369332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$  </a:t>
            </a:r>
            <a:r>
              <a:rPr lang="en-US" b="1" dirty="0" err="1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dvc</a:t>
            </a:r>
            <a:r>
              <a:rPr lang="en-US" b="1" dirty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 push</a:t>
            </a:r>
            <a:endParaRPr lang="nl-BE" b="1" dirty="0">
              <a:solidFill>
                <a:schemeClr val="bg1"/>
              </a:solidFill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847FD43-B3FA-1D22-9DBE-AEBB858259FF}"/>
              </a:ext>
            </a:extLst>
          </p:cNvPr>
          <p:cNvSpPr txBox="1"/>
          <p:nvPr/>
        </p:nvSpPr>
        <p:spPr>
          <a:xfrm>
            <a:off x="1612794" y="4001294"/>
            <a:ext cx="3830063" cy="369332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$  </a:t>
            </a:r>
            <a:r>
              <a:rPr lang="en-US" b="1" dirty="0" err="1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dvc</a:t>
            </a:r>
            <a:r>
              <a:rPr lang="en-US" b="1" dirty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 pull</a:t>
            </a:r>
            <a:endParaRPr lang="nl-BE" b="1" dirty="0">
              <a:solidFill>
                <a:schemeClr val="bg1"/>
              </a:solidFill>
              <a:latin typeface="Courier New" pitchFamily="49" charset="0"/>
              <a:cs typeface="Courier New" pitchFamily="49" charset="0"/>
            </a:endParaRP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D29072F5-DDD9-E136-1482-D0FBF3D42368}"/>
              </a:ext>
            </a:extLst>
          </p:cNvPr>
          <p:cNvGrpSpPr/>
          <p:nvPr/>
        </p:nvGrpSpPr>
        <p:grpSpPr>
          <a:xfrm>
            <a:off x="6749145" y="3029158"/>
            <a:ext cx="4235591" cy="1156802"/>
            <a:chOff x="2623457" y="4694356"/>
            <a:chExt cx="4235591" cy="1156802"/>
          </a:xfrm>
        </p:grpSpPr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8153D251-5277-7D61-4C98-4DC41B24385E}"/>
                </a:ext>
              </a:extLst>
            </p:cNvPr>
            <p:cNvSpPr txBox="1"/>
            <p:nvPr/>
          </p:nvSpPr>
          <p:spPr>
            <a:xfrm>
              <a:off x="2623457" y="5020161"/>
              <a:ext cx="3830064" cy="830997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sz="2400" dirty="0"/>
                <a:t>Data is cached locally in </a:t>
              </a:r>
              <a:r>
                <a:rPr lang="en-US" sz="2400" dirty="0">
                  <a:latin typeface="Courier New" panose="02070309020205020404" pitchFamily="49" charset="0"/>
                  <a:cs typeface="Courier New" panose="02070309020205020404" pitchFamily="49" charset="0"/>
                </a:rPr>
                <a:t>.</a:t>
              </a:r>
              <a:r>
                <a:rPr lang="en-US" sz="2400" dirty="0" err="1">
                  <a:latin typeface="Courier New" panose="02070309020205020404" pitchFamily="49" charset="0"/>
                  <a:cs typeface="Courier New" panose="02070309020205020404" pitchFamily="49" charset="0"/>
                </a:rPr>
                <a:t>dvc</a:t>
              </a:r>
              <a:r>
                <a:rPr lang="en-US" sz="2400" dirty="0">
                  <a:latin typeface="Courier New" panose="02070309020205020404" pitchFamily="49" charset="0"/>
                  <a:cs typeface="Courier New" panose="02070309020205020404" pitchFamily="49" charset="0"/>
                </a:rPr>
                <a:t>/cache</a:t>
              </a:r>
              <a:endParaRPr lang="LID4096" sz="2400" dirty="0"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pic>
          <p:nvPicPr>
            <p:cNvPr id="8" name="Graphic 7" descr="Warning with solid fill">
              <a:extLst>
                <a:ext uri="{FF2B5EF4-FFF2-40B4-BE49-F238E27FC236}">
                  <a16:creationId xmlns:a16="http://schemas.microsoft.com/office/drawing/2014/main" id="{D351281B-A66A-8FBC-9792-FD622701E4FC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6210976" y="4694356"/>
              <a:ext cx="648072" cy="648072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42243839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D6F552-F5B4-A3EF-F5D6-C34E2B54E7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Modifying data</a:t>
            </a:r>
            <a:endParaRPr lang="LID4096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2F00942-358B-39D3-0FB2-201941BCD3A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Change data</a:t>
            </a:r>
          </a:p>
          <a:p>
            <a:pPr lvl="1"/>
            <a:r>
              <a:rPr lang="en-US" dirty="0"/>
              <a:t>No change for git</a:t>
            </a:r>
          </a:p>
          <a:p>
            <a:pPr lvl="1"/>
            <a:r>
              <a:rPr lang="en-US" dirty="0"/>
              <a:t>Change for DVC</a:t>
            </a:r>
          </a:p>
          <a:p>
            <a:r>
              <a:rPr lang="en-US" dirty="0"/>
              <a:t>Check status, e.g.,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Add changes</a:t>
            </a:r>
            <a:endParaRPr lang="LID4096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ABBFEB2-0978-A92D-4F36-7719CB9457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7CE217-4467-4B8D-A735-B008FA7C4816}" type="slidenum">
              <a:rPr lang="LID4096" smtClean="0"/>
              <a:t>17</a:t>
            </a:fld>
            <a:endParaRPr lang="LID4096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F20BE75-DC20-5EC6-8D44-01E257F9BC92}"/>
              </a:ext>
            </a:extLst>
          </p:cNvPr>
          <p:cNvSpPr txBox="1"/>
          <p:nvPr/>
        </p:nvSpPr>
        <p:spPr>
          <a:xfrm>
            <a:off x="1558367" y="3631179"/>
            <a:ext cx="7052234" cy="1200329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$  </a:t>
            </a:r>
            <a:r>
              <a:rPr lang="en-US" b="1" dirty="0" err="1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dvc</a:t>
            </a:r>
            <a:r>
              <a:rPr lang="en-US" b="1" dirty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 status</a:t>
            </a:r>
          </a:p>
          <a:p>
            <a:r>
              <a:rPr lang="en-US" b="1" dirty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data/</a:t>
            </a:r>
            <a:r>
              <a:rPr lang="en-US" b="1" dirty="0" err="1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data.csv.dvc</a:t>
            </a:r>
            <a:r>
              <a:rPr lang="en-US" b="1" dirty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:</a:t>
            </a:r>
          </a:p>
          <a:p>
            <a:r>
              <a:rPr lang="en-US" b="1" dirty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        changed outs:</a:t>
            </a:r>
          </a:p>
          <a:p>
            <a:r>
              <a:rPr lang="en-US" b="1" dirty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                modified:           data/data.csv</a:t>
            </a:r>
            <a:endParaRPr lang="nl-BE" b="1" dirty="0">
              <a:solidFill>
                <a:schemeClr val="bg1"/>
              </a:solidFill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E0F798F-3EA0-29D2-3137-0359D0F967A5}"/>
              </a:ext>
            </a:extLst>
          </p:cNvPr>
          <p:cNvSpPr txBox="1"/>
          <p:nvPr/>
        </p:nvSpPr>
        <p:spPr>
          <a:xfrm>
            <a:off x="1558367" y="5666492"/>
            <a:ext cx="7052234" cy="923330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$  </a:t>
            </a:r>
            <a:r>
              <a:rPr lang="en-US" b="1" dirty="0" err="1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dvc</a:t>
            </a:r>
            <a:r>
              <a:rPr lang="en-US" b="1" dirty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 add data/data.csv</a:t>
            </a:r>
          </a:p>
          <a:p>
            <a:r>
              <a:rPr lang="en-US" b="1" dirty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$  git commit -m 'Modify data'</a:t>
            </a:r>
          </a:p>
          <a:p>
            <a:r>
              <a:rPr lang="en-US" b="1" dirty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$  </a:t>
            </a:r>
            <a:r>
              <a:rPr lang="en-US" b="1" dirty="0" err="1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dvc</a:t>
            </a:r>
            <a:r>
              <a:rPr lang="en-US" b="1" dirty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 push</a:t>
            </a:r>
            <a:endParaRPr lang="nl-BE" b="1" dirty="0">
              <a:solidFill>
                <a:schemeClr val="bg1"/>
              </a:solidFill>
              <a:latin typeface="Courier New" pitchFamily="49" charset="0"/>
              <a:cs typeface="Courier New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823514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71152F-8933-35BE-8F1A-6607D6B871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Check out previous versions</a:t>
            </a:r>
            <a:endParaRPr lang="LID4096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5BB91CA-3945-7651-D5B3-4CB2E0DD639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Find commit ID with git log</a:t>
            </a:r>
          </a:p>
          <a:p>
            <a:endParaRPr lang="en-US" dirty="0"/>
          </a:p>
          <a:p>
            <a:r>
              <a:rPr lang="en-US" dirty="0"/>
              <a:t>Check out commit, e.g.,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17262ab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Go back to current version</a:t>
            </a:r>
            <a:endParaRPr lang="LID4096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61EA471-CBD1-3D0F-D4B1-9AE6E9557F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7CE217-4467-4B8D-A735-B008FA7C4816}" type="slidenum">
              <a:rPr lang="LID4096" smtClean="0"/>
              <a:t>18</a:t>
            </a:fld>
            <a:endParaRPr lang="LID4096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524C35B-32B5-7A20-6B97-D21173726D2F}"/>
              </a:ext>
            </a:extLst>
          </p:cNvPr>
          <p:cNvSpPr txBox="1"/>
          <p:nvPr/>
        </p:nvSpPr>
        <p:spPr>
          <a:xfrm>
            <a:off x="1503937" y="2336262"/>
            <a:ext cx="8663320" cy="369332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$  git log --</a:t>
            </a:r>
            <a:r>
              <a:rPr lang="en-US" b="1" dirty="0" err="1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oneline</a:t>
            </a:r>
            <a:endParaRPr lang="nl-BE" b="1" dirty="0">
              <a:solidFill>
                <a:schemeClr val="bg1"/>
              </a:solidFill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AF7F68A-39CD-2DA0-B4B0-82C138C6D3F8}"/>
              </a:ext>
            </a:extLst>
          </p:cNvPr>
          <p:cNvSpPr txBox="1"/>
          <p:nvPr/>
        </p:nvSpPr>
        <p:spPr>
          <a:xfrm>
            <a:off x="1503936" y="3368635"/>
            <a:ext cx="8663321" cy="1754326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$  git checkout </a:t>
            </a:r>
            <a:r>
              <a:rPr lang="en-US" b="1" dirty="0">
                <a:solidFill>
                  <a:schemeClr val="bg1"/>
                </a:solidFill>
              </a:rPr>
              <a:t>17262ab</a:t>
            </a:r>
          </a:p>
          <a:p>
            <a:r>
              <a:rPr lang="en-US" b="1" dirty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$  </a:t>
            </a:r>
            <a:r>
              <a:rPr lang="en-US" b="1" dirty="0" err="1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dvc</a:t>
            </a:r>
            <a:r>
              <a:rPr lang="en-US" b="1" dirty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 checkout</a:t>
            </a:r>
          </a:p>
          <a:p>
            <a:r>
              <a:rPr lang="en-US" b="1" dirty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Building workspace index         |2.00 [00:00, 94.3entry/s]</a:t>
            </a:r>
          </a:p>
          <a:p>
            <a:r>
              <a:rPr lang="en-US" b="1" dirty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Comparing indexes                |3.00 [00:00, 2.10kentry/s]</a:t>
            </a:r>
          </a:p>
          <a:p>
            <a:r>
              <a:rPr lang="en-US" b="1" dirty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Applying changes                 |1.00 [00:00,   225file/s]</a:t>
            </a:r>
          </a:p>
          <a:p>
            <a:r>
              <a:rPr lang="en-US" b="1" dirty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M       data/data.csv</a:t>
            </a:r>
            <a:endParaRPr lang="nl-BE" b="1" dirty="0">
              <a:solidFill>
                <a:schemeClr val="bg1"/>
              </a:solidFill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DD8CD11-116B-2EA6-F208-5D63D283F43E}"/>
              </a:ext>
            </a:extLst>
          </p:cNvPr>
          <p:cNvSpPr txBox="1"/>
          <p:nvPr/>
        </p:nvSpPr>
        <p:spPr>
          <a:xfrm>
            <a:off x="1503936" y="5828463"/>
            <a:ext cx="8663321" cy="923330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$  git switch -</a:t>
            </a:r>
            <a:endParaRPr lang="en-US" b="1" dirty="0">
              <a:solidFill>
                <a:schemeClr val="bg1"/>
              </a:solidFill>
            </a:endParaRPr>
          </a:p>
          <a:p>
            <a:r>
              <a:rPr lang="en-US" b="1" dirty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$  </a:t>
            </a:r>
            <a:r>
              <a:rPr lang="en-US" b="1" dirty="0" err="1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dvc</a:t>
            </a:r>
            <a:r>
              <a:rPr lang="en-US" b="1" dirty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 checkout</a:t>
            </a:r>
          </a:p>
          <a:p>
            <a:r>
              <a:rPr lang="en-US" b="1" dirty="0">
                <a:solidFill>
                  <a:schemeClr val="bg1"/>
                </a:solidFill>
                <a:latin typeface="Courier New" pitchFamily="49" charset="0"/>
                <a:cs typeface="Courier New" pitchFamily="49" charset="0"/>
                <a:sym typeface="Symbol" panose="05050102010706020507" pitchFamily="18" charset="2"/>
              </a:rPr>
              <a:t></a:t>
            </a:r>
            <a:r>
              <a:rPr lang="en-US" b="1" dirty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 </a:t>
            </a:r>
            <a:endParaRPr lang="nl-BE" b="1" dirty="0">
              <a:solidFill>
                <a:schemeClr val="bg1"/>
              </a:solidFill>
              <a:latin typeface="Courier New" pitchFamily="49" charset="0"/>
              <a:cs typeface="Courier New" pitchFamily="49" charset="0"/>
            </a:endParaRP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5665F5AE-905C-B264-B599-E034BE5FEB6D}"/>
              </a:ext>
            </a:extLst>
          </p:cNvPr>
          <p:cNvGrpSpPr/>
          <p:nvPr/>
        </p:nvGrpSpPr>
        <p:grpSpPr>
          <a:xfrm>
            <a:off x="7847260" y="4542053"/>
            <a:ext cx="3870301" cy="1484821"/>
            <a:chOff x="8413411" y="4506284"/>
            <a:chExt cx="3870301" cy="1484821"/>
          </a:xfrm>
        </p:grpSpPr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07BB86F1-AA3F-3DB5-34BD-E50F6017B42E}"/>
                </a:ext>
              </a:extLst>
            </p:cNvPr>
            <p:cNvSpPr txBox="1"/>
            <p:nvPr/>
          </p:nvSpPr>
          <p:spPr>
            <a:xfrm>
              <a:off x="8413411" y="4913887"/>
              <a:ext cx="3506540" cy="1077218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sz="3200" dirty="0"/>
                <a:t>Don't forget</a:t>
              </a:r>
              <a:br>
                <a:rPr lang="en-US" sz="3200" dirty="0"/>
              </a:br>
              <a:r>
                <a:rPr lang="en-US" sz="3200" dirty="0" err="1">
                  <a:latin typeface="Courier New" panose="02070309020205020404" pitchFamily="49" charset="0"/>
                  <a:cs typeface="Courier New" panose="02070309020205020404" pitchFamily="49" charset="0"/>
                </a:rPr>
                <a:t>dvc</a:t>
              </a:r>
              <a:r>
                <a:rPr lang="en-US" sz="3200" dirty="0">
                  <a:latin typeface="Courier New" panose="02070309020205020404" pitchFamily="49" charset="0"/>
                  <a:cs typeface="Courier New" panose="02070309020205020404" pitchFamily="49" charset="0"/>
                </a:rPr>
                <a:t> checkout</a:t>
              </a:r>
              <a:r>
                <a:rPr lang="en-US" sz="3200" dirty="0"/>
                <a:t>!!!</a:t>
              </a:r>
              <a:endParaRPr lang="LID4096" sz="3200" dirty="0"/>
            </a:p>
          </p:txBody>
        </p:sp>
        <p:pic>
          <p:nvPicPr>
            <p:cNvPr id="10" name="Picture 2" descr="C:\Users\lucg5005\AppData\Local\Microsoft\Windows\Temporary Internet Files\Content.IE5\CWZUAEH4\lgi01a201309290600[1].jpg">
              <a:extLst>
                <a:ext uri="{FF2B5EF4-FFF2-40B4-BE49-F238E27FC236}">
                  <a16:creationId xmlns:a16="http://schemas.microsoft.com/office/drawing/2014/main" id="{14202F6A-7368-3D7D-77EF-AC8A3F728B50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1717561" y="4506284"/>
              <a:ext cx="566151" cy="58090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12" name="Group 11">
            <a:extLst>
              <a:ext uri="{FF2B5EF4-FFF2-40B4-BE49-F238E27FC236}">
                <a16:creationId xmlns:a16="http://schemas.microsoft.com/office/drawing/2014/main" id="{5FC7630B-0F66-7E50-1CE4-2804692EE7EF}"/>
              </a:ext>
            </a:extLst>
          </p:cNvPr>
          <p:cNvGrpSpPr/>
          <p:nvPr/>
        </p:nvGrpSpPr>
        <p:grpSpPr>
          <a:xfrm>
            <a:off x="7848507" y="2689759"/>
            <a:ext cx="3950199" cy="942697"/>
            <a:chOff x="6389916" y="4652038"/>
            <a:chExt cx="3950199" cy="942697"/>
          </a:xfrm>
        </p:grpSpPr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72798926-F725-FC59-8E20-52323B2C7F8E}"/>
                </a:ext>
              </a:extLst>
            </p:cNvPr>
            <p:cNvSpPr txBox="1"/>
            <p:nvPr/>
          </p:nvSpPr>
          <p:spPr>
            <a:xfrm>
              <a:off x="6389916" y="5009960"/>
              <a:ext cx="3484800" cy="584775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txBody>
            <a:bodyPr wrap="none" rtlCol="0">
              <a:spAutoFit/>
            </a:bodyPr>
            <a:lstStyle/>
            <a:p>
              <a:r>
                <a:rPr lang="en-US" sz="3200" dirty="0"/>
                <a:t>Everything revert!!!</a:t>
              </a:r>
              <a:endParaRPr lang="LID4096" sz="3200" dirty="0"/>
            </a:p>
          </p:txBody>
        </p:sp>
        <p:pic>
          <p:nvPicPr>
            <p:cNvPr id="14" name="Picture 2" descr="C:\Users\lucg5005\AppData\Local\Microsoft\Windows\Temporary Internet Files\Content.IE5\CWZUAEH4\lgi01a201309290600[1].jpg">
              <a:extLst>
                <a:ext uri="{FF2B5EF4-FFF2-40B4-BE49-F238E27FC236}">
                  <a16:creationId xmlns:a16="http://schemas.microsoft.com/office/drawing/2014/main" id="{E68B4816-5792-F5BD-519A-2A505E4C857C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773964" y="4652038"/>
              <a:ext cx="566151" cy="58090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10611033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8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415714-3A45-E687-6CBD-5F4EBA4176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FC9AD6-CD94-A894-CF95-CB637917AF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Check out only previous versions of data sets</a:t>
            </a:r>
            <a:endParaRPr lang="LID4096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7832CD3-DF03-B8CB-F004-82A4FFD24A5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Find commit ID with git log</a:t>
            </a:r>
          </a:p>
          <a:p>
            <a:endParaRPr lang="en-US" dirty="0"/>
          </a:p>
          <a:p>
            <a:r>
              <a:rPr lang="en-US" dirty="0"/>
              <a:t>Create a new branch &amp; restore commit, e.g.,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17262ab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When done, switch branches &amp; clean up</a:t>
            </a:r>
            <a:endParaRPr lang="LID4096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CF6A235-FD7E-FB42-EF92-DBCA59275C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7CE217-4467-4B8D-A735-B008FA7C4816}" type="slidenum">
              <a:rPr lang="LID4096" smtClean="0"/>
              <a:t>19</a:t>
            </a:fld>
            <a:endParaRPr lang="LID4096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DBF9D6C-435F-7C39-8584-D34F4C56AA28}"/>
              </a:ext>
            </a:extLst>
          </p:cNvPr>
          <p:cNvSpPr txBox="1"/>
          <p:nvPr/>
        </p:nvSpPr>
        <p:spPr>
          <a:xfrm>
            <a:off x="1503937" y="2336262"/>
            <a:ext cx="8663320" cy="369332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$  git log  --</a:t>
            </a:r>
            <a:r>
              <a:rPr lang="en-US" b="1" dirty="0" err="1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oneline</a:t>
            </a:r>
            <a:r>
              <a:rPr lang="en-US" b="1" dirty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  --  data/</a:t>
            </a:r>
            <a:r>
              <a:rPr lang="en-US" b="1" dirty="0" err="1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data.csv.dvc</a:t>
            </a:r>
            <a:endParaRPr lang="nl-BE" b="1" dirty="0">
              <a:solidFill>
                <a:schemeClr val="bg1"/>
              </a:solidFill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4566300-F87A-6F00-4390-BEA06B40B5CB}"/>
              </a:ext>
            </a:extLst>
          </p:cNvPr>
          <p:cNvSpPr txBox="1"/>
          <p:nvPr/>
        </p:nvSpPr>
        <p:spPr>
          <a:xfrm>
            <a:off x="1503936" y="3368635"/>
            <a:ext cx="8663321" cy="1477328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$  git switch -C experiment</a:t>
            </a:r>
          </a:p>
          <a:p>
            <a:r>
              <a:rPr lang="en-US" b="1" dirty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$  git restore  --source=17262ab  data/</a:t>
            </a:r>
            <a:r>
              <a:rPr lang="en-US" b="1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data.csv.dvc</a:t>
            </a:r>
            <a:endParaRPr lang="en-US" b="1" dirty="0">
              <a:solidFill>
                <a:schemeClr val="bg1"/>
              </a:solidFill>
              <a:latin typeface="Courier New" pitchFamily="49" charset="0"/>
              <a:cs typeface="Courier New" pitchFamily="49" charset="0"/>
            </a:endParaRPr>
          </a:p>
          <a:p>
            <a:r>
              <a:rPr lang="en-US" b="1" dirty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$  git commit  -a  -m 'Use old data set'</a:t>
            </a:r>
          </a:p>
          <a:p>
            <a:r>
              <a:rPr lang="en-US" b="1" dirty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$  </a:t>
            </a:r>
            <a:r>
              <a:rPr lang="en-US" b="1" dirty="0" err="1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dvc</a:t>
            </a:r>
            <a:r>
              <a:rPr lang="en-US" b="1" dirty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 checkout</a:t>
            </a:r>
          </a:p>
          <a:p>
            <a:r>
              <a:rPr lang="en-US" b="1" dirty="0">
                <a:solidFill>
                  <a:schemeClr val="bg1"/>
                </a:solidFill>
                <a:latin typeface="Courier New" pitchFamily="49" charset="0"/>
                <a:cs typeface="Courier New" pitchFamily="49" charset="0"/>
                <a:sym typeface="Symbol" panose="05050102010706020507" pitchFamily="18" charset="2"/>
              </a:rPr>
              <a:t></a:t>
            </a:r>
            <a:endParaRPr lang="nl-BE" b="1" dirty="0">
              <a:solidFill>
                <a:schemeClr val="bg1"/>
              </a:solidFill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C5977D0-B1B1-3CE8-39A9-0F5BFF267D10}"/>
              </a:ext>
            </a:extLst>
          </p:cNvPr>
          <p:cNvSpPr txBox="1"/>
          <p:nvPr/>
        </p:nvSpPr>
        <p:spPr>
          <a:xfrm>
            <a:off x="1503936" y="5382147"/>
            <a:ext cx="8663321" cy="1200329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$  git switch -</a:t>
            </a:r>
          </a:p>
          <a:p>
            <a:r>
              <a:rPr lang="en-US" b="1" dirty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$  git branch  -D  experiment</a:t>
            </a:r>
            <a:endParaRPr lang="en-US" b="1" dirty="0">
              <a:solidFill>
                <a:schemeClr val="bg1"/>
              </a:solidFill>
            </a:endParaRPr>
          </a:p>
          <a:p>
            <a:r>
              <a:rPr lang="en-US" b="1" dirty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$  </a:t>
            </a:r>
            <a:r>
              <a:rPr lang="en-US" b="1" dirty="0" err="1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dvc</a:t>
            </a:r>
            <a:r>
              <a:rPr lang="en-US" b="1" dirty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 checkout</a:t>
            </a:r>
          </a:p>
          <a:p>
            <a:r>
              <a:rPr lang="en-US" b="1" dirty="0">
                <a:solidFill>
                  <a:schemeClr val="bg1"/>
                </a:solidFill>
                <a:latin typeface="Courier New" pitchFamily="49" charset="0"/>
                <a:cs typeface="Courier New" pitchFamily="49" charset="0"/>
                <a:sym typeface="Symbol" panose="05050102010706020507" pitchFamily="18" charset="2"/>
              </a:rPr>
              <a:t></a:t>
            </a:r>
            <a:r>
              <a:rPr lang="en-US" b="1" dirty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 </a:t>
            </a:r>
            <a:endParaRPr lang="nl-BE" b="1" dirty="0">
              <a:solidFill>
                <a:schemeClr val="bg1"/>
              </a:solidFill>
              <a:latin typeface="Courier New" pitchFamily="49" charset="0"/>
              <a:cs typeface="Courier New" pitchFamily="49" charset="0"/>
            </a:endParaRP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D2D702EF-685A-AD32-B634-29C60289D094}"/>
              </a:ext>
            </a:extLst>
          </p:cNvPr>
          <p:cNvGrpSpPr/>
          <p:nvPr/>
        </p:nvGrpSpPr>
        <p:grpSpPr>
          <a:xfrm>
            <a:off x="8183621" y="4817775"/>
            <a:ext cx="3967271" cy="1448882"/>
            <a:chOff x="6150428" y="4638296"/>
            <a:chExt cx="3967271" cy="1448882"/>
          </a:xfrm>
        </p:grpSpPr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8B352565-7DBF-CB94-48F6-1B3163B6CCC7}"/>
                </a:ext>
              </a:extLst>
            </p:cNvPr>
            <p:cNvSpPr txBox="1"/>
            <p:nvPr/>
          </p:nvSpPr>
          <p:spPr>
            <a:xfrm>
              <a:off x="6150428" y="5009960"/>
              <a:ext cx="3591048" cy="1077218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txBody>
            <a:bodyPr wrap="none" rtlCol="0">
              <a:spAutoFit/>
            </a:bodyPr>
            <a:lstStyle/>
            <a:p>
              <a:r>
                <a:rPr lang="en-US" sz="3200" dirty="0"/>
                <a:t>Don't forget</a:t>
              </a:r>
              <a:br>
                <a:rPr lang="en-US" sz="3200" dirty="0"/>
              </a:br>
              <a:r>
                <a:rPr lang="en-US" sz="3200" dirty="0" err="1">
                  <a:latin typeface="Courier New" panose="02070309020205020404" pitchFamily="49" charset="0"/>
                  <a:cs typeface="Courier New" panose="02070309020205020404" pitchFamily="49" charset="0"/>
                </a:rPr>
                <a:t>dvc</a:t>
              </a:r>
              <a:r>
                <a:rPr lang="en-US" sz="3200" dirty="0">
                  <a:latin typeface="Courier New" panose="02070309020205020404" pitchFamily="49" charset="0"/>
                  <a:cs typeface="Courier New" panose="02070309020205020404" pitchFamily="49" charset="0"/>
                </a:rPr>
                <a:t> checkout</a:t>
              </a:r>
              <a:r>
                <a:rPr lang="en-US" sz="3200" dirty="0"/>
                <a:t>!!!</a:t>
              </a:r>
              <a:endParaRPr lang="LID4096" sz="3200" dirty="0"/>
            </a:p>
          </p:txBody>
        </p:sp>
        <p:pic>
          <p:nvPicPr>
            <p:cNvPr id="10" name="Picture 2" descr="C:\Users\lucg5005\AppData\Local\Microsoft\Windows\Temporary Internet Files\Content.IE5\CWZUAEH4\lgi01a201309290600[1].jpg">
              <a:extLst>
                <a:ext uri="{FF2B5EF4-FFF2-40B4-BE49-F238E27FC236}">
                  <a16:creationId xmlns:a16="http://schemas.microsoft.com/office/drawing/2014/main" id="{3D580E30-7008-C9DE-90E5-E648EFBD635C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551548" y="4638296"/>
              <a:ext cx="566151" cy="58090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36312808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8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57CEE3-1552-DE57-5958-BC2DFBCA87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Importing data</a:t>
            </a:r>
            <a:endParaRPr lang="LID4096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7C2AB7-4C49-EBA0-911F-1B035297B54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List files in git repository</a:t>
            </a:r>
          </a:p>
          <a:p>
            <a:endParaRPr lang="en-US" dirty="0"/>
          </a:p>
          <a:p>
            <a:r>
              <a:rPr lang="en-US" dirty="0"/>
              <a:t>Recursively list files</a:t>
            </a:r>
          </a:p>
          <a:p>
            <a:endParaRPr lang="en-US" dirty="0"/>
          </a:p>
          <a:p>
            <a:r>
              <a:rPr lang="en-US" dirty="0"/>
              <a:t>Import data set from git repository</a:t>
            </a:r>
          </a:p>
          <a:p>
            <a:endParaRPr lang="en-US" dirty="0"/>
          </a:p>
          <a:p>
            <a:r>
              <a:rPr lang="en-US" dirty="0"/>
              <a:t>Copy files from git repository</a:t>
            </a:r>
            <a:endParaRPr lang="LID4096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F898982-1B76-5C14-2DF4-8F67E0F0ED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7CE217-4467-4B8D-A735-B008FA7C4816}" type="slidenum">
              <a:rPr lang="LID4096" smtClean="0"/>
              <a:t>20</a:t>
            </a:fld>
            <a:endParaRPr lang="LID4096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E421214-3A68-CE8E-3B82-37EA5FFB6E36}"/>
              </a:ext>
            </a:extLst>
          </p:cNvPr>
          <p:cNvSpPr txBox="1"/>
          <p:nvPr/>
        </p:nvSpPr>
        <p:spPr>
          <a:xfrm>
            <a:off x="1171068" y="2292719"/>
            <a:ext cx="9849863" cy="369332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$  </a:t>
            </a:r>
            <a:r>
              <a:rPr lang="en-US" b="1" dirty="0" err="1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dvc</a:t>
            </a:r>
            <a:r>
              <a:rPr lang="en-US" b="1" dirty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 list  </a:t>
            </a:r>
            <a:r>
              <a:rPr lang="en-US" b="1" dirty="0" err="1">
                <a:solidFill>
                  <a:schemeClr val="bg1"/>
                </a:solidFill>
                <a:latin typeface="Courier New" pitchFamily="49" charset="0"/>
                <a:cs typeface="Courier New" pitchFamily="49" charset="0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git@github.com:gjbex</a:t>
            </a:r>
            <a:r>
              <a:rPr lang="en-US" b="1" dirty="0">
                <a:solidFill>
                  <a:schemeClr val="bg1"/>
                </a:solidFill>
                <a:latin typeface="Courier New" pitchFamily="49" charset="0"/>
                <a:cs typeface="Courier New" pitchFamily="49" charset="0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/</a:t>
            </a:r>
            <a:r>
              <a:rPr lang="en-US" b="1" dirty="0" err="1">
                <a:solidFill>
                  <a:schemeClr val="bg1"/>
                </a:solidFill>
                <a:latin typeface="Courier New" pitchFamily="49" charset="0"/>
                <a:cs typeface="Courier New" pitchFamily="49" charset="0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ml_project.git</a:t>
            </a:r>
            <a:endParaRPr lang="nl-BE" b="1" dirty="0">
              <a:solidFill>
                <a:schemeClr val="bg1"/>
              </a:solidFill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1C250F4-052F-55BF-D121-A10674E83CF0}"/>
              </a:ext>
            </a:extLst>
          </p:cNvPr>
          <p:cNvSpPr txBox="1"/>
          <p:nvPr/>
        </p:nvSpPr>
        <p:spPr>
          <a:xfrm>
            <a:off x="1171068" y="4350117"/>
            <a:ext cx="9849863" cy="369332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$  </a:t>
            </a:r>
            <a:r>
              <a:rPr lang="en-US" b="1" dirty="0" err="1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dvc</a:t>
            </a:r>
            <a:r>
              <a:rPr lang="en-US" b="1" dirty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 import  </a:t>
            </a:r>
            <a:r>
              <a:rPr lang="en-US" b="1" dirty="0" err="1">
                <a:solidFill>
                  <a:schemeClr val="bg1"/>
                </a:solidFill>
                <a:latin typeface="Courier New" pitchFamily="49" charset="0"/>
                <a:cs typeface="Courier New" pitchFamily="49" charset="0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git@github.com:gjbex</a:t>
            </a:r>
            <a:r>
              <a:rPr lang="en-US" b="1" dirty="0">
                <a:solidFill>
                  <a:schemeClr val="bg1"/>
                </a:solidFill>
                <a:latin typeface="Courier New" pitchFamily="49" charset="0"/>
                <a:cs typeface="Courier New" pitchFamily="49" charset="0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/</a:t>
            </a:r>
            <a:r>
              <a:rPr lang="en-US" b="1" dirty="0" err="1">
                <a:solidFill>
                  <a:schemeClr val="bg1"/>
                </a:solidFill>
                <a:latin typeface="Courier New" pitchFamily="49" charset="0"/>
                <a:cs typeface="Courier New" pitchFamily="49" charset="0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ml_project.git</a:t>
            </a:r>
            <a:r>
              <a:rPr lang="en-US" b="1" dirty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  data/preprocessed</a:t>
            </a:r>
            <a:endParaRPr lang="nl-BE" b="1" dirty="0">
              <a:solidFill>
                <a:schemeClr val="bg1"/>
              </a:solidFill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0FBF0C9-8F49-054E-83BE-E19FF8372848}"/>
              </a:ext>
            </a:extLst>
          </p:cNvPr>
          <p:cNvSpPr txBox="1"/>
          <p:nvPr/>
        </p:nvSpPr>
        <p:spPr>
          <a:xfrm>
            <a:off x="1171067" y="3313833"/>
            <a:ext cx="9849863" cy="369332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$  </a:t>
            </a:r>
            <a:r>
              <a:rPr lang="en-US" b="1" dirty="0" err="1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dvc</a:t>
            </a:r>
            <a:r>
              <a:rPr lang="en-US" b="1" dirty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 list  -T  </a:t>
            </a:r>
            <a:r>
              <a:rPr lang="en-US" b="1" dirty="0" err="1">
                <a:solidFill>
                  <a:schemeClr val="bg1"/>
                </a:solidFill>
                <a:latin typeface="Courier New" pitchFamily="49" charset="0"/>
                <a:cs typeface="Courier New" pitchFamily="49" charset="0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git@github.com:gjbex</a:t>
            </a:r>
            <a:r>
              <a:rPr lang="en-US" b="1" dirty="0">
                <a:solidFill>
                  <a:schemeClr val="bg1"/>
                </a:solidFill>
                <a:latin typeface="Courier New" pitchFamily="49" charset="0"/>
                <a:cs typeface="Courier New" pitchFamily="49" charset="0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/</a:t>
            </a:r>
            <a:r>
              <a:rPr lang="en-US" b="1" dirty="0" err="1">
                <a:solidFill>
                  <a:schemeClr val="bg1"/>
                </a:solidFill>
                <a:latin typeface="Courier New" pitchFamily="49" charset="0"/>
                <a:cs typeface="Courier New" pitchFamily="49" charset="0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ml_project.git</a:t>
            </a:r>
            <a:endParaRPr lang="nl-BE" b="1" dirty="0">
              <a:solidFill>
                <a:schemeClr val="bg1"/>
              </a:solidFill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7B3A1E3-4AA9-7FDB-DDF0-7BA237038676}"/>
              </a:ext>
            </a:extLst>
          </p:cNvPr>
          <p:cNvSpPr txBox="1"/>
          <p:nvPr/>
        </p:nvSpPr>
        <p:spPr>
          <a:xfrm>
            <a:off x="9599164" y="2854799"/>
            <a:ext cx="2202847" cy="1200329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en-US" sz="2400" dirty="0"/>
              <a:t>Note: performs</a:t>
            </a:r>
            <a:br>
              <a:rPr lang="en-US" sz="2400" dirty="0"/>
            </a:b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git clone</a:t>
            </a:r>
            <a:r>
              <a:rPr lang="en-US" sz="2400" dirty="0"/>
              <a:t> </a:t>
            </a:r>
            <a:br>
              <a:rPr lang="en-US" sz="2400" dirty="0"/>
            </a:br>
            <a:r>
              <a:rPr lang="en-US" sz="2400" dirty="0"/>
              <a:t>under the hood</a:t>
            </a:r>
            <a:endParaRPr lang="LID4096" sz="2400" dirty="0"/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63716980-5C90-C0FF-8B28-DF2DAF8BE645}"/>
              </a:ext>
            </a:extLst>
          </p:cNvPr>
          <p:cNvGrpSpPr/>
          <p:nvPr/>
        </p:nvGrpSpPr>
        <p:grpSpPr>
          <a:xfrm>
            <a:off x="6717700" y="867288"/>
            <a:ext cx="1993730" cy="778950"/>
            <a:chOff x="10483358" y="2630321"/>
            <a:chExt cx="1993730" cy="778950"/>
          </a:xfrm>
        </p:grpSpPr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1C627ACB-6408-9BEE-D0BD-EBE43B88CF14}"/>
                </a:ext>
              </a:extLst>
            </p:cNvPr>
            <p:cNvSpPr txBox="1"/>
            <p:nvPr/>
          </p:nvSpPr>
          <p:spPr>
            <a:xfrm>
              <a:off x="10483358" y="2947606"/>
              <a:ext cx="1673150" cy="461665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rgbClr val="C00000"/>
              </a:solidFill>
            </a:ln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ea typeface="+mn-ea"/>
                  <a:cs typeface="+mn-cs"/>
                </a:rPr>
                <a:t>Reuse data</a:t>
              </a:r>
              <a:endParaRPr kumimoji="0" lang="nl-BE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+mn-ea"/>
                <a:cs typeface="+mn-cs"/>
              </a:endParaRPr>
            </a:p>
          </p:txBody>
        </p:sp>
        <p:pic>
          <p:nvPicPr>
            <p:cNvPr id="11" name="Graphic 10" descr="Thumbs up sign with solid fill">
              <a:extLst>
                <a:ext uri="{FF2B5EF4-FFF2-40B4-BE49-F238E27FC236}">
                  <a16:creationId xmlns:a16="http://schemas.microsoft.com/office/drawing/2014/main" id="{E399D65C-E4A7-043D-F531-2BD80853695B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12021905" y="2630321"/>
              <a:ext cx="455183" cy="455183"/>
            </a:xfrm>
            <a:prstGeom prst="rect">
              <a:avLst/>
            </a:prstGeom>
          </p:spPr>
        </p:pic>
      </p:grpSp>
      <p:sp>
        <p:nvSpPr>
          <p:cNvPr id="14" name="TextBox 13">
            <a:extLst>
              <a:ext uri="{FF2B5EF4-FFF2-40B4-BE49-F238E27FC236}">
                <a16:creationId xmlns:a16="http://schemas.microsoft.com/office/drawing/2014/main" id="{783F93B9-405A-E5AB-31D7-52BAEDB18327}"/>
              </a:ext>
            </a:extLst>
          </p:cNvPr>
          <p:cNvSpPr txBox="1"/>
          <p:nvPr/>
        </p:nvSpPr>
        <p:spPr>
          <a:xfrm>
            <a:off x="1171066" y="5448205"/>
            <a:ext cx="9849863" cy="369332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$  </a:t>
            </a:r>
            <a:r>
              <a:rPr lang="en-US" b="1" dirty="0" err="1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dvc</a:t>
            </a:r>
            <a:r>
              <a:rPr lang="en-US" b="1" dirty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 import  </a:t>
            </a:r>
            <a:r>
              <a:rPr lang="en-US" b="1" dirty="0" err="1">
                <a:solidFill>
                  <a:schemeClr val="bg1"/>
                </a:solidFill>
                <a:latin typeface="Courier New" pitchFamily="49" charset="0"/>
                <a:cs typeface="Courier New" pitchFamily="49" charset="0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git@github.com:gjbex</a:t>
            </a:r>
            <a:r>
              <a:rPr lang="en-US" b="1" dirty="0">
                <a:solidFill>
                  <a:schemeClr val="bg1"/>
                </a:solidFill>
                <a:latin typeface="Courier New" pitchFamily="49" charset="0"/>
                <a:cs typeface="Courier New" pitchFamily="49" charset="0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/</a:t>
            </a:r>
            <a:r>
              <a:rPr lang="en-US" b="1" dirty="0" err="1">
                <a:solidFill>
                  <a:schemeClr val="bg1"/>
                </a:solidFill>
                <a:latin typeface="Courier New" pitchFamily="49" charset="0"/>
                <a:cs typeface="Courier New" pitchFamily="49" charset="0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ml_project.git</a:t>
            </a:r>
            <a:r>
              <a:rPr lang="en-US" b="1" dirty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  </a:t>
            </a:r>
            <a:r>
              <a:rPr lang="en-US" b="1" dirty="0" err="1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params.yaml</a:t>
            </a:r>
            <a:endParaRPr lang="nl-BE" b="1" dirty="0">
              <a:solidFill>
                <a:schemeClr val="bg1"/>
              </a:solidFill>
              <a:latin typeface="Courier New" pitchFamily="49" charset="0"/>
              <a:cs typeface="Courier New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986365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  <p:bldP spid="14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E4B947-6034-82C1-6B86-BB8390461E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3306BB-22C7-9F18-8EEB-76FD771C34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 Version Control</a:t>
            </a:r>
            <a:endParaRPr lang="LID4096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3F648C4-BAD6-346A-273D-32A49A7CBEB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Data pipelines</a:t>
            </a:r>
            <a:endParaRPr lang="LID4096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1A7308D-72B9-7B0C-2C67-2FAF7FAF2C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7CE217-4467-4B8D-A735-B008FA7C4816}" type="slidenum">
              <a:rPr lang="LID4096" smtClean="0"/>
              <a:t>21</a:t>
            </a:fld>
            <a:endParaRPr lang="LID4096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A971657-8C8C-0322-3C46-9CBCFBC7E88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5545" y="3429000"/>
            <a:ext cx="2450335" cy="15278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8094144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E6C2F7-8212-3936-E1EF-AE48A6C87D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 pipelines</a:t>
            </a:r>
            <a:endParaRPr lang="LID4096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6A9D2A3-E554-9F87-B0F5-BD9269FFCF5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Pipelines are built from stages</a:t>
            </a:r>
          </a:p>
          <a:p>
            <a:r>
              <a:rPr lang="en-US" dirty="0"/>
              <a:t>Stage has</a:t>
            </a:r>
          </a:p>
          <a:p>
            <a:pPr lvl="1"/>
            <a:r>
              <a:rPr lang="en-US" dirty="0"/>
              <a:t>Dependencies</a:t>
            </a:r>
          </a:p>
          <a:p>
            <a:pPr lvl="1"/>
            <a:r>
              <a:rPr lang="en-US" dirty="0"/>
              <a:t>Parameters (optional)</a:t>
            </a:r>
          </a:p>
          <a:p>
            <a:pPr lvl="1"/>
            <a:r>
              <a:rPr lang="en-US" dirty="0"/>
              <a:t>Metrics (optional)</a:t>
            </a:r>
          </a:p>
          <a:p>
            <a:pPr lvl="1"/>
            <a:r>
              <a:rPr lang="en-US" dirty="0"/>
              <a:t>Output(s)</a:t>
            </a:r>
          </a:p>
          <a:p>
            <a:pPr lvl="1"/>
            <a:r>
              <a:rPr lang="en-US" dirty="0"/>
              <a:t>Action (Python/R/Bash/</a:t>
            </a:r>
            <a:r>
              <a:rPr lang="en-US" dirty="0">
                <a:sym typeface="Symbol" panose="05050102010706020507" pitchFamily="18" charset="2"/>
              </a:rPr>
              <a:t></a:t>
            </a:r>
            <a:r>
              <a:rPr lang="en-US" dirty="0"/>
              <a:t> script)</a:t>
            </a:r>
          </a:p>
          <a:p>
            <a:r>
              <a:rPr lang="en-US" dirty="0"/>
              <a:t>Pipeline is directed acyclic graph (DAG) of stages</a:t>
            </a:r>
          </a:p>
          <a:p>
            <a:r>
              <a:rPr lang="en-US" dirty="0"/>
              <a:t>Stages are cached, only run on changes</a:t>
            </a:r>
            <a:endParaRPr lang="LID4096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95F0DD9-43F3-25A1-C77A-743F21AAF2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7CE217-4467-4B8D-A735-B008FA7C4816}" type="slidenum">
              <a:rPr lang="LID4096" smtClean="0"/>
              <a:t>22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97004193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82EBDC-A35E-10B5-BCBE-4623DF9E49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Add stage</a:t>
            </a:r>
            <a:endParaRPr lang="LID4096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5CA1B04-20D1-7547-7CC3-FCCEBB20CF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7CE217-4467-4B8D-A735-B008FA7C4816}" type="slidenum">
              <a:rPr lang="LID4096" smtClean="0"/>
              <a:t>23</a:t>
            </a:fld>
            <a:endParaRPr lang="LID4096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4B3A4D5-23ED-2398-4666-792BE6EBDC03}"/>
              </a:ext>
            </a:extLst>
          </p:cNvPr>
          <p:cNvSpPr txBox="1"/>
          <p:nvPr/>
        </p:nvSpPr>
        <p:spPr>
          <a:xfrm>
            <a:off x="838200" y="1690688"/>
            <a:ext cx="8663321" cy="3139321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$  </a:t>
            </a:r>
            <a:r>
              <a:rPr lang="en-US" b="1" dirty="0" err="1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dvc</a:t>
            </a:r>
            <a:r>
              <a:rPr lang="en-US" b="1" dirty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 stage add --name </a:t>
            </a:r>
            <a:r>
              <a:rPr lang="en-US" b="1" dirty="0" err="1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split_data</a:t>
            </a:r>
            <a:r>
              <a:rPr lang="en-US" b="1" dirty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  \</a:t>
            </a:r>
          </a:p>
          <a:p>
            <a:r>
              <a:rPr lang="en-US" b="1" dirty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    --deps data/data.csv \</a:t>
            </a:r>
          </a:p>
          <a:p>
            <a:r>
              <a:rPr lang="en-US" b="1" dirty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    --deps src/split_data.py --deps src/utils.py \</a:t>
            </a:r>
          </a:p>
          <a:p>
            <a:r>
              <a:rPr lang="en-US" b="1" dirty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    --params </a:t>
            </a:r>
            <a:r>
              <a:rPr lang="en-US" b="1" dirty="0" err="1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split_data.test_size,split_data.random_state</a:t>
            </a:r>
            <a:r>
              <a:rPr lang="en-US" b="1" dirty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 \</a:t>
            </a:r>
          </a:p>
          <a:p>
            <a:r>
              <a:rPr lang="en-US" b="1" dirty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    --outs data/</a:t>
            </a:r>
            <a:r>
              <a:rPr lang="en-US" b="1" dirty="0" err="1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split_data</a:t>
            </a:r>
            <a:r>
              <a:rPr lang="en-US" b="1" dirty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/train.csv \</a:t>
            </a:r>
          </a:p>
          <a:p>
            <a:r>
              <a:rPr lang="en-US" b="1" dirty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    --outs data/</a:t>
            </a:r>
            <a:r>
              <a:rPr lang="en-US" b="1" dirty="0" err="1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split_data</a:t>
            </a:r>
            <a:r>
              <a:rPr lang="en-US" b="1" dirty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/test.csv \</a:t>
            </a:r>
          </a:p>
          <a:p>
            <a:r>
              <a:rPr lang="en-US" b="1" dirty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    python src/split_data.py \</a:t>
            </a:r>
          </a:p>
          <a:p>
            <a:r>
              <a:rPr lang="en-US" b="1" dirty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        --data data/data.csv \</a:t>
            </a:r>
          </a:p>
          <a:p>
            <a:r>
              <a:rPr lang="en-US" b="1" dirty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        --params </a:t>
            </a:r>
            <a:r>
              <a:rPr lang="en-US" b="1" dirty="0" err="1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params.yaml</a:t>
            </a:r>
            <a:r>
              <a:rPr lang="en-US" b="1" dirty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 \</a:t>
            </a:r>
          </a:p>
          <a:p>
            <a:r>
              <a:rPr lang="en-US" b="1" dirty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        --output data/</a:t>
            </a:r>
            <a:r>
              <a:rPr lang="en-US" b="1" dirty="0" err="1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split_data</a:t>
            </a:r>
            <a:r>
              <a:rPr lang="en-US" b="1" dirty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/</a:t>
            </a:r>
          </a:p>
          <a:p>
            <a:r>
              <a:rPr lang="en-US" b="1" dirty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$  git commit -m 'Add </a:t>
            </a:r>
            <a:r>
              <a:rPr lang="en-US" b="1" dirty="0" err="1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split_ddata</a:t>
            </a:r>
            <a:r>
              <a:rPr lang="en-US" b="1" dirty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 stage'</a:t>
            </a:r>
            <a:endParaRPr lang="nl-BE" b="1" dirty="0">
              <a:solidFill>
                <a:schemeClr val="bg1"/>
              </a:solidFill>
              <a:latin typeface="Courier New" pitchFamily="49" charset="0"/>
              <a:cs typeface="Courier New" pitchFamily="49" charset="0"/>
            </a:endParaRP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9CF17237-2BFE-39A5-0EA9-9A6D0ED742BE}"/>
              </a:ext>
            </a:extLst>
          </p:cNvPr>
          <p:cNvGrpSpPr/>
          <p:nvPr/>
        </p:nvGrpSpPr>
        <p:grpSpPr>
          <a:xfrm>
            <a:off x="5018314" y="686418"/>
            <a:ext cx="3067925" cy="1004270"/>
            <a:chOff x="88563" y="5501785"/>
            <a:chExt cx="4227818" cy="1135701"/>
          </a:xfrm>
        </p:grpSpPr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41A42B1C-A094-247B-1C2B-3DB1259F6E76}"/>
                </a:ext>
              </a:extLst>
            </p:cNvPr>
            <p:cNvSpPr txBox="1"/>
            <p:nvPr/>
          </p:nvSpPr>
          <p:spPr>
            <a:xfrm>
              <a:off x="2083559" y="5501785"/>
              <a:ext cx="2232822" cy="417667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rgbClr val="C00000"/>
              </a:solidFill>
            </a:ln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ea typeface="+mn-ea"/>
                  <a:cs typeface="+mn-cs"/>
                </a:rPr>
                <a:t>Name of stage</a:t>
              </a:r>
              <a:endParaRPr kumimoji="0" lang="nl-BE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cxnSp>
          <p:nvCxnSpPr>
            <p:cNvPr id="8" name="Straight Arrow Connector 7">
              <a:extLst>
                <a:ext uri="{FF2B5EF4-FFF2-40B4-BE49-F238E27FC236}">
                  <a16:creationId xmlns:a16="http://schemas.microsoft.com/office/drawing/2014/main" id="{C1E54B9B-FFB3-5EDD-F8D1-40F88412AC50}"/>
                </a:ext>
              </a:extLst>
            </p:cNvPr>
            <p:cNvCxnSpPr>
              <a:cxnSpLocks/>
              <a:stCxn id="7" idx="1"/>
            </p:cNvCxnSpPr>
            <p:nvPr/>
          </p:nvCxnSpPr>
          <p:spPr>
            <a:xfrm flipH="1">
              <a:off x="88563" y="5710619"/>
              <a:ext cx="1994996" cy="926867"/>
            </a:xfrm>
            <a:prstGeom prst="straightConnector1">
              <a:avLst/>
            </a:prstGeom>
            <a:ln w="28575">
              <a:solidFill>
                <a:srgbClr val="C00000"/>
              </a:solidFill>
              <a:tailEnd type="stealth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0" name="Group 9">
            <a:extLst>
              <a:ext uri="{FF2B5EF4-FFF2-40B4-BE49-F238E27FC236}">
                <a16:creationId xmlns:a16="http://schemas.microsoft.com/office/drawing/2014/main" id="{7BAB74DB-DA17-BBD9-C3C5-FD8FB844B5CE}"/>
              </a:ext>
            </a:extLst>
          </p:cNvPr>
          <p:cNvGrpSpPr/>
          <p:nvPr/>
        </p:nvGrpSpPr>
        <p:grpSpPr>
          <a:xfrm>
            <a:off x="4757185" y="1240416"/>
            <a:ext cx="4620214" cy="956231"/>
            <a:chOff x="-1606406" y="5501785"/>
            <a:chExt cx="6366983" cy="1081375"/>
          </a:xfrm>
        </p:grpSpPr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114BF517-2822-703F-7260-3734BCB44BE4}"/>
                </a:ext>
              </a:extLst>
            </p:cNvPr>
            <p:cNvSpPr txBox="1"/>
            <p:nvPr/>
          </p:nvSpPr>
          <p:spPr>
            <a:xfrm>
              <a:off x="2083560" y="5501785"/>
              <a:ext cx="2677017" cy="417667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rgbClr val="C00000"/>
              </a:solidFill>
            </a:ln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ea typeface="+mn-ea"/>
                  <a:cs typeface="+mn-cs"/>
                </a:rPr>
                <a:t>Data dependency</a:t>
              </a:r>
              <a:endParaRPr kumimoji="0" lang="nl-BE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cxnSp>
          <p:nvCxnSpPr>
            <p:cNvPr id="12" name="Straight Arrow Connector 11">
              <a:extLst>
                <a:ext uri="{FF2B5EF4-FFF2-40B4-BE49-F238E27FC236}">
                  <a16:creationId xmlns:a16="http://schemas.microsoft.com/office/drawing/2014/main" id="{DB478151-7125-6FE4-F7C3-CBFBC8179D2B}"/>
                </a:ext>
              </a:extLst>
            </p:cNvPr>
            <p:cNvCxnSpPr>
              <a:cxnSpLocks/>
              <a:stCxn id="11" idx="1"/>
            </p:cNvCxnSpPr>
            <p:nvPr/>
          </p:nvCxnSpPr>
          <p:spPr>
            <a:xfrm flipH="1">
              <a:off x="-1606406" y="5710619"/>
              <a:ext cx="3689966" cy="872541"/>
            </a:xfrm>
            <a:prstGeom prst="straightConnector1">
              <a:avLst/>
            </a:prstGeom>
            <a:ln w="28575">
              <a:solidFill>
                <a:srgbClr val="C00000"/>
              </a:solidFill>
              <a:tailEnd type="stealth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2CBEF5B6-78D7-C133-77B0-78DAFC776D60}"/>
              </a:ext>
            </a:extLst>
          </p:cNvPr>
          <p:cNvGrpSpPr/>
          <p:nvPr/>
        </p:nvGrpSpPr>
        <p:grpSpPr>
          <a:xfrm>
            <a:off x="7581946" y="1240415"/>
            <a:ext cx="4560218" cy="1066717"/>
            <a:chOff x="-1184946" y="5501785"/>
            <a:chExt cx="6284304" cy="1206321"/>
          </a:xfrm>
        </p:grpSpPr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5A5C77DD-305F-B02D-7BC1-C82B61E45F1E}"/>
                </a:ext>
              </a:extLst>
            </p:cNvPr>
            <p:cNvSpPr txBox="1"/>
            <p:nvPr/>
          </p:nvSpPr>
          <p:spPr>
            <a:xfrm>
              <a:off x="2083560" y="5501785"/>
              <a:ext cx="3015798" cy="417667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rgbClr val="C00000"/>
              </a:solidFill>
            </a:ln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ea typeface="+mn-ea"/>
                  <a:cs typeface="+mn-cs"/>
                </a:rPr>
                <a:t>Code dependencies</a:t>
              </a:r>
              <a:endParaRPr kumimoji="0" lang="nl-BE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cxnSp>
          <p:nvCxnSpPr>
            <p:cNvPr id="16" name="Straight Arrow Connector 15">
              <a:extLst>
                <a:ext uri="{FF2B5EF4-FFF2-40B4-BE49-F238E27FC236}">
                  <a16:creationId xmlns:a16="http://schemas.microsoft.com/office/drawing/2014/main" id="{8EA0BC63-52F6-D47A-3404-7FB2D69D8095}"/>
                </a:ext>
              </a:extLst>
            </p:cNvPr>
            <p:cNvCxnSpPr>
              <a:cxnSpLocks/>
              <a:stCxn id="15" idx="1"/>
            </p:cNvCxnSpPr>
            <p:nvPr/>
          </p:nvCxnSpPr>
          <p:spPr>
            <a:xfrm flipH="1">
              <a:off x="-1184946" y="5710619"/>
              <a:ext cx="3268506" cy="997487"/>
            </a:xfrm>
            <a:prstGeom prst="straightConnector1">
              <a:avLst/>
            </a:prstGeom>
            <a:ln w="28575">
              <a:solidFill>
                <a:srgbClr val="C00000"/>
              </a:solidFill>
              <a:tailEnd type="stealth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7" name="Group 16">
            <a:extLst>
              <a:ext uri="{FF2B5EF4-FFF2-40B4-BE49-F238E27FC236}">
                <a16:creationId xmlns:a16="http://schemas.microsoft.com/office/drawing/2014/main" id="{BD2689CB-7288-0B92-CA79-157E8AFD4272}"/>
              </a:ext>
            </a:extLst>
          </p:cNvPr>
          <p:cNvGrpSpPr/>
          <p:nvPr/>
        </p:nvGrpSpPr>
        <p:grpSpPr>
          <a:xfrm>
            <a:off x="8817429" y="2869995"/>
            <a:ext cx="2669769" cy="450272"/>
            <a:chOff x="517637" y="5410252"/>
            <a:chExt cx="3679131" cy="509200"/>
          </a:xfrm>
        </p:grpSpPr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46B07295-5137-4BCA-A638-4F602283E896}"/>
                </a:ext>
              </a:extLst>
            </p:cNvPr>
            <p:cNvSpPr txBox="1"/>
            <p:nvPr/>
          </p:nvSpPr>
          <p:spPr>
            <a:xfrm>
              <a:off x="2083561" y="5501785"/>
              <a:ext cx="2113207" cy="417667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rgbClr val="C00000"/>
              </a:solidFill>
            </a:ln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ea typeface="+mn-ea"/>
                  <a:cs typeface="+mn-cs"/>
                </a:rPr>
                <a:t>Parameters</a:t>
              </a:r>
              <a:endParaRPr kumimoji="0" lang="nl-BE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cxnSp>
          <p:nvCxnSpPr>
            <p:cNvPr id="19" name="Straight Arrow Connector 18">
              <a:extLst>
                <a:ext uri="{FF2B5EF4-FFF2-40B4-BE49-F238E27FC236}">
                  <a16:creationId xmlns:a16="http://schemas.microsoft.com/office/drawing/2014/main" id="{434295FE-9EFC-4C53-61BE-D905522DFDFB}"/>
                </a:ext>
              </a:extLst>
            </p:cNvPr>
            <p:cNvCxnSpPr>
              <a:cxnSpLocks/>
              <a:stCxn id="18" idx="1"/>
            </p:cNvCxnSpPr>
            <p:nvPr/>
          </p:nvCxnSpPr>
          <p:spPr>
            <a:xfrm flipH="1" flipV="1">
              <a:off x="517637" y="5410252"/>
              <a:ext cx="1565924" cy="300366"/>
            </a:xfrm>
            <a:prstGeom prst="straightConnector1">
              <a:avLst/>
            </a:prstGeom>
            <a:ln w="28575">
              <a:solidFill>
                <a:srgbClr val="C00000"/>
              </a:solidFill>
              <a:tailEnd type="stealth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9" name="Group 28">
            <a:extLst>
              <a:ext uri="{FF2B5EF4-FFF2-40B4-BE49-F238E27FC236}">
                <a16:creationId xmlns:a16="http://schemas.microsoft.com/office/drawing/2014/main" id="{E5704378-8579-4D8B-5B2B-28DE70E1AC52}"/>
              </a:ext>
            </a:extLst>
          </p:cNvPr>
          <p:cNvGrpSpPr/>
          <p:nvPr/>
        </p:nvGrpSpPr>
        <p:grpSpPr>
          <a:xfrm>
            <a:off x="6215743" y="3011680"/>
            <a:ext cx="5271454" cy="971126"/>
            <a:chOff x="6215743" y="3011680"/>
            <a:chExt cx="5271454" cy="971126"/>
          </a:xfrm>
        </p:grpSpPr>
        <p:grpSp>
          <p:nvGrpSpPr>
            <p:cNvPr id="22" name="Group 21">
              <a:extLst>
                <a:ext uri="{FF2B5EF4-FFF2-40B4-BE49-F238E27FC236}">
                  <a16:creationId xmlns:a16="http://schemas.microsoft.com/office/drawing/2014/main" id="{8EB9D131-623A-EC0B-39E3-33045DF3D978}"/>
                </a:ext>
              </a:extLst>
            </p:cNvPr>
            <p:cNvGrpSpPr/>
            <p:nvPr/>
          </p:nvGrpSpPr>
          <p:grpSpPr>
            <a:xfrm>
              <a:off x="6313714" y="3011680"/>
              <a:ext cx="5173483" cy="971126"/>
              <a:chOff x="-2932660" y="4821233"/>
              <a:chExt cx="7129427" cy="1098219"/>
            </a:xfrm>
          </p:grpSpPr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4F112A53-7699-E520-A782-6ACB46DE0897}"/>
                  </a:ext>
                </a:extLst>
              </p:cNvPr>
              <p:cNvSpPr txBox="1"/>
              <p:nvPr/>
            </p:nvSpPr>
            <p:spPr>
              <a:xfrm>
                <a:off x="2083561" y="5501785"/>
                <a:ext cx="2113206" cy="417667"/>
              </a:xfrm>
              <a:prstGeom prst="rect">
                <a:avLst/>
              </a:prstGeom>
              <a:solidFill>
                <a:schemeClr val="bg1"/>
              </a:solidFill>
              <a:ln w="19050">
                <a:solidFill>
                  <a:srgbClr val="C00000"/>
                </a:solidFill>
              </a:ln>
            </p:spPr>
            <p:txBody>
              <a:bodyPr wrap="square" rtlCol="0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ea typeface="+mn-ea"/>
                    <a:cs typeface="+mn-cs"/>
                  </a:rPr>
                  <a:t>Output files</a:t>
                </a:r>
                <a:endParaRPr kumimoji="0" lang="nl-BE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ourier New" panose="02070309020205020404" pitchFamily="49" charset="0"/>
                  <a:cs typeface="Courier New" panose="02070309020205020404" pitchFamily="49" charset="0"/>
                </a:endParaRPr>
              </a:p>
            </p:txBody>
          </p:sp>
          <p:cxnSp>
            <p:nvCxnSpPr>
              <p:cNvPr id="24" name="Straight Arrow Connector 23">
                <a:extLst>
                  <a:ext uri="{FF2B5EF4-FFF2-40B4-BE49-F238E27FC236}">
                    <a16:creationId xmlns:a16="http://schemas.microsoft.com/office/drawing/2014/main" id="{C9937ED1-D9DB-F4B8-FD87-4BD645EDA813}"/>
                  </a:ext>
                </a:extLst>
              </p:cNvPr>
              <p:cNvCxnSpPr>
                <a:cxnSpLocks/>
                <a:stCxn id="23" idx="1"/>
              </p:cNvCxnSpPr>
              <p:nvPr/>
            </p:nvCxnSpPr>
            <p:spPr>
              <a:xfrm flipH="1" flipV="1">
                <a:off x="-2932660" y="4821233"/>
                <a:ext cx="5016221" cy="889385"/>
              </a:xfrm>
              <a:prstGeom prst="straightConnector1">
                <a:avLst/>
              </a:prstGeom>
              <a:ln w="28575">
                <a:solidFill>
                  <a:srgbClr val="C00000"/>
                </a:solidFill>
                <a:tailEnd type="stealth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26" name="Straight Arrow Connector 25">
              <a:extLst>
                <a:ext uri="{FF2B5EF4-FFF2-40B4-BE49-F238E27FC236}">
                  <a16:creationId xmlns:a16="http://schemas.microsoft.com/office/drawing/2014/main" id="{52A78436-E328-BAA3-9023-0DEE8074CA02}"/>
                </a:ext>
              </a:extLst>
            </p:cNvPr>
            <p:cNvCxnSpPr>
              <a:cxnSpLocks/>
              <a:stCxn id="23" idx="1"/>
            </p:cNvCxnSpPr>
            <p:nvPr/>
          </p:nvCxnSpPr>
          <p:spPr>
            <a:xfrm flipH="1" flipV="1">
              <a:off x="6215743" y="3375954"/>
              <a:ext cx="3738002" cy="422186"/>
            </a:xfrm>
            <a:prstGeom prst="straightConnector1">
              <a:avLst/>
            </a:prstGeom>
            <a:ln w="28575">
              <a:solidFill>
                <a:srgbClr val="C00000"/>
              </a:solidFill>
              <a:tailEnd type="stealth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0" name="Group 29">
            <a:extLst>
              <a:ext uri="{FF2B5EF4-FFF2-40B4-BE49-F238E27FC236}">
                <a16:creationId xmlns:a16="http://schemas.microsoft.com/office/drawing/2014/main" id="{5C03CAD5-6A85-61CC-A5BB-6DA68C434C0D}"/>
              </a:ext>
            </a:extLst>
          </p:cNvPr>
          <p:cNvGrpSpPr/>
          <p:nvPr/>
        </p:nvGrpSpPr>
        <p:grpSpPr>
          <a:xfrm>
            <a:off x="5169860" y="3889886"/>
            <a:ext cx="6317338" cy="1098241"/>
            <a:chOff x="-4564490" y="4990732"/>
            <a:chExt cx="8705739" cy="1241971"/>
          </a:xfrm>
        </p:grpSpPr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7FE0DA4A-7123-B642-7276-50ABA2689581}"/>
                </a:ext>
              </a:extLst>
            </p:cNvPr>
            <p:cNvSpPr txBox="1"/>
            <p:nvPr/>
          </p:nvSpPr>
          <p:spPr>
            <a:xfrm>
              <a:off x="2083561" y="5501785"/>
              <a:ext cx="2057688" cy="730918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rgbClr val="C00000"/>
              </a:solidFill>
            </a:ln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ea typeface="+mn-ea"/>
                  <a:cs typeface="+mn-cs"/>
                </a:rPr>
                <a:t>Command to</a:t>
              </a:r>
              <a:b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ea typeface="+mn-ea"/>
                  <a:cs typeface="+mn-cs"/>
                </a:rPr>
              </a:b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ea typeface="+mn-ea"/>
                  <a:cs typeface="+mn-cs"/>
                </a:rPr>
                <a:t>execute</a:t>
              </a:r>
              <a:endParaRPr kumimoji="0" lang="nl-BE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cxnSp>
          <p:nvCxnSpPr>
            <p:cNvPr id="32" name="Straight Arrow Connector 31">
              <a:extLst>
                <a:ext uri="{FF2B5EF4-FFF2-40B4-BE49-F238E27FC236}">
                  <a16:creationId xmlns:a16="http://schemas.microsoft.com/office/drawing/2014/main" id="{9A223BF1-455F-1F0B-94DA-23CC49456387}"/>
                </a:ext>
              </a:extLst>
            </p:cNvPr>
            <p:cNvCxnSpPr>
              <a:cxnSpLocks/>
              <a:stCxn id="31" idx="1"/>
            </p:cNvCxnSpPr>
            <p:nvPr/>
          </p:nvCxnSpPr>
          <p:spPr>
            <a:xfrm flipH="1" flipV="1">
              <a:off x="-4564490" y="4990732"/>
              <a:ext cx="6648051" cy="876512"/>
            </a:xfrm>
            <a:prstGeom prst="straightConnector1">
              <a:avLst/>
            </a:prstGeom>
            <a:ln w="28575">
              <a:solidFill>
                <a:srgbClr val="C00000"/>
              </a:solidFill>
              <a:tailEnd type="stealth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7" name="TextBox 36">
            <a:extLst>
              <a:ext uri="{FF2B5EF4-FFF2-40B4-BE49-F238E27FC236}">
                <a16:creationId xmlns:a16="http://schemas.microsoft.com/office/drawing/2014/main" id="{CA221750-E833-338E-20BA-A51AF64FB828}"/>
              </a:ext>
            </a:extLst>
          </p:cNvPr>
          <p:cNvSpPr txBox="1"/>
          <p:nvPr/>
        </p:nvSpPr>
        <p:spPr>
          <a:xfrm>
            <a:off x="5875460" y="5362347"/>
            <a:ext cx="6094554" cy="46166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Dvc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stage add</a:t>
            </a:r>
            <a:r>
              <a:rPr lang="en-US" sz="2400" dirty="0"/>
              <a:t> creates </a:t>
            </a:r>
            <a:r>
              <a:rPr lang="en-US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dvc.yaml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file</a:t>
            </a:r>
            <a:endParaRPr lang="LID4096" sz="2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grpSp>
        <p:nvGrpSpPr>
          <p:cNvPr id="48" name="Group 47">
            <a:extLst>
              <a:ext uri="{FF2B5EF4-FFF2-40B4-BE49-F238E27FC236}">
                <a16:creationId xmlns:a16="http://schemas.microsoft.com/office/drawing/2014/main" id="{E4371075-153C-5985-3C66-09E3C817AE97}"/>
              </a:ext>
            </a:extLst>
          </p:cNvPr>
          <p:cNvGrpSpPr/>
          <p:nvPr/>
        </p:nvGrpSpPr>
        <p:grpSpPr>
          <a:xfrm>
            <a:off x="2227559" y="4830010"/>
            <a:ext cx="3647901" cy="797904"/>
            <a:chOff x="2227559" y="4830010"/>
            <a:chExt cx="3988184" cy="821244"/>
          </a:xfrm>
        </p:grpSpPr>
        <p:grpSp>
          <p:nvGrpSpPr>
            <p:cNvPr id="39" name="Group 38">
              <a:extLst>
                <a:ext uri="{FF2B5EF4-FFF2-40B4-BE49-F238E27FC236}">
                  <a16:creationId xmlns:a16="http://schemas.microsoft.com/office/drawing/2014/main" id="{B701C950-BAD0-3E77-8BEB-1357E9D0756D}"/>
                </a:ext>
              </a:extLst>
            </p:cNvPr>
            <p:cNvGrpSpPr/>
            <p:nvPr/>
          </p:nvGrpSpPr>
          <p:grpSpPr>
            <a:xfrm>
              <a:off x="2227559" y="4830010"/>
              <a:ext cx="2428998" cy="821244"/>
              <a:chOff x="2083561" y="4990730"/>
              <a:chExt cx="3347331" cy="928722"/>
            </a:xfrm>
          </p:grpSpPr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133EFDE2-7FA0-C947-C743-4B6654EAA8D9}"/>
                  </a:ext>
                </a:extLst>
              </p:cNvPr>
              <p:cNvSpPr txBox="1"/>
              <p:nvPr/>
            </p:nvSpPr>
            <p:spPr>
              <a:xfrm>
                <a:off x="2083561" y="5501785"/>
                <a:ext cx="3347331" cy="417667"/>
              </a:xfrm>
              <a:prstGeom prst="rect">
                <a:avLst/>
              </a:prstGeom>
              <a:solidFill>
                <a:schemeClr val="bg1"/>
              </a:solidFill>
              <a:ln w="19050">
                <a:solidFill>
                  <a:srgbClr val="C00000"/>
                </a:solidFill>
              </a:ln>
            </p:spPr>
            <p:txBody>
              <a:bodyPr wrap="non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ea typeface="+mn-ea"/>
                    <a:cs typeface="+mn-cs"/>
                  </a:rPr>
                  <a:t>Version  control stages</a:t>
                </a:r>
                <a:endParaRPr kumimoji="0" lang="nl-BE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ourier New" panose="02070309020205020404" pitchFamily="49" charset="0"/>
                  <a:cs typeface="Courier New" panose="02070309020205020404" pitchFamily="49" charset="0"/>
                </a:endParaRPr>
              </a:p>
            </p:txBody>
          </p:sp>
          <p:cxnSp>
            <p:nvCxnSpPr>
              <p:cNvPr id="41" name="Straight Arrow Connector 40">
                <a:extLst>
                  <a:ext uri="{FF2B5EF4-FFF2-40B4-BE49-F238E27FC236}">
                    <a16:creationId xmlns:a16="http://schemas.microsoft.com/office/drawing/2014/main" id="{9AC535D0-2E55-8E9E-51E7-CA32EA6AE649}"/>
                  </a:ext>
                </a:extLst>
              </p:cNvPr>
              <p:cNvCxnSpPr>
                <a:cxnSpLocks/>
                <a:stCxn id="40" idx="0"/>
              </p:cNvCxnSpPr>
              <p:nvPr/>
            </p:nvCxnSpPr>
            <p:spPr>
              <a:xfrm flipH="1" flipV="1">
                <a:off x="2374115" y="4990730"/>
                <a:ext cx="1383112" cy="511055"/>
              </a:xfrm>
              <a:prstGeom prst="straightConnector1">
                <a:avLst/>
              </a:prstGeom>
              <a:ln w="28575">
                <a:solidFill>
                  <a:srgbClr val="C00000"/>
                </a:solidFill>
                <a:tailEnd type="stealth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44" name="Straight Arrow Connector 43">
              <a:extLst>
                <a:ext uri="{FF2B5EF4-FFF2-40B4-BE49-F238E27FC236}">
                  <a16:creationId xmlns:a16="http://schemas.microsoft.com/office/drawing/2014/main" id="{77FFC768-1881-DDC8-FBDC-1922DB4AD43C}"/>
                </a:ext>
              </a:extLst>
            </p:cNvPr>
            <p:cNvCxnSpPr>
              <a:cxnSpLocks/>
              <a:stCxn id="40" idx="3"/>
            </p:cNvCxnSpPr>
            <p:nvPr/>
          </p:nvCxnSpPr>
          <p:spPr>
            <a:xfrm>
              <a:off x="4656557" y="5466587"/>
              <a:ext cx="1559186" cy="184666"/>
            </a:xfrm>
            <a:prstGeom prst="straightConnector1">
              <a:avLst/>
            </a:prstGeom>
            <a:ln w="28575">
              <a:solidFill>
                <a:srgbClr val="C00000"/>
              </a:solidFill>
              <a:tailEnd type="stealth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2700125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C3B5BC-A448-6578-013C-83846A4329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Parameters</a:t>
            </a:r>
            <a:endParaRPr lang="LID4096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8F9BE63-6E45-9972-B34C-2F41FF5C33D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Default </a:t>
            </a:r>
            <a:r>
              <a:rPr lang="en-US" dirty="0" err="1"/>
              <a:t>params.yaml</a:t>
            </a:r>
            <a:endParaRPr lang="en-US" dirty="0"/>
          </a:p>
          <a:p>
            <a:r>
              <a:rPr lang="en-US" dirty="0"/>
              <a:t>Can be</a:t>
            </a:r>
          </a:p>
          <a:p>
            <a:pPr lvl="1"/>
            <a:r>
              <a:rPr lang="en-US" dirty="0"/>
              <a:t>YAML/JSON</a:t>
            </a:r>
          </a:p>
          <a:p>
            <a:pPr lvl="1"/>
            <a:r>
              <a:rPr lang="en-US" dirty="0"/>
              <a:t>Stage-specific</a:t>
            </a:r>
          </a:p>
          <a:p>
            <a:r>
              <a:rPr lang="en-US" dirty="0"/>
              <a:t>Use in scripts</a:t>
            </a:r>
            <a:endParaRPr lang="LID4096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026B29B-47A0-F53F-75F9-0A7262B600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7CE217-4467-4B8D-A735-B008FA7C4816}" type="slidenum">
              <a:rPr lang="LID4096" smtClean="0"/>
              <a:t>24</a:t>
            </a:fld>
            <a:endParaRPr lang="LID4096"/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54FFCF42-65C2-2D11-AECF-F542161DAF2C}"/>
              </a:ext>
            </a:extLst>
          </p:cNvPr>
          <p:cNvGrpSpPr/>
          <p:nvPr/>
        </p:nvGrpSpPr>
        <p:grpSpPr>
          <a:xfrm>
            <a:off x="6346373" y="1009735"/>
            <a:ext cx="5344886" cy="2308325"/>
            <a:chOff x="1055914" y="2169658"/>
            <a:chExt cx="8795657" cy="2308325"/>
          </a:xfrm>
        </p:grpSpPr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28E1FF8A-C5D1-C830-6D88-CD0F84B1B78F}"/>
                </a:ext>
              </a:extLst>
            </p:cNvPr>
            <p:cNvSpPr txBox="1"/>
            <p:nvPr/>
          </p:nvSpPr>
          <p:spPr>
            <a:xfrm>
              <a:off x="1055914" y="2169659"/>
              <a:ext cx="8795657" cy="2308324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lvl="0">
                <a:defRPr/>
              </a:pPr>
              <a:r>
                <a:rPr lang="en-US" dirty="0" err="1">
                  <a:solidFill>
                    <a:prstClr val="black"/>
                  </a:solidFill>
                  <a:latin typeface="Courier New" pitchFamily="49" charset="0"/>
                  <a:cs typeface="Courier New" pitchFamily="49" charset="0"/>
                </a:rPr>
                <a:t>split_data</a:t>
              </a:r>
              <a:r>
                <a:rPr lang="en-US" dirty="0">
                  <a:solidFill>
                    <a:prstClr val="black"/>
                  </a:solidFill>
                  <a:latin typeface="Courier New" pitchFamily="49" charset="0"/>
                  <a:cs typeface="Courier New" pitchFamily="49" charset="0"/>
                </a:rPr>
                <a:t>:</a:t>
              </a:r>
            </a:p>
            <a:p>
              <a:pPr lvl="0">
                <a:defRPr/>
              </a:pPr>
              <a:r>
                <a:rPr lang="en-US" dirty="0">
                  <a:solidFill>
                    <a:prstClr val="black"/>
                  </a:solidFill>
                  <a:latin typeface="Courier New" pitchFamily="49" charset="0"/>
                  <a:cs typeface="Courier New" pitchFamily="49" charset="0"/>
                </a:rPr>
                <a:t>    </a:t>
              </a:r>
              <a:r>
                <a:rPr lang="en-US" dirty="0" err="1">
                  <a:solidFill>
                    <a:prstClr val="black"/>
                  </a:solidFill>
                  <a:latin typeface="Courier New" pitchFamily="49" charset="0"/>
                  <a:cs typeface="Courier New" pitchFamily="49" charset="0"/>
                </a:rPr>
                <a:t>test_size</a:t>
              </a:r>
              <a:r>
                <a:rPr lang="en-US" dirty="0">
                  <a:solidFill>
                    <a:prstClr val="black"/>
                  </a:solidFill>
                  <a:latin typeface="Courier New" pitchFamily="49" charset="0"/>
                  <a:cs typeface="Courier New" pitchFamily="49" charset="0"/>
                </a:rPr>
                <a:t>: 0.3</a:t>
              </a:r>
            </a:p>
            <a:p>
              <a:pPr lvl="0">
                <a:defRPr/>
              </a:pPr>
              <a:r>
                <a:rPr lang="en-US" dirty="0">
                  <a:solidFill>
                    <a:prstClr val="black"/>
                  </a:solidFill>
                  <a:latin typeface="Courier New" pitchFamily="49" charset="0"/>
                  <a:cs typeface="Courier New" pitchFamily="49" charset="0"/>
                </a:rPr>
                <a:t>    </a:t>
              </a:r>
              <a:r>
                <a:rPr lang="en-US" dirty="0" err="1">
                  <a:solidFill>
                    <a:prstClr val="black"/>
                  </a:solidFill>
                  <a:latin typeface="Courier New" pitchFamily="49" charset="0"/>
                  <a:cs typeface="Courier New" pitchFamily="49" charset="0"/>
                </a:rPr>
                <a:t>random_state</a:t>
              </a:r>
              <a:r>
                <a:rPr lang="en-US" dirty="0">
                  <a:solidFill>
                    <a:prstClr val="black"/>
                  </a:solidFill>
                  <a:latin typeface="Courier New" pitchFamily="49" charset="0"/>
                  <a:cs typeface="Courier New" pitchFamily="49" charset="0"/>
                </a:rPr>
                <a:t>: 1234</a:t>
              </a:r>
            </a:p>
            <a:p>
              <a:pPr lvl="0">
                <a:defRPr/>
              </a:pPr>
              <a:endParaRPr lang="en-US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endParaRPr>
            </a:p>
            <a:p>
              <a:pPr lvl="0">
                <a:defRPr/>
              </a:pPr>
              <a:r>
                <a:rPr lang="en-US" dirty="0" err="1">
                  <a:solidFill>
                    <a:prstClr val="black"/>
                  </a:solidFill>
                  <a:latin typeface="Courier New" pitchFamily="49" charset="0"/>
                  <a:cs typeface="Courier New" pitchFamily="49" charset="0"/>
                </a:rPr>
                <a:t>train_model</a:t>
              </a:r>
              <a:r>
                <a:rPr lang="en-US" dirty="0">
                  <a:solidFill>
                    <a:prstClr val="black"/>
                  </a:solidFill>
                  <a:latin typeface="Courier New" pitchFamily="49" charset="0"/>
                  <a:cs typeface="Courier New" pitchFamily="49" charset="0"/>
                </a:rPr>
                <a:t>:</a:t>
              </a:r>
            </a:p>
            <a:p>
              <a:pPr lvl="0">
                <a:defRPr/>
              </a:pPr>
              <a:r>
                <a:rPr lang="en-US" dirty="0">
                  <a:solidFill>
                    <a:prstClr val="black"/>
                  </a:solidFill>
                  <a:latin typeface="Courier New" pitchFamily="49" charset="0"/>
                  <a:cs typeface="Courier New" pitchFamily="49" charset="0"/>
                </a:rPr>
                <a:t>    penalty: "l1"</a:t>
              </a:r>
            </a:p>
            <a:p>
              <a:pPr lvl="0">
                <a:defRPr/>
              </a:pPr>
              <a:r>
                <a:rPr lang="en-US" dirty="0">
                  <a:solidFill>
                    <a:prstClr val="black"/>
                  </a:solidFill>
                  <a:latin typeface="Courier New" pitchFamily="49" charset="0"/>
                  <a:cs typeface="Courier New" pitchFamily="49" charset="0"/>
                </a:rPr>
                <a:t>    C: 0.5</a:t>
              </a:r>
            </a:p>
            <a:p>
              <a:pPr lvl="0">
                <a:defRPr/>
              </a:pPr>
              <a:r>
                <a:rPr lang="en-US" dirty="0">
                  <a:solidFill>
                    <a:prstClr val="black"/>
                  </a:solidFill>
                  <a:latin typeface="Courier New" pitchFamily="49" charset="0"/>
                  <a:cs typeface="Courier New" pitchFamily="49" charset="0"/>
                </a:rPr>
                <a:t>    solver: "</a:t>
              </a:r>
              <a:r>
                <a:rPr lang="en-US" dirty="0" err="1">
                  <a:solidFill>
                    <a:prstClr val="black"/>
                  </a:solidFill>
                  <a:latin typeface="Courier New" pitchFamily="49" charset="0"/>
                  <a:cs typeface="Courier New" pitchFamily="49" charset="0"/>
                </a:rPr>
                <a:t>liblinear</a:t>
              </a:r>
              <a:r>
                <a:rPr lang="en-US" dirty="0">
                  <a:solidFill>
                    <a:prstClr val="black"/>
                  </a:solidFill>
                  <a:latin typeface="Courier New" pitchFamily="49" charset="0"/>
                  <a:cs typeface="Courier New" pitchFamily="49" charset="0"/>
                </a:rPr>
                <a:t>"</a:t>
              </a:r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C1143444-7118-513D-5536-370EB830B25C}"/>
                </a:ext>
              </a:extLst>
            </p:cNvPr>
            <p:cNvSpPr txBox="1"/>
            <p:nvPr/>
          </p:nvSpPr>
          <p:spPr>
            <a:xfrm>
              <a:off x="7289900" y="2169658"/>
              <a:ext cx="2561671" cy="338554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sz="1600" dirty="0" err="1">
                  <a:latin typeface="Courier New" panose="02070309020205020404" pitchFamily="49" charset="0"/>
                  <a:cs typeface="Courier New" panose="02070309020205020404" pitchFamily="49" charset="0"/>
                </a:rPr>
                <a:t>params.yaml</a:t>
              </a:r>
              <a:endParaRPr lang="LID4096" sz="1600" dirty="0"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</p:grpSp>
      <p:grpSp>
        <p:nvGrpSpPr>
          <p:cNvPr id="8" name="Group 7">
            <a:extLst>
              <a:ext uri="{FF2B5EF4-FFF2-40B4-BE49-F238E27FC236}">
                <a16:creationId xmlns:a16="http://schemas.microsoft.com/office/drawing/2014/main" id="{D54A1E29-76CE-6E21-C642-07925922F21C}"/>
              </a:ext>
            </a:extLst>
          </p:cNvPr>
          <p:cNvGrpSpPr/>
          <p:nvPr/>
        </p:nvGrpSpPr>
        <p:grpSpPr>
          <a:xfrm>
            <a:off x="8561314" y="1992900"/>
            <a:ext cx="3463326" cy="2331871"/>
            <a:chOff x="10116905" y="1628769"/>
            <a:chExt cx="3463326" cy="2331871"/>
          </a:xfrm>
        </p:grpSpPr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9ECA93D4-8DF8-259D-066A-E3E31C4C7001}"/>
                </a:ext>
              </a:extLst>
            </p:cNvPr>
            <p:cNvGrpSpPr/>
            <p:nvPr/>
          </p:nvGrpSpPr>
          <p:grpSpPr>
            <a:xfrm>
              <a:off x="10483358" y="1628769"/>
              <a:ext cx="3096873" cy="2149834"/>
              <a:chOff x="4394018" y="4185076"/>
              <a:chExt cx="3096873" cy="2149834"/>
            </a:xfrm>
          </p:grpSpPr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818FEAB2-37BD-8677-1513-08B56701F31A}"/>
                  </a:ext>
                </a:extLst>
              </p:cNvPr>
              <p:cNvSpPr txBox="1"/>
              <p:nvPr/>
            </p:nvSpPr>
            <p:spPr>
              <a:xfrm>
                <a:off x="4394018" y="5503913"/>
                <a:ext cx="3096873" cy="830997"/>
              </a:xfrm>
              <a:prstGeom prst="rect">
                <a:avLst/>
              </a:prstGeom>
              <a:solidFill>
                <a:schemeClr val="bg1"/>
              </a:solidFill>
              <a:ln w="19050">
                <a:solidFill>
                  <a:srgbClr val="C00000"/>
                </a:solidFill>
              </a:ln>
            </p:spPr>
            <p:txBody>
              <a:bodyPr wrap="non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ea typeface="+mn-ea"/>
                    <a:cs typeface="+mn-cs"/>
                  </a:rPr>
                  <a:t>Specify random state</a:t>
                </a:r>
                <a:br>
                  <a:rPr kumimoji="0" lang="en-US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ea typeface="+mn-ea"/>
                    <a:cs typeface="+mn-cs"/>
                  </a:rPr>
                </a:br>
                <a:r>
                  <a:rPr kumimoji="0" lang="en-US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ea typeface="+mn-ea"/>
                    <a:cs typeface="+mn-cs"/>
                  </a:rPr>
                  <a:t>          </a:t>
                </a:r>
                <a:r>
                  <a:rPr kumimoji="0" lang="en-US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ea typeface="+mn-ea"/>
                    <a:cs typeface="+mn-cs"/>
                    <a:sym typeface="Symbol" panose="05050102010706020507" pitchFamily="18" charset="2"/>
                  </a:rPr>
                  <a:t></a:t>
                </a:r>
                <a:r>
                  <a:rPr kumimoji="0" lang="en-US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ea typeface="+mn-ea"/>
                    <a:cs typeface="+mn-cs"/>
                  </a:rPr>
                  <a:t> reproducibility</a:t>
                </a:r>
                <a:endParaRPr kumimoji="0" lang="nl-BE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ea typeface="+mn-ea"/>
                  <a:cs typeface="+mn-cs"/>
                </a:endParaRPr>
              </a:p>
            </p:txBody>
          </p:sp>
          <p:cxnSp>
            <p:nvCxnSpPr>
              <p:cNvPr id="12" name="Straight Arrow Connector 11">
                <a:extLst>
                  <a:ext uri="{FF2B5EF4-FFF2-40B4-BE49-F238E27FC236}">
                    <a16:creationId xmlns:a16="http://schemas.microsoft.com/office/drawing/2014/main" id="{7CFE9841-C3A2-C615-6C8C-5BD208493057}"/>
                  </a:ext>
                </a:extLst>
              </p:cNvPr>
              <p:cNvCxnSpPr>
                <a:cxnSpLocks/>
                <a:stCxn id="11" idx="0"/>
              </p:cNvCxnSpPr>
              <p:nvPr/>
            </p:nvCxnSpPr>
            <p:spPr>
              <a:xfrm flipH="1" flipV="1">
                <a:off x="4860622" y="4185076"/>
                <a:ext cx="1081833" cy="1318837"/>
              </a:xfrm>
              <a:prstGeom prst="straightConnector1">
                <a:avLst/>
              </a:prstGeom>
              <a:ln w="28575">
                <a:solidFill>
                  <a:srgbClr val="C00000"/>
                </a:solidFill>
                <a:tailEnd type="stealth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pic>
          <p:nvPicPr>
            <p:cNvPr id="10" name="Graphic 9" descr="Thumbs up sign with solid fill">
              <a:extLst>
                <a:ext uri="{FF2B5EF4-FFF2-40B4-BE49-F238E27FC236}">
                  <a16:creationId xmlns:a16="http://schemas.microsoft.com/office/drawing/2014/main" id="{A3009238-509F-180A-C5E4-18ED1CDC8019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10116905" y="3236440"/>
              <a:ext cx="724200" cy="724200"/>
            </a:xfrm>
            <a:prstGeom prst="rect">
              <a:avLst/>
            </a:prstGeom>
          </p:spPr>
        </p:pic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16F5B079-D1A6-1E8A-8A03-1BECB95CD036}"/>
              </a:ext>
            </a:extLst>
          </p:cNvPr>
          <p:cNvGrpSpPr/>
          <p:nvPr/>
        </p:nvGrpSpPr>
        <p:grpSpPr>
          <a:xfrm>
            <a:off x="1001488" y="4328142"/>
            <a:ext cx="10689771" cy="1754328"/>
            <a:chOff x="1705237" y="2169657"/>
            <a:chExt cx="9338795" cy="1754328"/>
          </a:xfrm>
        </p:grpSpPr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4541ADEB-58B8-1160-4CB0-24C65839282D}"/>
                </a:ext>
              </a:extLst>
            </p:cNvPr>
            <p:cNvSpPr txBox="1"/>
            <p:nvPr/>
          </p:nvSpPr>
          <p:spPr>
            <a:xfrm>
              <a:off x="1705237" y="2169659"/>
              <a:ext cx="9338795" cy="1754326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lvl="0">
                <a:defRPr/>
              </a:pPr>
              <a:r>
                <a:rPr lang="en-US" dirty="0">
                  <a:solidFill>
                    <a:prstClr val="black"/>
                  </a:solidFill>
                  <a:latin typeface="Courier New" pitchFamily="49" charset="0"/>
                  <a:cs typeface="Courier New" pitchFamily="49" charset="0"/>
                  <a:sym typeface="Symbol" panose="05050102010706020507" pitchFamily="18" charset="2"/>
                </a:rPr>
                <a:t>import </a:t>
              </a:r>
              <a:r>
                <a:rPr lang="en-US" dirty="0" err="1">
                  <a:solidFill>
                    <a:prstClr val="black"/>
                  </a:solidFill>
                  <a:latin typeface="Courier New" pitchFamily="49" charset="0"/>
                  <a:cs typeface="Courier New" pitchFamily="49" charset="0"/>
                  <a:sym typeface="Symbol" panose="05050102010706020507" pitchFamily="18" charset="2"/>
                </a:rPr>
                <a:t>yaml</a:t>
              </a:r>
              <a:endParaRPr lang="en-US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  <a:sym typeface="Symbol" panose="05050102010706020507" pitchFamily="18" charset="2"/>
              </a:endParaRPr>
            </a:p>
            <a:p>
              <a:pPr lvl="0">
                <a:defRPr/>
              </a:pPr>
              <a:r>
                <a:rPr lang="en-US" dirty="0">
                  <a:solidFill>
                    <a:prstClr val="black"/>
                  </a:solidFill>
                  <a:latin typeface="Courier New" pitchFamily="49" charset="0"/>
                  <a:cs typeface="Courier New" pitchFamily="49" charset="0"/>
                  <a:sym typeface="Symbol" panose="05050102010706020507" pitchFamily="18" charset="2"/>
                </a:rPr>
                <a:t></a:t>
              </a:r>
            </a:p>
            <a:p>
              <a:pPr lvl="0">
                <a:defRPr/>
              </a:pPr>
              <a:r>
                <a:rPr lang="en-US" dirty="0">
                  <a:solidFill>
                    <a:prstClr val="black"/>
                  </a:solidFill>
                  <a:latin typeface="Courier New" pitchFamily="49" charset="0"/>
                  <a:cs typeface="Courier New" pitchFamily="49" charset="0"/>
                  <a:sym typeface="Symbol" panose="05050102010706020507" pitchFamily="18" charset="2"/>
                </a:rPr>
                <a:t>with open(</a:t>
              </a:r>
              <a:r>
                <a:rPr lang="en-US" dirty="0" err="1">
                  <a:solidFill>
                    <a:prstClr val="black"/>
                  </a:solidFill>
                  <a:latin typeface="Courier New" pitchFamily="49" charset="0"/>
                  <a:cs typeface="Courier New" pitchFamily="49" charset="0"/>
                  <a:sym typeface="Symbol" panose="05050102010706020507" pitchFamily="18" charset="2"/>
                </a:rPr>
                <a:t>args.params</a:t>
              </a:r>
              <a:r>
                <a:rPr lang="en-US" dirty="0">
                  <a:solidFill>
                    <a:prstClr val="black"/>
                  </a:solidFill>
                  <a:latin typeface="Courier New" pitchFamily="49" charset="0"/>
                  <a:cs typeface="Courier New" pitchFamily="49" charset="0"/>
                  <a:sym typeface="Symbol" panose="05050102010706020507" pitchFamily="18" charset="2"/>
                </a:rPr>
                <a:t>) as file:</a:t>
              </a:r>
            </a:p>
            <a:p>
              <a:pPr lvl="0">
                <a:defRPr/>
              </a:pPr>
              <a:r>
                <a:rPr lang="en-US" dirty="0">
                  <a:solidFill>
                    <a:prstClr val="black"/>
                  </a:solidFill>
                  <a:latin typeface="Courier New" pitchFamily="49" charset="0"/>
                  <a:cs typeface="Courier New" pitchFamily="49" charset="0"/>
                  <a:sym typeface="Symbol" panose="05050102010706020507" pitchFamily="18" charset="2"/>
                </a:rPr>
                <a:t>    params = </a:t>
              </a:r>
              <a:r>
                <a:rPr lang="en-US" dirty="0" err="1">
                  <a:solidFill>
                    <a:prstClr val="black"/>
                  </a:solidFill>
                  <a:latin typeface="Courier New" pitchFamily="49" charset="0"/>
                  <a:cs typeface="Courier New" pitchFamily="49" charset="0"/>
                  <a:sym typeface="Symbol" panose="05050102010706020507" pitchFamily="18" charset="2"/>
                </a:rPr>
                <a:t>yaml.safe_load</a:t>
              </a:r>
              <a:r>
                <a:rPr lang="en-US" dirty="0">
                  <a:solidFill>
                    <a:prstClr val="black"/>
                  </a:solidFill>
                  <a:latin typeface="Courier New" pitchFamily="49" charset="0"/>
                  <a:cs typeface="Courier New" pitchFamily="49" charset="0"/>
                  <a:sym typeface="Symbol" panose="05050102010706020507" pitchFamily="18" charset="2"/>
                </a:rPr>
                <a:t>(file)</a:t>
              </a:r>
            </a:p>
            <a:p>
              <a:pPr lvl="0">
                <a:defRPr/>
              </a:pPr>
              <a:r>
                <a:rPr lang="en-US" dirty="0">
                  <a:solidFill>
                    <a:prstClr val="black"/>
                  </a:solidFill>
                  <a:latin typeface="Courier New" pitchFamily="49" charset="0"/>
                  <a:cs typeface="Courier New" pitchFamily="49" charset="0"/>
                  <a:sym typeface="Symbol" panose="05050102010706020507" pitchFamily="18" charset="2"/>
                </a:rPr>
                <a:t></a:t>
              </a:r>
            </a:p>
            <a:p>
              <a:pPr>
                <a:defRPr/>
              </a:pPr>
              <a:r>
                <a:rPr lang="en-US" dirty="0">
                  <a:solidFill>
                    <a:prstClr val="black"/>
                  </a:solidFill>
                  <a:latin typeface="Courier New" pitchFamily="49" charset="0"/>
                  <a:cs typeface="Courier New" pitchFamily="49" charset="0"/>
                </a:rPr>
                <a:t>train, test = </a:t>
              </a:r>
              <a:r>
                <a:rPr lang="en-US" dirty="0" err="1">
                  <a:solidFill>
                    <a:prstClr val="black"/>
                  </a:solidFill>
                  <a:latin typeface="Courier New" pitchFamily="49" charset="0"/>
                  <a:cs typeface="Courier New" pitchFamily="49" charset="0"/>
                </a:rPr>
                <a:t>split_train_test</a:t>
              </a:r>
              <a:r>
                <a:rPr lang="en-US" dirty="0">
                  <a:solidFill>
                    <a:prstClr val="black"/>
                  </a:solidFill>
                  <a:latin typeface="Courier New" pitchFamily="49" charset="0"/>
                  <a:cs typeface="Courier New" pitchFamily="49" charset="0"/>
                </a:rPr>
                <a:t>(</a:t>
              </a:r>
              <a:r>
                <a:rPr lang="en-US" dirty="0">
                  <a:solidFill>
                    <a:prstClr val="black"/>
                  </a:solidFill>
                  <a:latin typeface="Courier New" pitchFamily="49" charset="0"/>
                  <a:cs typeface="Courier New" pitchFamily="49" charset="0"/>
                  <a:sym typeface="Symbol" panose="05050102010706020507" pitchFamily="18" charset="2"/>
                </a:rPr>
                <a:t></a:t>
              </a:r>
              <a:r>
                <a:rPr lang="en-US" dirty="0">
                  <a:solidFill>
                    <a:prstClr val="black"/>
                  </a:solidFill>
                  <a:latin typeface="Courier New" pitchFamily="49" charset="0"/>
                  <a:cs typeface="Courier New" pitchFamily="49" charset="0"/>
                </a:rPr>
                <a:t>, params['</a:t>
              </a:r>
              <a:r>
                <a:rPr lang="en-US" dirty="0" err="1">
                  <a:solidFill>
                    <a:prstClr val="black"/>
                  </a:solidFill>
                  <a:latin typeface="Courier New" pitchFamily="49" charset="0"/>
                  <a:cs typeface="Courier New" pitchFamily="49" charset="0"/>
                </a:rPr>
                <a:t>split_data</a:t>
              </a:r>
              <a:r>
                <a:rPr lang="en-US" dirty="0">
                  <a:solidFill>
                    <a:prstClr val="black"/>
                  </a:solidFill>
                  <a:latin typeface="Courier New" pitchFamily="49" charset="0"/>
                  <a:cs typeface="Courier New" pitchFamily="49" charset="0"/>
                </a:rPr>
                <a:t>'][</a:t>
              </a:r>
              <a:r>
                <a:rPr lang="en-US" dirty="0" err="1">
                  <a:solidFill>
                    <a:prstClr val="black"/>
                  </a:solidFill>
                  <a:latin typeface="Courier New" pitchFamily="49" charset="0"/>
                  <a:cs typeface="Courier New" pitchFamily="49" charset="0"/>
                </a:rPr>
                <a:t>random_state</a:t>
              </a:r>
              <a:r>
                <a:rPr lang="en-US" dirty="0">
                  <a:solidFill>
                    <a:prstClr val="black"/>
                  </a:solidFill>
                  <a:latin typeface="Courier New" pitchFamily="49" charset="0"/>
                  <a:cs typeface="Courier New" pitchFamily="49" charset="0"/>
                </a:rPr>
                <a:t>'],</a:t>
              </a:r>
              <a:r>
                <a:rPr lang="en-US" dirty="0">
                  <a:solidFill>
                    <a:prstClr val="black"/>
                  </a:solidFill>
                  <a:latin typeface="Courier New" pitchFamily="49" charset="0"/>
                  <a:cs typeface="Courier New" pitchFamily="49" charset="0"/>
                  <a:sym typeface="Symbol" panose="05050102010706020507" pitchFamily="18" charset="2"/>
                </a:rPr>
                <a:t> )</a:t>
              </a:r>
              <a:endParaRPr lang="en-US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endParaRPr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6DC90C7B-EAE0-D88C-7BD3-8FE7D8E43602}"/>
                </a:ext>
              </a:extLst>
            </p:cNvPr>
            <p:cNvSpPr txBox="1"/>
            <p:nvPr/>
          </p:nvSpPr>
          <p:spPr>
            <a:xfrm>
              <a:off x="9367585" y="2169657"/>
              <a:ext cx="1667360" cy="350893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sz="1600" dirty="0">
                  <a:latin typeface="Courier New" panose="02070309020205020404" pitchFamily="49" charset="0"/>
                  <a:cs typeface="Courier New" panose="02070309020205020404" pitchFamily="49" charset="0"/>
                </a:rPr>
                <a:t>split_data.py</a:t>
              </a:r>
              <a:endParaRPr lang="LID4096" sz="1600" dirty="0"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20255079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BE6D28-C71E-D4BB-0CE2-C7A1100EC0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9016C5-E91D-B148-29E5-DEBDB41A4C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Add next stage</a:t>
            </a:r>
            <a:endParaRPr lang="LID4096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0B970A8-F490-B93F-C6EC-3C6A0273C1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7CE217-4467-4B8D-A735-B008FA7C4816}" type="slidenum">
              <a:rPr lang="LID4096" smtClean="0"/>
              <a:t>25</a:t>
            </a:fld>
            <a:endParaRPr lang="LID4096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FF9531C-E21F-D2C6-220D-53DC82F871F6}"/>
              </a:ext>
            </a:extLst>
          </p:cNvPr>
          <p:cNvSpPr txBox="1"/>
          <p:nvPr/>
        </p:nvSpPr>
        <p:spPr>
          <a:xfrm>
            <a:off x="838200" y="1690688"/>
            <a:ext cx="8663321" cy="2308324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b="1" dirty="0" err="1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dvc</a:t>
            </a:r>
            <a:r>
              <a:rPr lang="en-US" b="1" dirty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 stage add --name </a:t>
            </a:r>
            <a:r>
              <a:rPr lang="en-US" b="1" dirty="0" err="1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train_preprocessor</a:t>
            </a:r>
            <a:r>
              <a:rPr lang="en-US" b="1" dirty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 \</a:t>
            </a:r>
          </a:p>
          <a:p>
            <a:r>
              <a:rPr lang="en-US" b="1" dirty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    --deps data/</a:t>
            </a:r>
            <a:r>
              <a:rPr lang="en-US" b="1" dirty="0" err="1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split_data</a:t>
            </a:r>
            <a:r>
              <a:rPr lang="en-US" b="1" dirty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/train.csv \</a:t>
            </a:r>
          </a:p>
          <a:p>
            <a:r>
              <a:rPr lang="en-US" b="1" dirty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    --deps src/train_preprocessor.py --deps src/utils.py \</a:t>
            </a:r>
          </a:p>
          <a:p>
            <a:r>
              <a:rPr lang="en-US" b="1" dirty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    --outs ./</a:t>
            </a:r>
            <a:r>
              <a:rPr lang="en-US" b="1" dirty="0" err="1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preprocessor.pkl</a:t>
            </a:r>
            <a:r>
              <a:rPr lang="en-US" b="1" dirty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 \</a:t>
            </a:r>
          </a:p>
          <a:p>
            <a:r>
              <a:rPr lang="en-US" b="1" dirty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    python src/train_preprocessor.py \</a:t>
            </a:r>
          </a:p>
          <a:p>
            <a:r>
              <a:rPr lang="en-US" b="1" dirty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        --data data/</a:t>
            </a:r>
            <a:r>
              <a:rPr lang="en-US" b="1" dirty="0" err="1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split_data</a:t>
            </a:r>
            <a:r>
              <a:rPr lang="en-US" b="1" dirty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/train.csv \</a:t>
            </a:r>
          </a:p>
          <a:p>
            <a:r>
              <a:rPr lang="en-US" b="1" dirty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        --output </a:t>
            </a:r>
            <a:r>
              <a:rPr lang="en-US" b="1" dirty="0" err="1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preprocessor.pkl</a:t>
            </a:r>
            <a:endParaRPr lang="en-US" b="1" dirty="0">
              <a:solidFill>
                <a:schemeClr val="bg1"/>
              </a:solidFill>
              <a:latin typeface="Courier New" pitchFamily="49" charset="0"/>
              <a:cs typeface="Courier New" pitchFamily="49" charset="0"/>
            </a:endParaRPr>
          </a:p>
          <a:p>
            <a:r>
              <a:rPr lang="en-US" b="1" dirty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git commit -m 'Add </a:t>
            </a:r>
            <a:r>
              <a:rPr lang="en-US" b="1" dirty="0" err="1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train_preprocessor</a:t>
            </a:r>
            <a:r>
              <a:rPr lang="en-US" b="1" dirty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 stage'</a:t>
            </a:r>
            <a:endParaRPr lang="nl-BE" b="1" dirty="0">
              <a:solidFill>
                <a:schemeClr val="bg1"/>
              </a:solidFill>
              <a:latin typeface="Courier New" pitchFamily="49" charset="0"/>
              <a:cs typeface="Courier New" pitchFamily="49" charset="0"/>
            </a:endParaRP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0A2CD752-B7F6-6633-6B0F-B21A1EDB637C}"/>
              </a:ext>
            </a:extLst>
          </p:cNvPr>
          <p:cNvGrpSpPr/>
          <p:nvPr/>
        </p:nvGrpSpPr>
        <p:grpSpPr>
          <a:xfrm>
            <a:off x="5556966" y="495761"/>
            <a:ext cx="2944777" cy="1250898"/>
            <a:chOff x="88563" y="5501785"/>
            <a:chExt cx="4636260" cy="1135701"/>
          </a:xfrm>
        </p:grpSpPr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1DD68C12-495C-2E46-287C-BA342296D55D}"/>
                </a:ext>
              </a:extLst>
            </p:cNvPr>
            <p:cNvSpPr txBox="1"/>
            <p:nvPr/>
          </p:nvSpPr>
          <p:spPr>
            <a:xfrm>
              <a:off x="2083559" y="5501785"/>
              <a:ext cx="2641264" cy="335320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rgbClr val="C00000"/>
              </a:solidFill>
            </a:ln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ea typeface="+mn-ea"/>
                  <a:cs typeface="+mn-cs"/>
                </a:rPr>
                <a:t>Name of stage</a:t>
              </a:r>
              <a:endParaRPr kumimoji="0" lang="nl-BE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cxnSp>
          <p:nvCxnSpPr>
            <p:cNvPr id="8" name="Straight Arrow Connector 7">
              <a:extLst>
                <a:ext uri="{FF2B5EF4-FFF2-40B4-BE49-F238E27FC236}">
                  <a16:creationId xmlns:a16="http://schemas.microsoft.com/office/drawing/2014/main" id="{1B6E9C6A-71F7-2C0A-B232-CEC11D355812}"/>
                </a:ext>
              </a:extLst>
            </p:cNvPr>
            <p:cNvCxnSpPr>
              <a:cxnSpLocks/>
              <a:stCxn id="7" idx="1"/>
            </p:cNvCxnSpPr>
            <p:nvPr/>
          </p:nvCxnSpPr>
          <p:spPr>
            <a:xfrm flipH="1">
              <a:off x="88563" y="5669445"/>
              <a:ext cx="1994996" cy="968041"/>
            </a:xfrm>
            <a:prstGeom prst="straightConnector1">
              <a:avLst/>
            </a:prstGeom>
            <a:ln w="28575">
              <a:solidFill>
                <a:srgbClr val="C00000"/>
              </a:solidFill>
              <a:tailEnd type="stealth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0" name="Group 9">
            <a:extLst>
              <a:ext uri="{FF2B5EF4-FFF2-40B4-BE49-F238E27FC236}">
                <a16:creationId xmlns:a16="http://schemas.microsoft.com/office/drawing/2014/main" id="{94D507A6-2CD3-EA6E-A7A3-4DE7C355285C}"/>
              </a:ext>
            </a:extLst>
          </p:cNvPr>
          <p:cNvGrpSpPr/>
          <p:nvPr/>
        </p:nvGrpSpPr>
        <p:grpSpPr>
          <a:xfrm>
            <a:off x="6215743" y="495762"/>
            <a:ext cx="5731622" cy="1665246"/>
            <a:chOff x="-2114418" y="5231850"/>
            <a:chExt cx="7898581" cy="1883180"/>
          </a:xfrm>
        </p:grpSpPr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F142154F-6244-D388-072C-551086D5C7D7}"/>
                </a:ext>
              </a:extLst>
            </p:cNvPr>
            <p:cNvSpPr txBox="1"/>
            <p:nvPr/>
          </p:nvSpPr>
          <p:spPr>
            <a:xfrm>
              <a:off x="2083559" y="5231850"/>
              <a:ext cx="3700604" cy="1044168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rgbClr val="C00000"/>
              </a:solidFill>
            </a:ln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ea typeface="+mn-ea"/>
                  <a:cs typeface="+mn-cs"/>
                </a:rPr>
                <a:t>Data dependency</a:t>
              </a:r>
            </a:p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dirty="0">
                  <a:solidFill>
                    <a:prstClr val="black"/>
                  </a:solidFill>
                </a:rPr>
                <a:t>= output of </a:t>
              </a:r>
              <a:r>
                <a:rPr lang="en-US" dirty="0" err="1">
                  <a:solidFill>
                    <a:prstClr val="black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split_data</a:t>
              </a:r>
              <a:endParaRPr lang="en-US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endParaRPr>
            </a:p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dirty="0">
                  <a:solidFill>
                    <a:prstClr val="black"/>
                  </a:solidFill>
                </a:rPr>
                <a:t>    stage</a:t>
              </a:r>
              <a:endParaRPr kumimoji="0" lang="nl-BE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cs typeface="Courier New" panose="02070309020205020404" pitchFamily="49" charset="0"/>
              </a:endParaRPr>
            </a:p>
          </p:txBody>
        </p:sp>
        <p:cxnSp>
          <p:nvCxnSpPr>
            <p:cNvPr id="12" name="Straight Arrow Connector 11">
              <a:extLst>
                <a:ext uri="{FF2B5EF4-FFF2-40B4-BE49-F238E27FC236}">
                  <a16:creationId xmlns:a16="http://schemas.microsoft.com/office/drawing/2014/main" id="{BB57895C-ACCE-A7FC-3DEB-F6D1461AB88D}"/>
                </a:ext>
              </a:extLst>
            </p:cNvPr>
            <p:cNvCxnSpPr>
              <a:cxnSpLocks/>
              <a:stCxn id="11" idx="1"/>
            </p:cNvCxnSpPr>
            <p:nvPr/>
          </p:nvCxnSpPr>
          <p:spPr>
            <a:xfrm flipH="1">
              <a:off x="-2114418" y="5753934"/>
              <a:ext cx="4197977" cy="1361096"/>
            </a:xfrm>
            <a:prstGeom prst="straightConnector1">
              <a:avLst/>
            </a:prstGeom>
            <a:ln w="28575">
              <a:solidFill>
                <a:srgbClr val="C00000"/>
              </a:solidFill>
              <a:tailEnd type="stealth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2" name="Group 21">
            <a:extLst>
              <a:ext uri="{FF2B5EF4-FFF2-40B4-BE49-F238E27FC236}">
                <a16:creationId xmlns:a16="http://schemas.microsoft.com/office/drawing/2014/main" id="{DD02EC9A-A69D-AFBA-D27C-46D61B4DB004}"/>
              </a:ext>
            </a:extLst>
          </p:cNvPr>
          <p:cNvGrpSpPr/>
          <p:nvPr/>
        </p:nvGrpSpPr>
        <p:grpSpPr>
          <a:xfrm>
            <a:off x="5567132" y="2641059"/>
            <a:ext cx="5173483" cy="971126"/>
            <a:chOff x="-2932660" y="4821233"/>
            <a:chExt cx="7129427" cy="1098219"/>
          </a:xfrm>
        </p:grpSpPr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681325A2-E418-B088-F04C-37227B033EE2}"/>
                </a:ext>
              </a:extLst>
            </p:cNvPr>
            <p:cNvSpPr txBox="1"/>
            <p:nvPr/>
          </p:nvSpPr>
          <p:spPr>
            <a:xfrm>
              <a:off x="2083561" y="5501785"/>
              <a:ext cx="2113206" cy="417667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rgbClr val="C00000"/>
              </a:solidFill>
            </a:ln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ea typeface="+mn-ea"/>
                  <a:cs typeface="+mn-cs"/>
                </a:rPr>
                <a:t>Output files</a:t>
              </a:r>
              <a:endParaRPr kumimoji="0" lang="nl-BE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cxnSp>
          <p:nvCxnSpPr>
            <p:cNvPr id="24" name="Straight Arrow Connector 23">
              <a:extLst>
                <a:ext uri="{FF2B5EF4-FFF2-40B4-BE49-F238E27FC236}">
                  <a16:creationId xmlns:a16="http://schemas.microsoft.com/office/drawing/2014/main" id="{56329D55-7BE5-B759-88F3-9A757500A0A8}"/>
                </a:ext>
              </a:extLst>
            </p:cNvPr>
            <p:cNvCxnSpPr>
              <a:cxnSpLocks/>
              <a:stCxn id="23" idx="1"/>
            </p:cNvCxnSpPr>
            <p:nvPr/>
          </p:nvCxnSpPr>
          <p:spPr>
            <a:xfrm flipH="1" flipV="1">
              <a:off x="-2932660" y="4821233"/>
              <a:ext cx="5016221" cy="889385"/>
            </a:xfrm>
            <a:prstGeom prst="straightConnector1">
              <a:avLst/>
            </a:prstGeom>
            <a:ln w="28575">
              <a:solidFill>
                <a:srgbClr val="C00000"/>
              </a:solidFill>
              <a:tailEnd type="stealth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0" name="Group 29">
            <a:extLst>
              <a:ext uri="{FF2B5EF4-FFF2-40B4-BE49-F238E27FC236}">
                <a16:creationId xmlns:a16="http://schemas.microsoft.com/office/drawing/2014/main" id="{5124FBD2-17EF-CFF7-D7A3-51E276629AE8}"/>
              </a:ext>
            </a:extLst>
          </p:cNvPr>
          <p:cNvGrpSpPr/>
          <p:nvPr/>
        </p:nvGrpSpPr>
        <p:grpSpPr>
          <a:xfrm>
            <a:off x="6890657" y="3382975"/>
            <a:ext cx="3849958" cy="1293382"/>
            <a:chOff x="-1164266" y="4770052"/>
            <a:chExt cx="5305515" cy="1462651"/>
          </a:xfrm>
        </p:grpSpPr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963ED7F5-1FDE-0CED-0B2D-28FEB0E155EB}"/>
                </a:ext>
              </a:extLst>
            </p:cNvPr>
            <p:cNvSpPr txBox="1"/>
            <p:nvPr/>
          </p:nvSpPr>
          <p:spPr>
            <a:xfrm>
              <a:off x="2083561" y="5501785"/>
              <a:ext cx="2057688" cy="730918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rgbClr val="C00000"/>
              </a:solidFill>
            </a:ln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ea typeface="+mn-ea"/>
                  <a:cs typeface="+mn-cs"/>
                </a:rPr>
                <a:t>Command to</a:t>
              </a:r>
              <a:b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ea typeface="+mn-ea"/>
                  <a:cs typeface="+mn-cs"/>
                </a:rPr>
              </a:b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ea typeface="+mn-ea"/>
                  <a:cs typeface="+mn-cs"/>
                </a:rPr>
                <a:t>execute</a:t>
              </a:r>
              <a:endParaRPr kumimoji="0" lang="nl-BE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cxnSp>
          <p:nvCxnSpPr>
            <p:cNvPr id="32" name="Straight Arrow Connector 31">
              <a:extLst>
                <a:ext uri="{FF2B5EF4-FFF2-40B4-BE49-F238E27FC236}">
                  <a16:creationId xmlns:a16="http://schemas.microsoft.com/office/drawing/2014/main" id="{F79923C3-1D0B-E7B8-CCD4-B5691F3419D4}"/>
                </a:ext>
              </a:extLst>
            </p:cNvPr>
            <p:cNvCxnSpPr>
              <a:cxnSpLocks/>
              <a:stCxn id="31" idx="1"/>
            </p:cNvCxnSpPr>
            <p:nvPr/>
          </p:nvCxnSpPr>
          <p:spPr>
            <a:xfrm flipH="1" flipV="1">
              <a:off x="-1164266" y="4770052"/>
              <a:ext cx="3247826" cy="1097192"/>
            </a:xfrm>
            <a:prstGeom prst="straightConnector1">
              <a:avLst/>
            </a:prstGeom>
            <a:ln w="28575">
              <a:solidFill>
                <a:srgbClr val="C00000"/>
              </a:solidFill>
              <a:tailEnd type="stealth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7" name="TextBox 36">
            <a:extLst>
              <a:ext uri="{FF2B5EF4-FFF2-40B4-BE49-F238E27FC236}">
                <a16:creationId xmlns:a16="http://schemas.microsoft.com/office/drawing/2014/main" id="{E9DD0C6A-B0AB-BD6C-A421-9FFF9295A777}"/>
              </a:ext>
            </a:extLst>
          </p:cNvPr>
          <p:cNvSpPr txBox="1"/>
          <p:nvPr/>
        </p:nvSpPr>
        <p:spPr>
          <a:xfrm>
            <a:off x="5690404" y="4905147"/>
            <a:ext cx="6190156" cy="46166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dvc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stage add</a:t>
            </a:r>
            <a:r>
              <a:rPr lang="en-US" sz="2400" dirty="0"/>
              <a:t> updates </a:t>
            </a:r>
            <a:r>
              <a:rPr lang="en-US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dvc.yaml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file</a:t>
            </a:r>
            <a:endParaRPr lang="LID4096" sz="2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grpSp>
        <p:nvGrpSpPr>
          <p:cNvPr id="48" name="Group 47">
            <a:extLst>
              <a:ext uri="{FF2B5EF4-FFF2-40B4-BE49-F238E27FC236}">
                <a16:creationId xmlns:a16="http://schemas.microsoft.com/office/drawing/2014/main" id="{1A9E21AB-72E5-EE1C-DB0C-1246FFBC9278}"/>
              </a:ext>
            </a:extLst>
          </p:cNvPr>
          <p:cNvGrpSpPr/>
          <p:nvPr/>
        </p:nvGrpSpPr>
        <p:grpSpPr>
          <a:xfrm>
            <a:off x="2227559" y="4030027"/>
            <a:ext cx="3462845" cy="1137286"/>
            <a:chOff x="2227559" y="4487226"/>
            <a:chExt cx="3988184" cy="1164027"/>
          </a:xfrm>
        </p:grpSpPr>
        <p:grpSp>
          <p:nvGrpSpPr>
            <p:cNvPr id="39" name="Group 38">
              <a:extLst>
                <a:ext uri="{FF2B5EF4-FFF2-40B4-BE49-F238E27FC236}">
                  <a16:creationId xmlns:a16="http://schemas.microsoft.com/office/drawing/2014/main" id="{4309441D-73A1-0A6D-86EE-9DF69F9E8E4E}"/>
                </a:ext>
              </a:extLst>
            </p:cNvPr>
            <p:cNvGrpSpPr/>
            <p:nvPr/>
          </p:nvGrpSpPr>
          <p:grpSpPr>
            <a:xfrm>
              <a:off x="2227559" y="4487226"/>
              <a:ext cx="2428998" cy="1164027"/>
              <a:chOff x="2083561" y="4603086"/>
              <a:chExt cx="3347331" cy="1316366"/>
            </a:xfrm>
          </p:grpSpPr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68978E8A-7F94-B575-B818-22621E720D7B}"/>
                  </a:ext>
                </a:extLst>
              </p:cNvPr>
              <p:cNvSpPr txBox="1"/>
              <p:nvPr/>
            </p:nvSpPr>
            <p:spPr>
              <a:xfrm>
                <a:off x="2083561" y="5501785"/>
                <a:ext cx="3347331" cy="417667"/>
              </a:xfrm>
              <a:prstGeom prst="rect">
                <a:avLst/>
              </a:prstGeom>
              <a:solidFill>
                <a:schemeClr val="bg1"/>
              </a:solidFill>
              <a:ln w="19050">
                <a:solidFill>
                  <a:srgbClr val="C00000"/>
                </a:solidFill>
              </a:ln>
            </p:spPr>
            <p:txBody>
              <a:bodyPr wrap="non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ea typeface="+mn-ea"/>
                    <a:cs typeface="+mn-cs"/>
                  </a:rPr>
                  <a:t>Version  control stages</a:t>
                </a:r>
                <a:endParaRPr kumimoji="0" lang="nl-BE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ourier New" panose="02070309020205020404" pitchFamily="49" charset="0"/>
                  <a:cs typeface="Courier New" panose="02070309020205020404" pitchFamily="49" charset="0"/>
                </a:endParaRPr>
              </a:p>
            </p:txBody>
          </p:sp>
          <p:cxnSp>
            <p:nvCxnSpPr>
              <p:cNvPr id="41" name="Straight Arrow Connector 40">
                <a:extLst>
                  <a:ext uri="{FF2B5EF4-FFF2-40B4-BE49-F238E27FC236}">
                    <a16:creationId xmlns:a16="http://schemas.microsoft.com/office/drawing/2014/main" id="{0FC4D520-0584-1C8C-54E0-8EDD93CF1769}"/>
                  </a:ext>
                </a:extLst>
              </p:cNvPr>
              <p:cNvCxnSpPr>
                <a:cxnSpLocks/>
                <a:stCxn id="40" idx="0"/>
              </p:cNvCxnSpPr>
              <p:nvPr/>
            </p:nvCxnSpPr>
            <p:spPr>
              <a:xfrm flipH="1" flipV="1">
                <a:off x="2083561" y="4603086"/>
                <a:ext cx="1673666" cy="898699"/>
              </a:xfrm>
              <a:prstGeom prst="straightConnector1">
                <a:avLst/>
              </a:prstGeom>
              <a:ln w="28575">
                <a:solidFill>
                  <a:srgbClr val="C00000"/>
                </a:solidFill>
                <a:tailEnd type="stealth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44" name="Straight Arrow Connector 43">
              <a:extLst>
                <a:ext uri="{FF2B5EF4-FFF2-40B4-BE49-F238E27FC236}">
                  <a16:creationId xmlns:a16="http://schemas.microsoft.com/office/drawing/2014/main" id="{340E06C2-6B76-0DA5-F17F-C01CEBD46CBF}"/>
                </a:ext>
              </a:extLst>
            </p:cNvPr>
            <p:cNvCxnSpPr>
              <a:cxnSpLocks/>
              <a:stCxn id="40" idx="3"/>
            </p:cNvCxnSpPr>
            <p:nvPr/>
          </p:nvCxnSpPr>
          <p:spPr>
            <a:xfrm>
              <a:off x="4656557" y="5466587"/>
              <a:ext cx="1559186" cy="184666"/>
            </a:xfrm>
            <a:prstGeom prst="straightConnector1">
              <a:avLst/>
            </a:prstGeom>
            <a:ln w="28575">
              <a:solidFill>
                <a:srgbClr val="C00000"/>
              </a:solidFill>
              <a:tailEnd type="stealth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9" name="Group 8">
            <a:extLst>
              <a:ext uri="{FF2B5EF4-FFF2-40B4-BE49-F238E27FC236}">
                <a16:creationId xmlns:a16="http://schemas.microsoft.com/office/drawing/2014/main" id="{858278FD-0E33-094B-1BF0-48EF880682E0}"/>
              </a:ext>
            </a:extLst>
          </p:cNvPr>
          <p:cNvGrpSpPr/>
          <p:nvPr/>
        </p:nvGrpSpPr>
        <p:grpSpPr>
          <a:xfrm>
            <a:off x="8859559" y="1838993"/>
            <a:ext cx="3087806" cy="465381"/>
            <a:chOff x="844142" y="5501785"/>
            <a:chExt cx="4255216" cy="526287"/>
          </a:xfrm>
        </p:grpSpPr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858E7A19-F563-11E4-B11F-C4F9E1B763AE}"/>
                </a:ext>
              </a:extLst>
            </p:cNvPr>
            <p:cNvSpPr txBox="1"/>
            <p:nvPr/>
          </p:nvSpPr>
          <p:spPr>
            <a:xfrm>
              <a:off x="2083560" y="5501785"/>
              <a:ext cx="3015798" cy="417667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rgbClr val="C00000"/>
              </a:solidFill>
            </a:ln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ea typeface="+mn-ea"/>
                  <a:cs typeface="+mn-cs"/>
                </a:rPr>
                <a:t>Code dependencies</a:t>
              </a:r>
              <a:endParaRPr kumimoji="0" lang="nl-BE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cxnSp>
          <p:nvCxnSpPr>
            <p:cNvPr id="20" name="Straight Arrow Connector 19">
              <a:extLst>
                <a:ext uri="{FF2B5EF4-FFF2-40B4-BE49-F238E27FC236}">
                  <a16:creationId xmlns:a16="http://schemas.microsoft.com/office/drawing/2014/main" id="{A17A0DC9-58B9-EEE8-8C2A-A7414FB932DD}"/>
                </a:ext>
              </a:extLst>
            </p:cNvPr>
            <p:cNvCxnSpPr>
              <a:cxnSpLocks/>
              <a:stCxn id="13" idx="1"/>
            </p:cNvCxnSpPr>
            <p:nvPr/>
          </p:nvCxnSpPr>
          <p:spPr>
            <a:xfrm flipH="1">
              <a:off x="844142" y="5710619"/>
              <a:ext cx="1239418" cy="317453"/>
            </a:xfrm>
            <a:prstGeom prst="straightConnector1">
              <a:avLst/>
            </a:prstGeom>
            <a:ln w="28575">
              <a:solidFill>
                <a:srgbClr val="C00000"/>
              </a:solidFill>
              <a:tailEnd type="stealth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4" name="TextBox 33">
            <a:extLst>
              <a:ext uri="{FF2B5EF4-FFF2-40B4-BE49-F238E27FC236}">
                <a16:creationId xmlns:a16="http://schemas.microsoft.com/office/drawing/2014/main" id="{E819CE55-1635-9A90-A65F-938B06C1F884}"/>
              </a:ext>
            </a:extLst>
          </p:cNvPr>
          <p:cNvSpPr txBox="1"/>
          <p:nvPr/>
        </p:nvSpPr>
        <p:spPr>
          <a:xfrm>
            <a:off x="1578429" y="5646154"/>
            <a:ext cx="8600624" cy="95410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sz="2800" dirty="0"/>
              <a:t>To modify existing stage, use:  </a:t>
            </a:r>
            <a:r>
              <a:rPr lang="en-US" sz="2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dvc</a:t>
            </a:r>
            <a:r>
              <a:rPr lang="en-US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 add --force </a:t>
            </a:r>
            <a:r>
              <a:rPr lang="en-US" sz="2800" dirty="0">
                <a:latin typeface="Courier New" panose="02070309020205020404" pitchFamily="49" charset="0"/>
                <a:cs typeface="Courier New" panose="02070309020205020404" pitchFamily="49" charset="0"/>
                <a:sym typeface="Symbol" panose="05050102010706020507" pitchFamily="18" charset="2"/>
              </a:rPr>
              <a:t></a:t>
            </a:r>
          </a:p>
          <a:p>
            <a:r>
              <a:rPr lang="en-US" sz="2800" dirty="0">
                <a:cs typeface="Courier New" panose="02070309020205020404" pitchFamily="49" charset="0"/>
                <a:sym typeface="Symbol" panose="05050102010706020507" pitchFamily="18" charset="2"/>
              </a:rPr>
              <a:t>To remove stage, use: </a:t>
            </a:r>
            <a:r>
              <a:rPr lang="en-US" sz="2800" dirty="0" err="1">
                <a:latin typeface="Courier New" panose="02070309020205020404" pitchFamily="49" charset="0"/>
                <a:cs typeface="Courier New" panose="02070309020205020404" pitchFamily="49" charset="0"/>
                <a:sym typeface="Symbol" panose="05050102010706020507" pitchFamily="18" charset="2"/>
              </a:rPr>
              <a:t>dvc</a:t>
            </a:r>
            <a:r>
              <a:rPr lang="en-US" sz="2800" dirty="0">
                <a:latin typeface="Courier New" panose="02070309020205020404" pitchFamily="49" charset="0"/>
                <a:cs typeface="Courier New" panose="02070309020205020404" pitchFamily="49" charset="0"/>
                <a:sym typeface="Symbol" panose="05050102010706020507" pitchFamily="18" charset="2"/>
              </a:rPr>
              <a:t> remove </a:t>
            </a:r>
            <a:endParaRPr lang="LID4096" sz="28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974553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F9725C-83F4-E819-0656-F3B511851A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2D09EE-E3A8-8E77-4B73-8872CE5076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Metrics</a:t>
            </a:r>
            <a:endParaRPr lang="LID4096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EA0FF64-F953-8AB3-23CB-C47B9C7C64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7CE217-4467-4B8D-A735-B008FA7C4816}" type="slidenum">
              <a:rPr lang="LID4096" smtClean="0"/>
              <a:t>26</a:t>
            </a:fld>
            <a:endParaRPr lang="LID4096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879DDE7-F4C6-6356-A381-CF105368292F}"/>
              </a:ext>
            </a:extLst>
          </p:cNvPr>
          <p:cNvSpPr txBox="1"/>
          <p:nvPr/>
        </p:nvSpPr>
        <p:spPr>
          <a:xfrm>
            <a:off x="772885" y="2615974"/>
            <a:ext cx="8663321" cy="2862322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b="1" dirty="0" err="1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dvc</a:t>
            </a:r>
            <a:r>
              <a:rPr lang="en-US" b="1" dirty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 stage add --name </a:t>
            </a:r>
            <a:r>
              <a:rPr lang="en-US" b="1" dirty="0" err="1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compute_metrics_train</a:t>
            </a:r>
            <a:r>
              <a:rPr lang="en-US" b="1" dirty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 \</a:t>
            </a:r>
          </a:p>
          <a:p>
            <a:r>
              <a:rPr lang="en-US" b="1" dirty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    --deps data/preprocessed/train.csv \</a:t>
            </a:r>
          </a:p>
          <a:p>
            <a:r>
              <a:rPr lang="en-US" b="1" dirty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    --deps </a:t>
            </a:r>
            <a:r>
              <a:rPr lang="en-US" b="1" dirty="0" err="1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model.pkl</a:t>
            </a:r>
            <a:r>
              <a:rPr lang="en-US" b="1" dirty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 \</a:t>
            </a:r>
          </a:p>
          <a:p>
            <a:r>
              <a:rPr lang="en-US" b="1" dirty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    --deps src/compute_metrics.py --deps src/utils.py \</a:t>
            </a:r>
          </a:p>
          <a:p>
            <a:r>
              <a:rPr lang="en-US" b="1" dirty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    --metrics metrics/</a:t>
            </a:r>
            <a:r>
              <a:rPr lang="en-US" b="1" dirty="0" err="1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train.yaml</a:t>
            </a:r>
            <a:r>
              <a:rPr lang="en-US" b="1" dirty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 \</a:t>
            </a:r>
          </a:p>
          <a:p>
            <a:r>
              <a:rPr lang="en-US" b="1" dirty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    python src/compute_metrics.py \</a:t>
            </a:r>
          </a:p>
          <a:p>
            <a:r>
              <a:rPr lang="en-US" b="1" dirty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        --data data/preprocessed/train.csv \</a:t>
            </a:r>
          </a:p>
          <a:p>
            <a:r>
              <a:rPr lang="en-US" b="1" dirty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        --model </a:t>
            </a:r>
            <a:r>
              <a:rPr lang="en-US" b="1" dirty="0" err="1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model.pkl</a:t>
            </a:r>
            <a:r>
              <a:rPr lang="en-US" b="1" dirty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 \</a:t>
            </a:r>
          </a:p>
          <a:p>
            <a:r>
              <a:rPr lang="en-US" b="1" dirty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        --output metrics/</a:t>
            </a:r>
            <a:r>
              <a:rPr lang="en-US" b="1" dirty="0" err="1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train.yaml</a:t>
            </a:r>
            <a:endParaRPr lang="en-US" b="1" dirty="0">
              <a:solidFill>
                <a:schemeClr val="bg1"/>
              </a:solidFill>
              <a:latin typeface="Courier New" pitchFamily="49" charset="0"/>
              <a:cs typeface="Courier New" pitchFamily="49" charset="0"/>
            </a:endParaRPr>
          </a:p>
          <a:p>
            <a:r>
              <a:rPr lang="en-US" b="1" dirty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git commit -m 'Add </a:t>
            </a:r>
            <a:r>
              <a:rPr lang="en-US" b="1" dirty="0" err="1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compute_metrics_train</a:t>
            </a:r>
            <a:r>
              <a:rPr lang="en-US" b="1" dirty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 stage'</a:t>
            </a:r>
            <a:endParaRPr lang="nl-BE" b="1" dirty="0">
              <a:solidFill>
                <a:schemeClr val="bg1"/>
              </a:solidFill>
              <a:latin typeface="Courier New" pitchFamily="49" charset="0"/>
              <a:cs typeface="Courier New" pitchFamily="49" charset="0"/>
            </a:endParaRP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73BFFF61-FDAB-9B17-3683-356F89F5F4FC}"/>
              </a:ext>
            </a:extLst>
          </p:cNvPr>
          <p:cNvGrpSpPr/>
          <p:nvPr/>
        </p:nvGrpSpPr>
        <p:grpSpPr>
          <a:xfrm>
            <a:off x="5491651" y="1279533"/>
            <a:ext cx="2944777" cy="1250898"/>
            <a:chOff x="88563" y="5501785"/>
            <a:chExt cx="4636260" cy="1135701"/>
          </a:xfrm>
        </p:grpSpPr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1AACE3F9-E8F9-BBE2-21FD-90FF60295696}"/>
                </a:ext>
              </a:extLst>
            </p:cNvPr>
            <p:cNvSpPr txBox="1"/>
            <p:nvPr/>
          </p:nvSpPr>
          <p:spPr>
            <a:xfrm>
              <a:off x="2083559" y="5501785"/>
              <a:ext cx="2641264" cy="335320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rgbClr val="C00000"/>
              </a:solidFill>
            </a:ln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ea typeface="+mn-ea"/>
                  <a:cs typeface="+mn-cs"/>
                </a:rPr>
                <a:t>Name of stage</a:t>
              </a:r>
              <a:endParaRPr kumimoji="0" lang="nl-BE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cxnSp>
          <p:nvCxnSpPr>
            <p:cNvPr id="8" name="Straight Arrow Connector 7">
              <a:extLst>
                <a:ext uri="{FF2B5EF4-FFF2-40B4-BE49-F238E27FC236}">
                  <a16:creationId xmlns:a16="http://schemas.microsoft.com/office/drawing/2014/main" id="{3BF12E67-A89E-7DCD-4A32-57D3260FF0CC}"/>
                </a:ext>
              </a:extLst>
            </p:cNvPr>
            <p:cNvCxnSpPr>
              <a:cxnSpLocks/>
              <a:stCxn id="7" idx="1"/>
            </p:cNvCxnSpPr>
            <p:nvPr/>
          </p:nvCxnSpPr>
          <p:spPr>
            <a:xfrm flipH="1">
              <a:off x="88563" y="5669445"/>
              <a:ext cx="1994996" cy="968041"/>
            </a:xfrm>
            <a:prstGeom prst="straightConnector1">
              <a:avLst/>
            </a:prstGeom>
            <a:ln w="28575">
              <a:solidFill>
                <a:srgbClr val="C00000"/>
              </a:solidFill>
              <a:tailEnd type="stealth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2" name="Group 21">
            <a:extLst>
              <a:ext uri="{FF2B5EF4-FFF2-40B4-BE49-F238E27FC236}">
                <a16:creationId xmlns:a16="http://schemas.microsoft.com/office/drawing/2014/main" id="{28241EB3-E2C0-695F-D9DB-099C857929C9}"/>
              </a:ext>
            </a:extLst>
          </p:cNvPr>
          <p:cNvGrpSpPr/>
          <p:nvPr/>
        </p:nvGrpSpPr>
        <p:grpSpPr>
          <a:xfrm>
            <a:off x="5491651" y="3907970"/>
            <a:ext cx="5183649" cy="629499"/>
            <a:chOff x="-2946669" y="5207569"/>
            <a:chExt cx="7143436" cy="711883"/>
          </a:xfrm>
        </p:grpSpPr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961B2204-42F8-8CF7-B191-EEC03B002B69}"/>
                </a:ext>
              </a:extLst>
            </p:cNvPr>
            <p:cNvSpPr txBox="1"/>
            <p:nvPr/>
          </p:nvSpPr>
          <p:spPr>
            <a:xfrm>
              <a:off x="2083561" y="5501785"/>
              <a:ext cx="2113206" cy="417667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rgbClr val="C00000"/>
              </a:solidFill>
            </a:ln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nl-BE" sz="18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cs typeface="Courier New" panose="02070309020205020404" pitchFamily="49" charset="0"/>
                </a:rPr>
                <a:t>Metric</a:t>
              </a:r>
              <a:r>
                <a:rPr kumimoji="0" lang="nl-BE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cs typeface="Courier New" panose="02070309020205020404" pitchFamily="49" charset="0"/>
                </a:rPr>
                <a:t> file</a:t>
              </a:r>
            </a:p>
          </p:txBody>
        </p:sp>
        <p:cxnSp>
          <p:nvCxnSpPr>
            <p:cNvPr id="24" name="Straight Arrow Connector 23">
              <a:extLst>
                <a:ext uri="{FF2B5EF4-FFF2-40B4-BE49-F238E27FC236}">
                  <a16:creationId xmlns:a16="http://schemas.microsoft.com/office/drawing/2014/main" id="{89B7171A-BCCF-D301-793C-0E9F62321E59}"/>
                </a:ext>
              </a:extLst>
            </p:cNvPr>
            <p:cNvCxnSpPr>
              <a:cxnSpLocks/>
              <a:stCxn id="23" idx="1"/>
            </p:cNvCxnSpPr>
            <p:nvPr/>
          </p:nvCxnSpPr>
          <p:spPr>
            <a:xfrm flipH="1" flipV="1">
              <a:off x="-2946669" y="5207569"/>
              <a:ext cx="5030231" cy="503049"/>
            </a:xfrm>
            <a:prstGeom prst="straightConnector1">
              <a:avLst/>
            </a:prstGeom>
            <a:ln w="28575">
              <a:solidFill>
                <a:srgbClr val="C00000"/>
              </a:solidFill>
              <a:tailEnd type="stealth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0" name="Group 29">
            <a:extLst>
              <a:ext uri="{FF2B5EF4-FFF2-40B4-BE49-F238E27FC236}">
                <a16:creationId xmlns:a16="http://schemas.microsoft.com/office/drawing/2014/main" id="{B380E7CF-C5C8-14EB-43BF-1C2E3B286E73}"/>
              </a:ext>
            </a:extLst>
          </p:cNvPr>
          <p:cNvGrpSpPr/>
          <p:nvPr/>
        </p:nvGrpSpPr>
        <p:grpSpPr>
          <a:xfrm>
            <a:off x="7173685" y="4757055"/>
            <a:ext cx="3501615" cy="844586"/>
            <a:chOff x="-684225" y="5277583"/>
            <a:chExt cx="4825474" cy="955120"/>
          </a:xfrm>
        </p:grpSpPr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E7A90720-F899-A72F-3257-C42538910177}"/>
                </a:ext>
              </a:extLst>
            </p:cNvPr>
            <p:cNvSpPr txBox="1"/>
            <p:nvPr/>
          </p:nvSpPr>
          <p:spPr>
            <a:xfrm>
              <a:off x="2083561" y="5501785"/>
              <a:ext cx="2057688" cy="730918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rgbClr val="C00000"/>
              </a:solidFill>
            </a:ln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ea typeface="+mn-ea"/>
                  <a:cs typeface="+mn-cs"/>
                </a:rPr>
                <a:t>Command to</a:t>
              </a:r>
              <a:b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ea typeface="+mn-ea"/>
                  <a:cs typeface="+mn-cs"/>
                </a:rPr>
              </a:b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ea typeface="+mn-ea"/>
                  <a:cs typeface="+mn-cs"/>
                </a:rPr>
                <a:t>execute</a:t>
              </a:r>
              <a:endParaRPr kumimoji="0" lang="nl-BE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cxnSp>
          <p:nvCxnSpPr>
            <p:cNvPr id="32" name="Straight Arrow Connector 31">
              <a:extLst>
                <a:ext uri="{FF2B5EF4-FFF2-40B4-BE49-F238E27FC236}">
                  <a16:creationId xmlns:a16="http://schemas.microsoft.com/office/drawing/2014/main" id="{D1617AA3-3CE0-2E74-014F-28DF0523429D}"/>
                </a:ext>
              </a:extLst>
            </p:cNvPr>
            <p:cNvCxnSpPr>
              <a:cxnSpLocks/>
              <a:stCxn id="31" idx="1"/>
            </p:cNvCxnSpPr>
            <p:nvPr/>
          </p:nvCxnSpPr>
          <p:spPr>
            <a:xfrm flipH="1" flipV="1">
              <a:off x="-684225" y="5277583"/>
              <a:ext cx="2767785" cy="589661"/>
            </a:xfrm>
            <a:prstGeom prst="straightConnector1">
              <a:avLst/>
            </a:prstGeom>
            <a:ln w="28575">
              <a:solidFill>
                <a:srgbClr val="C00000"/>
              </a:solidFill>
              <a:tailEnd type="stealth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9" name="Group 8">
            <a:extLst>
              <a:ext uri="{FF2B5EF4-FFF2-40B4-BE49-F238E27FC236}">
                <a16:creationId xmlns:a16="http://schemas.microsoft.com/office/drawing/2014/main" id="{C215E8C7-E1F5-7687-C52E-6AB09E41E60E}"/>
              </a:ext>
            </a:extLst>
          </p:cNvPr>
          <p:cNvGrpSpPr/>
          <p:nvPr/>
        </p:nvGrpSpPr>
        <p:grpSpPr>
          <a:xfrm>
            <a:off x="8436280" y="2752228"/>
            <a:ext cx="3336765" cy="802066"/>
            <a:chOff x="501059" y="5501785"/>
            <a:chExt cx="4598299" cy="907035"/>
          </a:xfrm>
        </p:grpSpPr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FB620CA3-5F9B-8CE6-8048-D14C7DD31EBB}"/>
                </a:ext>
              </a:extLst>
            </p:cNvPr>
            <p:cNvSpPr txBox="1"/>
            <p:nvPr/>
          </p:nvSpPr>
          <p:spPr>
            <a:xfrm>
              <a:off x="2083560" y="5501785"/>
              <a:ext cx="3015798" cy="417667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rgbClr val="C00000"/>
              </a:solidFill>
            </a:ln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ea typeface="+mn-ea"/>
                  <a:cs typeface="+mn-cs"/>
                </a:rPr>
                <a:t>Code dependencies</a:t>
              </a:r>
              <a:endParaRPr kumimoji="0" lang="nl-BE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cxnSp>
          <p:nvCxnSpPr>
            <p:cNvPr id="20" name="Straight Arrow Connector 19">
              <a:extLst>
                <a:ext uri="{FF2B5EF4-FFF2-40B4-BE49-F238E27FC236}">
                  <a16:creationId xmlns:a16="http://schemas.microsoft.com/office/drawing/2014/main" id="{83B1C741-0820-9219-E7D9-BD1CBC80A9FC}"/>
                </a:ext>
              </a:extLst>
            </p:cNvPr>
            <p:cNvCxnSpPr>
              <a:cxnSpLocks/>
              <a:stCxn id="13" idx="1"/>
            </p:cNvCxnSpPr>
            <p:nvPr/>
          </p:nvCxnSpPr>
          <p:spPr>
            <a:xfrm flipH="1">
              <a:off x="501059" y="5710619"/>
              <a:ext cx="1582501" cy="698201"/>
            </a:xfrm>
            <a:prstGeom prst="straightConnector1">
              <a:avLst/>
            </a:prstGeom>
            <a:ln w="28575">
              <a:solidFill>
                <a:srgbClr val="C00000"/>
              </a:solidFill>
              <a:tailEnd type="stealth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7" name="Group 16">
            <a:extLst>
              <a:ext uri="{FF2B5EF4-FFF2-40B4-BE49-F238E27FC236}">
                <a16:creationId xmlns:a16="http://schemas.microsoft.com/office/drawing/2014/main" id="{F02C59D6-DB4A-2471-9FBB-21E3F8756851}"/>
              </a:ext>
            </a:extLst>
          </p:cNvPr>
          <p:cNvGrpSpPr/>
          <p:nvPr/>
        </p:nvGrpSpPr>
        <p:grpSpPr>
          <a:xfrm>
            <a:off x="5769429" y="1279535"/>
            <a:ext cx="6003616" cy="2149465"/>
            <a:chOff x="5834744" y="495763"/>
            <a:chExt cx="6003616" cy="2149465"/>
          </a:xfrm>
        </p:grpSpPr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06D9DF66-D343-EDE2-28C5-629618E6F0FC}"/>
                </a:ext>
              </a:extLst>
            </p:cNvPr>
            <p:cNvGrpSpPr/>
            <p:nvPr/>
          </p:nvGrpSpPr>
          <p:grpSpPr>
            <a:xfrm>
              <a:off x="6585857" y="495763"/>
              <a:ext cx="5252503" cy="1712563"/>
              <a:chOff x="-1604375" y="5231850"/>
              <a:chExt cx="7238321" cy="1936689"/>
            </a:xfrm>
          </p:grpSpPr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198211C8-7136-9471-5FEE-671FCBF87FE9}"/>
                  </a:ext>
                </a:extLst>
              </p:cNvPr>
              <p:cNvSpPr txBox="1"/>
              <p:nvPr/>
            </p:nvSpPr>
            <p:spPr>
              <a:xfrm>
                <a:off x="2083559" y="5231850"/>
                <a:ext cx="3550387" cy="1357418"/>
              </a:xfrm>
              <a:prstGeom prst="rect">
                <a:avLst/>
              </a:prstGeom>
              <a:solidFill>
                <a:schemeClr val="bg1"/>
              </a:solidFill>
              <a:ln w="19050">
                <a:solidFill>
                  <a:srgbClr val="C00000"/>
                </a:solidFill>
              </a:ln>
            </p:spPr>
            <p:txBody>
              <a:bodyPr wrap="non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ea typeface="+mn-ea"/>
                    <a:cs typeface="+mn-cs"/>
                  </a:rPr>
                  <a:t>Data dependency</a:t>
                </a: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US" dirty="0">
                    <a:solidFill>
                      <a:prstClr val="black"/>
                    </a:solidFill>
                  </a:rPr>
                  <a:t>= output of</a:t>
                </a:r>
                <a:br>
                  <a:rPr lang="en-US" dirty="0">
                    <a:solidFill>
                      <a:prstClr val="black"/>
                    </a:solidFill>
                  </a:rPr>
                </a:br>
                <a:r>
                  <a:rPr lang="en-US" dirty="0">
                    <a:solidFill>
                      <a:prstClr val="black"/>
                    </a:solidFill>
                  </a:rPr>
                  <a:t>    </a:t>
                </a:r>
                <a:r>
                  <a:rPr lang="en-US" dirty="0" err="1">
                    <a:solidFill>
                      <a:prstClr val="black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preprocess_train</a:t>
                </a:r>
                <a:endParaRPr lang="en-US" dirty="0">
                  <a:solidFill>
                    <a:prstClr val="black"/>
                  </a:solidFill>
                  <a:latin typeface="Courier New" panose="02070309020205020404" pitchFamily="49" charset="0"/>
                  <a:cs typeface="Courier New" panose="02070309020205020404" pitchFamily="49" charset="0"/>
                </a:endParaRP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US" dirty="0">
                    <a:solidFill>
                      <a:prstClr val="black"/>
                    </a:solidFill>
                  </a:rPr>
                  <a:t>    and </a:t>
                </a:r>
                <a:r>
                  <a:rPr lang="en-US" dirty="0" err="1">
                    <a:solidFill>
                      <a:prstClr val="black"/>
                    </a:solidFill>
                  </a:rPr>
                  <a:t>train_model</a:t>
                </a:r>
                <a:r>
                  <a:rPr lang="en-US" dirty="0">
                    <a:solidFill>
                      <a:prstClr val="black"/>
                    </a:solidFill>
                  </a:rPr>
                  <a:t> stage</a:t>
                </a:r>
                <a:endParaRPr kumimoji="0" lang="nl-BE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cs typeface="Courier New" panose="02070309020205020404" pitchFamily="49" charset="0"/>
                </a:endParaRPr>
              </a:p>
            </p:txBody>
          </p:sp>
          <p:cxnSp>
            <p:nvCxnSpPr>
              <p:cNvPr id="12" name="Straight Arrow Connector 11">
                <a:extLst>
                  <a:ext uri="{FF2B5EF4-FFF2-40B4-BE49-F238E27FC236}">
                    <a16:creationId xmlns:a16="http://schemas.microsoft.com/office/drawing/2014/main" id="{BD67D1C5-A541-50C9-420F-19B550FACAFF}"/>
                  </a:ext>
                </a:extLst>
              </p:cNvPr>
              <p:cNvCxnSpPr>
                <a:cxnSpLocks/>
                <a:stCxn id="11" idx="1"/>
              </p:cNvCxnSpPr>
              <p:nvPr/>
            </p:nvCxnSpPr>
            <p:spPr>
              <a:xfrm flipH="1">
                <a:off x="-1604375" y="5910560"/>
                <a:ext cx="3687934" cy="1257979"/>
              </a:xfrm>
              <a:prstGeom prst="straightConnector1">
                <a:avLst/>
              </a:prstGeom>
              <a:ln w="28575">
                <a:solidFill>
                  <a:srgbClr val="C00000"/>
                </a:solidFill>
                <a:tailEnd type="stealth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14" name="Straight Arrow Connector 13">
              <a:extLst>
                <a:ext uri="{FF2B5EF4-FFF2-40B4-BE49-F238E27FC236}">
                  <a16:creationId xmlns:a16="http://schemas.microsoft.com/office/drawing/2014/main" id="{3758DB5C-CD08-63C0-2647-C077D1010F01}"/>
                </a:ext>
              </a:extLst>
            </p:cNvPr>
            <p:cNvCxnSpPr>
              <a:cxnSpLocks/>
              <a:stCxn id="11" idx="1"/>
            </p:cNvCxnSpPr>
            <p:nvPr/>
          </p:nvCxnSpPr>
          <p:spPr>
            <a:xfrm flipH="1">
              <a:off x="5834744" y="1095928"/>
              <a:ext cx="3427270" cy="1549300"/>
            </a:xfrm>
            <a:prstGeom prst="straightConnector1">
              <a:avLst/>
            </a:prstGeom>
            <a:ln w="28575">
              <a:solidFill>
                <a:srgbClr val="C00000"/>
              </a:solidFill>
              <a:tailEnd type="stealth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3901250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51D3D1-18EC-5528-885C-9CC8EE9C0B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Visualizing pipeline</a:t>
            </a:r>
            <a:endParaRPr lang="LID4096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8603E1D-59EB-6E2C-61E3-8BD9B9356A3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List stages</a:t>
            </a:r>
          </a:p>
          <a:p>
            <a:endParaRPr lang="en-US" dirty="0"/>
          </a:p>
          <a:p>
            <a:r>
              <a:rPr lang="en-US" dirty="0"/>
              <a:t>ASCII-art visualization of stages</a:t>
            </a:r>
          </a:p>
          <a:p>
            <a:endParaRPr lang="en-US" dirty="0"/>
          </a:p>
          <a:p>
            <a:r>
              <a:rPr lang="en-US" dirty="0"/>
              <a:t>ASCII visualization of data files</a:t>
            </a:r>
          </a:p>
          <a:p>
            <a:endParaRPr lang="en-US" dirty="0"/>
          </a:p>
          <a:p>
            <a:r>
              <a:rPr lang="en-US" dirty="0"/>
              <a:t>Rendering with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dot</a:t>
            </a:r>
            <a:endParaRPr lang="LID4096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1677116-4814-714C-B8BD-D412E5D81D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7CE217-4467-4B8D-A735-B008FA7C4816}" type="slidenum">
              <a:rPr lang="LID4096" smtClean="0"/>
              <a:t>27</a:t>
            </a:fld>
            <a:endParaRPr lang="LID4096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5C734CC-7375-071B-DDD6-BC510393A12C}"/>
              </a:ext>
            </a:extLst>
          </p:cNvPr>
          <p:cNvSpPr txBox="1"/>
          <p:nvPr/>
        </p:nvSpPr>
        <p:spPr>
          <a:xfrm>
            <a:off x="1503936" y="3337749"/>
            <a:ext cx="4733577" cy="369332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$  </a:t>
            </a:r>
            <a:r>
              <a:rPr lang="en-US" b="1" dirty="0" err="1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dvc</a:t>
            </a:r>
            <a:r>
              <a:rPr lang="en-US" b="1" dirty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en-US" b="1" dirty="0" err="1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dag</a:t>
            </a:r>
            <a:endParaRPr lang="nl-BE" b="1" dirty="0">
              <a:solidFill>
                <a:schemeClr val="bg1"/>
              </a:solidFill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178998E-6520-CA57-F18C-E9963D8F5945}"/>
              </a:ext>
            </a:extLst>
          </p:cNvPr>
          <p:cNvSpPr txBox="1"/>
          <p:nvPr/>
        </p:nvSpPr>
        <p:spPr>
          <a:xfrm>
            <a:off x="1503936" y="4430487"/>
            <a:ext cx="4733577" cy="369332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$  </a:t>
            </a:r>
            <a:r>
              <a:rPr lang="en-US" b="1" dirty="0" err="1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dvc</a:t>
            </a:r>
            <a:r>
              <a:rPr lang="en-US" b="1" dirty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en-US" b="1" dirty="0" err="1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dag</a:t>
            </a:r>
            <a:r>
              <a:rPr lang="en-US" b="1" dirty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  --outs</a:t>
            </a:r>
            <a:endParaRPr lang="nl-BE" b="1" dirty="0">
              <a:solidFill>
                <a:schemeClr val="bg1"/>
              </a:solidFill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7DE6B47-C172-A9B2-5981-99E4B3316935}"/>
              </a:ext>
            </a:extLst>
          </p:cNvPr>
          <p:cNvSpPr txBox="1"/>
          <p:nvPr/>
        </p:nvSpPr>
        <p:spPr>
          <a:xfrm>
            <a:off x="1503936" y="5342803"/>
            <a:ext cx="4733577" cy="646331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$  </a:t>
            </a:r>
            <a:r>
              <a:rPr lang="en-US" b="1" dirty="0" err="1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dvc</a:t>
            </a:r>
            <a:r>
              <a:rPr lang="en-US" b="1" dirty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en-US" b="1" dirty="0" err="1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dag</a:t>
            </a:r>
            <a:r>
              <a:rPr lang="en-US" b="1" dirty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  --dot | \</a:t>
            </a:r>
            <a:br>
              <a:rPr lang="en-US" b="1" dirty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</a:br>
            <a:r>
              <a:rPr lang="en-US" b="1" dirty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     dot -</a:t>
            </a:r>
            <a:r>
              <a:rPr lang="en-US" b="1" dirty="0" err="1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Tpng</a:t>
            </a:r>
            <a:r>
              <a:rPr lang="en-US" b="1" dirty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 -o pipeline.png</a:t>
            </a:r>
            <a:endParaRPr lang="nl-BE" b="1" dirty="0">
              <a:solidFill>
                <a:schemeClr val="bg1"/>
              </a:solidFill>
              <a:latin typeface="Courier New" pitchFamily="49" charset="0"/>
              <a:cs typeface="Courier New" pitchFamily="49" charset="0"/>
            </a:endParaRPr>
          </a:p>
        </p:txBody>
      </p:sp>
      <p:pic>
        <p:nvPicPr>
          <p:cNvPr id="9" name="Picture 8" descr="A diagram of a computer process&#10;&#10;AI-generated content may be incorrect.">
            <a:extLst>
              <a:ext uri="{FF2B5EF4-FFF2-40B4-BE49-F238E27FC236}">
                <a16:creationId xmlns:a16="http://schemas.microsoft.com/office/drawing/2014/main" id="{E3434A22-61C2-8CEB-E3BE-4C50128C2F6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45828" y="479424"/>
            <a:ext cx="3820887" cy="2971801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1" name="Picture 10" descr="A diagram of a data flow&#10;&#10;AI-generated content may be incorrect.">
            <a:extLst>
              <a:ext uri="{FF2B5EF4-FFF2-40B4-BE49-F238E27FC236}">
                <a16:creationId xmlns:a16="http://schemas.microsoft.com/office/drawing/2014/main" id="{6AB398F8-1002-321A-71A5-18350DE9265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45828" y="3686176"/>
            <a:ext cx="3820887" cy="2475310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2BB95A7E-4C28-1EF3-C3B3-C964D89C60C8}"/>
              </a:ext>
            </a:extLst>
          </p:cNvPr>
          <p:cNvSpPr txBox="1"/>
          <p:nvPr/>
        </p:nvSpPr>
        <p:spPr>
          <a:xfrm>
            <a:off x="1503936" y="2310327"/>
            <a:ext cx="4733577" cy="369332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$  </a:t>
            </a:r>
            <a:r>
              <a:rPr lang="en-US" b="1" dirty="0" err="1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dvc</a:t>
            </a:r>
            <a:r>
              <a:rPr lang="en-US" b="1" dirty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 stage list</a:t>
            </a:r>
            <a:endParaRPr lang="nl-BE" b="1" dirty="0">
              <a:solidFill>
                <a:schemeClr val="bg1"/>
              </a:solidFill>
              <a:latin typeface="Courier New" pitchFamily="49" charset="0"/>
              <a:cs typeface="Courier New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865179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  <p:bldP spid="8" grpId="0" animBg="1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28417E-9735-91D4-C82D-938AFDD03A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Run pipeline</a:t>
            </a:r>
            <a:endParaRPr lang="LID4096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331F5F7-7901-0D11-15F1-A3C4797EEDAB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Only print commands, don't execute</a:t>
            </a:r>
          </a:p>
          <a:p>
            <a:endParaRPr lang="en-US" dirty="0"/>
          </a:p>
          <a:p>
            <a:r>
              <a:rPr lang="en-US" dirty="0"/>
              <a:t>Run only required stages</a:t>
            </a:r>
          </a:p>
          <a:p>
            <a:endParaRPr lang="en-US" dirty="0"/>
          </a:p>
          <a:p>
            <a:r>
              <a:rPr lang="en-US" dirty="0"/>
              <a:t>Run all stages</a:t>
            </a:r>
          </a:p>
          <a:p>
            <a:endParaRPr lang="en-US" dirty="0"/>
          </a:p>
          <a:p>
            <a:r>
              <a:rPr lang="en-US" dirty="0"/>
              <a:t>Produces/updates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dvc.lock</a:t>
            </a:r>
            <a:r>
              <a:rPr lang="en-US" dirty="0"/>
              <a:t> file: version control</a:t>
            </a:r>
            <a:endParaRPr lang="LID4096" dirty="0"/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725322EE-0847-9449-49B9-7232D76E536C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US" dirty="0"/>
              <a:t>Check pipeline status</a:t>
            </a:r>
            <a:endParaRPr lang="LID4096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2479D15-A82F-8B1B-1ED9-99E31344A4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7CE217-4467-4B8D-A735-B008FA7C4816}" type="slidenum">
              <a:rPr lang="LID4096" smtClean="0"/>
              <a:t>28</a:t>
            </a:fld>
            <a:endParaRPr lang="LID4096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BDEFB3C-6F07-AF4A-A03B-5ECEF2E3A1C0}"/>
              </a:ext>
            </a:extLst>
          </p:cNvPr>
          <p:cNvSpPr txBox="1"/>
          <p:nvPr/>
        </p:nvSpPr>
        <p:spPr>
          <a:xfrm>
            <a:off x="1286223" y="2700047"/>
            <a:ext cx="4733577" cy="369332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$  </a:t>
            </a:r>
            <a:r>
              <a:rPr lang="en-US" b="1" dirty="0" err="1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dvc</a:t>
            </a:r>
            <a:r>
              <a:rPr lang="en-US" b="1" dirty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 repro  --dry</a:t>
            </a:r>
            <a:endParaRPr lang="nl-BE" b="1" dirty="0">
              <a:solidFill>
                <a:schemeClr val="bg1"/>
              </a:solidFill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AF2420A-5986-C766-E676-CCF82043185F}"/>
              </a:ext>
            </a:extLst>
          </p:cNvPr>
          <p:cNvSpPr txBox="1"/>
          <p:nvPr/>
        </p:nvSpPr>
        <p:spPr>
          <a:xfrm>
            <a:off x="1286220" y="3729242"/>
            <a:ext cx="4733578" cy="369332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$  </a:t>
            </a:r>
            <a:r>
              <a:rPr lang="en-US" b="1" dirty="0" err="1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dvc</a:t>
            </a:r>
            <a:r>
              <a:rPr lang="en-US" b="1" dirty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 repro</a:t>
            </a:r>
            <a:endParaRPr lang="nl-BE" b="1" dirty="0">
              <a:solidFill>
                <a:schemeClr val="bg1"/>
              </a:solidFill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51F5951-9235-414F-F0EE-278571DD08C9}"/>
              </a:ext>
            </a:extLst>
          </p:cNvPr>
          <p:cNvSpPr txBox="1"/>
          <p:nvPr/>
        </p:nvSpPr>
        <p:spPr>
          <a:xfrm>
            <a:off x="1286221" y="4758437"/>
            <a:ext cx="4733579" cy="369332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$  </a:t>
            </a:r>
            <a:r>
              <a:rPr lang="en-US" b="1" dirty="0" err="1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dvc</a:t>
            </a:r>
            <a:r>
              <a:rPr lang="en-US" b="1" dirty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 repro  --force</a:t>
            </a:r>
            <a:endParaRPr lang="nl-BE" b="1" dirty="0">
              <a:solidFill>
                <a:schemeClr val="bg1"/>
              </a:solidFill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B7C10FD-B553-7CAF-6C76-5C77B68D4934}"/>
              </a:ext>
            </a:extLst>
          </p:cNvPr>
          <p:cNvSpPr txBox="1"/>
          <p:nvPr/>
        </p:nvSpPr>
        <p:spPr>
          <a:xfrm>
            <a:off x="1286218" y="6118203"/>
            <a:ext cx="4733580" cy="369332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$  git commit  -m 'Run pipeline'</a:t>
            </a:r>
            <a:endParaRPr lang="nl-BE" b="1" dirty="0">
              <a:solidFill>
                <a:schemeClr val="bg1"/>
              </a:solidFill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D9F291D-2497-502F-6583-CCBD12C12E39}"/>
              </a:ext>
            </a:extLst>
          </p:cNvPr>
          <p:cNvSpPr txBox="1"/>
          <p:nvPr/>
        </p:nvSpPr>
        <p:spPr>
          <a:xfrm>
            <a:off x="6620224" y="2700047"/>
            <a:ext cx="5005720" cy="2031325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$  </a:t>
            </a:r>
            <a:r>
              <a:rPr lang="en-US" b="1" dirty="0" err="1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dvc</a:t>
            </a:r>
            <a:r>
              <a:rPr lang="en-US" b="1" dirty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 status</a:t>
            </a:r>
            <a:br>
              <a:rPr lang="en-US" b="1" dirty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</a:br>
            <a:r>
              <a:rPr lang="en-US" b="1" dirty="0" err="1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split_data</a:t>
            </a:r>
            <a:r>
              <a:rPr lang="en-US" b="1" dirty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:</a:t>
            </a:r>
          </a:p>
          <a:p>
            <a:r>
              <a:rPr lang="en-US" b="1" dirty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  changed deps:</a:t>
            </a:r>
          </a:p>
          <a:p>
            <a:r>
              <a:rPr lang="en-US" b="1" dirty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    modified:       data/data.csv</a:t>
            </a:r>
          </a:p>
          <a:p>
            <a:r>
              <a:rPr lang="en-US" b="1" dirty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data/</a:t>
            </a:r>
            <a:r>
              <a:rPr lang="en-US" b="1" dirty="0" err="1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data.csv.dvc</a:t>
            </a:r>
            <a:r>
              <a:rPr lang="en-US" b="1" dirty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:</a:t>
            </a:r>
          </a:p>
          <a:p>
            <a:r>
              <a:rPr lang="en-US" b="1" dirty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  changed outs:</a:t>
            </a:r>
          </a:p>
          <a:p>
            <a:r>
              <a:rPr lang="en-US" b="1" dirty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    modified:       data/data.csv</a:t>
            </a:r>
            <a:endParaRPr lang="nl-BE" b="1" dirty="0">
              <a:solidFill>
                <a:schemeClr val="bg1"/>
              </a:solidFill>
              <a:latin typeface="Courier New" pitchFamily="49" charset="0"/>
              <a:cs typeface="Courier New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159990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  <p:bldP spid="8" grpId="0" animBg="1"/>
      <p:bldP spid="13" grpId="0" animBg="1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7D674E-150D-C842-14DF-41D214C7F6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E576F3-9C92-0F5D-D6DF-3C28D2B634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Viewing &amp; comparing metrics</a:t>
            </a:r>
            <a:endParaRPr lang="LID4096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C8DD7E-5B50-1C9A-83E5-B525BA14001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75254"/>
            <a:ext cx="10515600" cy="4351338"/>
          </a:xfrm>
        </p:spPr>
        <p:txBody>
          <a:bodyPr/>
          <a:lstStyle/>
          <a:p>
            <a:r>
              <a:rPr lang="en-US" dirty="0"/>
              <a:t>View metrics of most recent run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Compare metrics with last commit</a:t>
            </a:r>
            <a:endParaRPr lang="LID4096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BF23782-4A81-E931-9AAC-625A24AE9B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7CE217-4467-4B8D-A735-B008FA7C4816}" type="slidenum">
              <a:rPr lang="LID4096" smtClean="0"/>
              <a:t>29</a:t>
            </a:fld>
            <a:endParaRPr lang="LID4096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96FF75F-61C6-E2ED-C436-EDC1C127DE57}"/>
              </a:ext>
            </a:extLst>
          </p:cNvPr>
          <p:cNvSpPr txBox="1"/>
          <p:nvPr/>
        </p:nvSpPr>
        <p:spPr>
          <a:xfrm>
            <a:off x="1155593" y="2031457"/>
            <a:ext cx="9044321" cy="1200329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$  </a:t>
            </a:r>
            <a:r>
              <a:rPr lang="en-US" b="1" dirty="0" err="1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dvc</a:t>
            </a:r>
            <a:r>
              <a:rPr lang="en-US" b="1" dirty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 metrics show</a:t>
            </a:r>
          </a:p>
          <a:p>
            <a:r>
              <a:rPr lang="en-US" b="1" dirty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Path                accuracy    f1_score    precision    recall</a:t>
            </a:r>
          </a:p>
          <a:p>
            <a:r>
              <a:rPr lang="en-US" b="1" dirty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metrics/</a:t>
            </a:r>
            <a:r>
              <a:rPr lang="en-US" b="1" dirty="0" err="1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train.yaml</a:t>
            </a:r>
            <a:r>
              <a:rPr lang="en-US" b="1" dirty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  0.84286     0.8932      0.82143      0.97872</a:t>
            </a:r>
          </a:p>
          <a:p>
            <a:r>
              <a:rPr lang="en-US" b="1" dirty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metrics/</a:t>
            </a:r>
            <a:r>
              <a:rPr lang="en-US" b="1" dirty="0" err="1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test.yaml</a:t>
            </a:r>
            <a:r>
              <a:rPr lang="en-US" b="1" dirty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   0.86667     0.9         0.81818      1.0</a:t>
            </a:r>
            <a:endParaRPr lang="nl-BE" b="1" dirty="0">
              <a:solidFill>
                <a:schemeClr val="bg1"/>
              </a:solidFill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5AA391C-E634-038A-C0B8-D71275490C0E}"/>
              </a:ext>
            </a:extLst>
          </p:cNvPr>
          <p:cNvSpPr txBox="1"/>
          <p:nvPr/>
        </p:nvSpPr>
        <p:spPr>
          <a:xfrm>
            <a:off x="1155592" y="4121516"/>
            <a:ext cx="9044321" cy="2585323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$  </a:t>
            </a:r>
            <a:r>
              <a:rPr lang="en-US" b="1" dirty="0" err="1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dvc</a:t>
            </a:r>
            <a:r>
              <a:rPr lang="en-US" b="1" dirty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 metrics diff</a:t>
            </a:r>
          </a:p>
          <a:p>
            <a:r>
              <a:rPr lang="en-US" b="1" dirty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Path                Metric     HEAD     workspace    Change</a:t>
            </a:r>
          </a:p>
          <a:p>
            <a:r>
              <a:rPr lang="en-US" b="1" dirty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metrics/</a:t>
            </a:r>
            <a:r>
              <a:rPr lang="en-US" b="1" dirty="0" err="1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test.yaml</a:t>
            </a:r>
            <a:r>
              <a:rPr lang="en-US" b="1" dirty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   accuracy   0.8      0.86667      0.06667</a:t>
            </a:r>
          </a:p>
          <a:p>
            <a:r>
              <a:rPr lang="en-US" b="1" dirty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metrics/</a:t>
            </a:r>
            <a:r>
              <a:rPr lang="en-US" b="1" dirty="0" err="1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test.yaml</a:t>
            </a:r>
            <a:r>
              <a:rPr lang="en-US" b="1" dirty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   f1_score   0.85714  0.9          0.04286</a:t>
            </a:r>
          </a:p>
          <a:p>
            <a:r>
              <a:rPr lang="en-US" b="1" dirty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metrics/</a:t>
            </a:r>
            <a:r>
              <a:rPr lang="en-US" b="1" dirty="0" err="1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test.yaml</a:t>
            </a:r>
            <a:r>
              <a:rPr lang="en-US" b="1" dirty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   precision  0.75     0.81818      0.06818</a:t>
            </a:r>
          </a:p>
          <a:p>
            <a:r>
              <a:rPr lang="en-US" b="1" dirty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metrics/</a:t>
            </a:r>
            <a:r>
              <a:rPr lang="en-US" b="1" dirty="0" err="1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train.yaml</a:t>
            </a:r>
            <a:r>
              <a:rPr lang="en-US" b="1" dirty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  accuracy   0.82857  0.84286      0.01429</a:t>
            </a:r>
          </a:p>
          <a:p>
            <a:r>
              <a:rPr lang="en-US" b="1" dirty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metrics/</a:t>
            </a:r>
            <a:r>
              <a:rPr lang="en-US" b="1" dirty="0" err="1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train.yaml</a:t>
            </a:r>
            <a:r>
              <a:rPr lang="en-US" b="1" dirty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  f1_score   0.88679  0.8932       0.00641</a:t>
            </a:r>
          </a:p>
          <a:p>
            <a:r>
              <a:rPr lang="en-US" b="1" dirty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metrics/</a:t>
            </a:r>
            <a:r>
              <a:rPr lang="en-US" b="1" dirty="0" err="1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train.yaml</a:t>
            </a:r>
            <a:r>
              <a:rPr lang="en-US" b="1" dirty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  precision  0.79661  0.82143      0.02482</a:t>
            </a:r>
          </a:p>
          <a:p>
            <a:r>
              <a:rPr lang="en-US" b="1" dirty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metrics/</a:t>
            </a:r>
            <a:r>
              <a:rPr lang="en-US" b="1" dirty="0" err="1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train.yaml</a:t>
            </a:r>
            <a:r>
              <a:rPr lang="en-US" b="1" dirty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  recall     1.0      0.97872      -0.02128</a:t>
            </a:r>
            <a:endParaRPr lang="nl-BE" b="1" dirty="0">
              <a:solidFill>
                <a:schemeClr val="bg1"/>
              </a:solidFill>
              <a:latin typeface="Courier New" pitchFamily="49" charset="0"/>
              <a:cs typeface="Courier New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452442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0FAD8F-0B88-E3A1-1888-54E88E68BC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Comparing arbitrary runs</a:t>
            </a:r>
            <a:endParaRPr lang="LID4096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FCE593-BBDD-F517-3EA1-CBF95D1FB73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Compare metrics of commits</a:t>
            </a:r>
            <a:endParaRPr lang="LID4096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1B70E6F-26CF-B567-822D-6418D8D3BE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7CE217-4467-4B8D-A735-B008FA7C4816}" type="slidenum">
              <a:rPr lang="LID4096" smtClean="0"/>
              <a:t>30</a:t>
            </a:fld>
            <a:endParaRPr lang="LID4096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E011074-C4C6-F4D6-4B98-4BDF9FD41D33}"/>
              </a:ext>
            </a:extLst>
          </p:cNvPr>
          <p:cNvSpPr txBox="1"/>
          <p:nvPr/>
        </p:nvSpPr>
        <p:spPr>
          <a:xfrm>
            <a:off x="1199134" y="2412461"/>
            <a:ext cx="9044321" cy="2308324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$  </a:t>
            </a:r>
            <a:r>
              <a:rPr lang="en-US" b="1" dirty="0" err="1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dvc</a:t>
            </a:r>
            <a:r>
              <a:rPr lang="en-US" b="1" dirty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 metrics diff 070869d 785ea1b</a:t>
            </a:r>
          </a:p>
          <a:p>
            <a:r>
              <a:rPr lang="en-US" b="1" dirty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Path                Metric     070869d    785ea1b    Change</a:t>
            </a:r>
          </a:p>
          <a:p>
            <a:r>
              <a:rPr lang="en-US" b="1" dirty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metrics/</a:t>
            </a:r>
            <a:r>
              <a:rPr lang="en-US" b="1" dirty="0" err="1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test.yaml</a:t>
            </a:r>
            <a:r>
              <a:rPr lang="en-US" b="1" dirty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   accuracy   0.63333    0.8        0.16667</a:t>
            </a:r>
          </a:p>
          <a:p>
            <a:r>
              <a:rPr lang="en-US" b="1" dirty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metrics/</a:t>
            </a:r>
            <a:r>
              <a:rPr lang="en-US" b="1" dirty="0" err="1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test.yaml</a:t>
            </a:r>
            <a:r>
              <a:rPr lang="en-US" b="1" dirty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   f1_score   0.76596    0.85714    0.09119</a:t>
            </a:r>
          </a:p>
          <a:p>
            <a:r>
              <a:rPr lang="en-US" b="1" dirty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metrics/</a:t>
            </a:r>
            <a:r>
              <a:rPr lang="en-US" b="1" dirty="0" err="1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test.yaml</a:t>
            </a:r>
            <a:r>
              <a:rPr lang="en-US" b="1" dirty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   precision  0.62069    0.75       0.12931</a:t>
            </a:r>
          </a:p>
          <a:p>
            <a:r>
              <a:rPr lang="en-US" b="1" dirty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metrics/</a:t>
            </a:r>
            <a:r>
              <a:rPr lang="en-US" b="1" dirty="0" err="1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train.yaml</a:t>
            </a:r>
            <a:r>
              <a:rPr lang="en-US" b="1" dirty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  accuracy   0.77143    0.82857    0.05714</a:t>
            </a:r>
          </a:p>
          <a:p>
            <a:r>
              <a:rPr lang="en-US" b="1" dirty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metrics/</a:t>
            </a:r>
            <a:r>
              <a:rPr lang="en-US" b="1" dirty="0" err="1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train.yaml</a:t>
            </a:r>
            <a:r>
              <a:rPr lang="en-US" b="1" dirty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  f1_score   0.85455    0.88679    0.03225</a:t>
            </a:r>
          </a:p>
          <a:p>
            <a:r>
              <a:rPr lang="en-US" b="1" dirty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metrics/</a:t>
            </a:r>
            <a:r>
              <a:rPr lang="en-US" b="1" dirty="0" err="1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train.yaml</a:t>
            </a:r>
            <a:r>
              <a:rPr lang="en-US" b="1" dirty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  precision  0.74603    0.79661    0.05058</a:t>
            </a:r>
            <a:endParaRPr lang="nl-BE" b="1" dirty="0">
              <a:solidFill>
                <a:schemeClr val="bg1"/>
              </a:solidFill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9BAAD2C-30F7-0289-D473-7C29B187BB8B}"/>
              </a:ext>
            </a:extLst>
          </p:cNvPr>
          <p:cNvSpPr txBox="1"/>
          <p:nvPr/>
        </p:nvSpPr>
        <p:spPr>
          <a:xfrm>
            <a:off x="3842657" y="5426843"/>
            <a:ext cx="4015651" cy="46166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sz="2400" dirty="0"/>
              <a:t>Use 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--all</a:t>
            </a:r>
            <a:r>
              <a:rPr lang="en-US" sz="2400" dirty="0"/>
              <a:t> to see all metrics</a:t>
            </a:r>
            <a:endParaRPr lang="LID4096" sz="2400" dirty="0"/>
          </a:p>
        </p:txBody>
      </p:sp>
    </p:spTree>
    <p:extLst>
      <p:ext uri="{BB962C8B-B14F-4D97-AF65-F5344CB8AC3E}">
        <p14:creationId xmlns:p14="http://schemas.microsoft.com/office/powerpoint/2010/main" val="34609552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5FB903-AB20-216A-EF44-8FD2A656F8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Comparing parameters</a:t>
            </a:r>
            <a:endParaRPr lang="LID4096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598BF26-F174-30A6-41B7-BC088FF37D4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Compare parameters with last commit</a:t>
            </a:r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Compare parameters of commits</a:t>
            </a:r>
            <a:endParaRPr lang="LID4096" dirty="0"/>
          </a:p>
          <a:p>
            <a:endParaRPr lang="LID4096" dirty="0"/>
          </a:p>
          <a:p>
            <a:endParaRPr lang="LID4096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A923D2-DFE6-62E9-B8A9-A621E9C835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7CE217-4467-4B8D-A735-B008FA7C4816}" type="slidenum">
              <a:rPr lang="LID4096" smtClean="0"/>
              <a:t>31</a:t>
            </a:fld>
            <a:endParaRPr lang="LID4096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4541E1E-2121-75F2-D097-EBBD4089663D}"/>
              </a:ext>
            </a:extLst>
          </p:cNvPr>
          <p:cNvSpPr txBox="1"/>
          <p:nvPr/>
        </p:nvSpPr>
        <p:spPr>
          <a:xfrm>
            <a:off x="1155593" y="2292715"/>
            <a:ext cx="9044321" cy="923330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$  </a:t>
            </a:r>
            <a:r>
              <a:rPr lang="en-US" b="1" dirty="0" err="1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dvc</a:t>
            </a:r>
            <a:r>
              <a:rPr lang="en-US" b="1" dirty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 params diff</a:t>
            </a:r>
          </a:p>
          <a:p>
            <a:r>
              <a:rPr lang="en-US" b="1" dirty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Path         Param          HEAD    workspace</a:t>
            </a:r>
          </a:p>
          <a:p>
            <a:r>
              <a:rPr lang="en-US" b="1" dirty="0" err="1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params.yaml</a:t>
            </a:r>
            <a:r>
              <a:rPr lang="en-US" b="1" dirty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  </a:t>
            </a:r>
            <a:r>
              <a:rPr lang="en-US" b="1" dirty="0" err="1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train_model.C</a:t>
            </a:r>
            <a:r>
              <a:rPr lang="en-US" b="1" dirty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  1.0     1.5</a:t>
            </a:r>
            <a:endParaRPr lang="nl-BE" b="1" dirty="0">
              <a:solidFill>
                <a:schemeClr val="bg1"/>
              </a:solidFill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64BBAA4-179B-0D92-5FE7-5E09E7936AD2}"/>
              </a:ext>
            </a:extLst>
          </p:cNvPr>
          <p:cNvSpPr txBox="1"/>
          <p:nvPr/>
        </p:nvSpPr>
        <p:spPr>
          <a:xfrm>
            <a:off x="1155592" y="3859779"/>
            <a:ext cx="9044321" cy="923330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$  </a:t>
            </a:r>
            <a:r>
              <a:rPr lang="en-US" b="1" dirty="0" err="1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dvc</a:t>
            </a:r>
            <a:r>
              <a:rPr lang="en-US" b="1" dirty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 params diff 070869d 785ea1b</a:t>
            </a:r>
          </a:p>
          <a:p>
            <a:r>
              <a:rPr lang="en-US" b="1" dirty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Path         Param          070869d    785ea1b</a:t>
            </a:r>
          </a:p>
          <a:p>
            <a:r>
              <a:rPr lang="en-US" b="1" dirty="0" err="1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params.yaml</a:t>
            </a:r>
            <a:r>
              <a:rPr lang="en-US" b="1" dirty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  </a:t>
            </a:r>
            <a:r>
              <a:rPr lang="en-US" b="1" dirty="0" err="1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train_model.C</a:t>
            </a:r>
            <a:r>
              <a:rPr lang="en-US" b="1" dirty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  0.5        1.0</a:t>
            </a:r>
            <a:endParaRPr lang="nl-BE" b="1" dirty="0">
              <a:solidFill>
                <a:schemeClr val="bg1"/>
              </a:solidFill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B9D9FDA-DD80-6A7B-82FB-352144F9378C}"/>
              </a:ext>
            </a:extLst>
          </p:cNvPr>
          <p:cNvSpPr txBox="1"/>
          <p:nvPr/>
        </p:nvSpPr>
        <p:spPr>
          <a:xfrm>
            <a:off x="3842657" y="5426843"/>
            <a:ext cx="4530984" cy="46166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sz="2400" dirty="0"/>
              <a:t>Use 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--all</a:t>
            </a:r>
            <a:r>
              <a:rPr lang="en-US" sz="2400" dirty="0"/>
              <a:t> to see all parameters</a:t>
            </a:r>
            <a:endParaRPr lang="LID4096" sz="2400" dirty="0"/>
          </a:p>
        </p:txBody>
      </p:sp>
    </p:spTree>
    <p:extLst>
      <p:ext uri="{BB962C8B-B14F-4D97-AF65-F5344CB8AC3E}">
        <p14:creationId xmlns:p14="http://schemas.microsoft.com/office/powerpoint/2010/main" val="32746808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F544F1-4B74-2885-B07B-CCAFEFA93C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about R?</a:t>
            </a:r>
            <a:endParaRPr lang="LID4096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B6B181-EA28-ABED-DC60-BA5FB6689D0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Nothing R specific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Reading YAML files</a:t>
            </a:r>
            <a:endParaRPr lang="LID4096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ECFE272-6DB1-CDF8-5F57-BA7CF8637E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7CE217-4467-4B8D-A735-B008FA7C4816}" type="slidenum">
              <a:rPr lang="LID4096" smtClean="0"/>
              <a:t>32</a:t>
            </a:fld>
            <a:endParaRPr lang="LID4096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A615923F-26B2-5EBA-A2A7-17CADE222723}"/>
              </a:ext>
            </a:extLst>
          </p:cNvPr>
          <p:cNvGrpSpPr/>
          <p:nvPr/>
        </p:nvGrpSpPr>
        <p:grpSpPr>
          <a:xfrm>
            <a:off x="4463144" y="1459360"/>
            <a:ext cx="7175800" cy="2898163"/>
            <a:chOff x="4702629" y="1056588"/>
            <a:chExt cx="7175800" cy="2898163"/>
          </a:xfrm>
        </p:grpSpPr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B5AD6433-67DE-D458-122B-F8013C6BBE5A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4702629" y="1056588"/>
              <a:ext cx="7175800" cy="2898163"/>
            </a:xfrm>
            <a:prstGeom prst="rect">
              <a:avLst/>
            </a:prstGeom>
          </p:spPr>
        </p:pic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3F898E73-0AA3-D92D-E42D-2BC69526C632}"/>
                </a:ext>
              </a:extLst>
            </p:cNvPr>
            <p:cNvSpPr txBox="1"/>
            <p:nvPr/>
          </p:nvSpPr>
          <p:spPr>
            <a:xfrm>
              <a:off x="5083629" y="2505670"/>
              <a:ext cx="1654628" cy="923330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/>
                <a:t>This is not a</a:t>
              </a:r>
              <a:br>
                <a:rPr lang="en-US" dirty="0"/>
              </a:br>
              <a:r>
                <a:rPr lang="en-US" dirty="0"/>
                <a:t>problem you</a:t>
              </a:r>
              <a:br>
                <a:rPr lang="en-US" dirty="0"/>
              </a:br>
              <a:r>
                <a:rPr lang="en-US" dirty="0"/>
                <a:t>need to solve</a:t>
              </a:r>
              <a:endParaRPr lang="LID4096" dirty="0"/>
            </a:p>
          </p:txBody>
        </p:sp>
      </p:grpSp>
      <p:sp>
        <p:nvSpPr>
          <p:cNvPr id="8" name="TextBox 7">
            <a:extLst>
              <a:ext uri="{FF2B5EF4-FFF2-40B4-BE49-F238E27FC236}">
                <a16:creationId xmlns:a16="http://schemas.microsoft.com/office/drawing/2014/main" id="{C6F87B21-0884-D9E0-3FA8-4BAFD814E5F2}"/>
              </a:ext>
            </a:extLst>
          </p:cNvPr>
          <p:cNvSpPr txBox="1"/>
          <p:nvPr/>
        </p:nvSpPr>
        <p:spPr>
          <a:xfrm>
            <a:off x="1077687" y="5201247"/>
            <a:ext cx="5987142" cy="1200329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en-US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library(</a:t>
            </a:r>
            <a:r>
              <a:rPr lang="en-US" dirty="0" err="1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yaml</a:t>
            </a:r>
            <a:r>
              <a:rPr lang="en-US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)</a:t>
            </a:r>
          </a:p>
          <a:p>
            <a:pPr lvl="0">
              <a:defRPr/>
            </a:pPr>
            <a:endParaRPr lang="en-US" dirty="0">
              <a:solidFill>
                <a:prstClr val="black"/>
              </a:solidFill>
              <a:latin typeface="Courier New" pitchFamily="49" charset="0"/>
              <a:cs typeface="Courier New" pitchFamily="49" charset="0"/>
            </a:endParaRPr>
          </a:p>
          <a:p>
            <a:pPr lvl="0">
              <a:defRPr/>
            </a:pPr>
            <a:r>
              <a:rPr lang="en-US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config &lt;- </a:t>
            </a:r>
            <a:r>
              <a:rPr lang="en-US" dirty="0" err="1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yaml.load_file</a:t>
            </a:r>
            <a:r>
              <a:rPr lang="en-US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("</a:t>
            </a:r>
            <a:r>
              <a:rPr lang="en-US" dirty="0" err="1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params.yaml</a:t>
            </a:r>
            <a:r>
              <a:rPr lang="en-US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")</a:t>
            </a:r>
          </a:p>
          <a:p>
            <a:pPr lvl="0">
              <a:defRPr/>
            </a:pPr>
            <a:r>
              <a:rPr lang="en-US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print(</a:t>
            </a:r>
            <a:r>
              <a:rPr lang="en-US" dirty="0" err="1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config$split_data$random_state</a:t>
            </a:r>
            <a:r>
              <a:rPr lang="en-US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1890593211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E35B8F-E4D3-4C58-4E8D-8B674D2C05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441953-3CCA-D33C-9BB7-4B876A4B0D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 Version Control</a:t>
            </a:r>
            <a:endParaRPr lang="LID4096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9F03960-7FDA-B802-19E0-0B057946FD4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Experiment management</a:t>
            </a:r>
            <a:endParaRPr lang="LID4096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9F7877E-D186-0306-41AF-A2156616DC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7CE217-4467-4B8D-A735-B008FA7C4816}" type="slidenum">
              <a:rPr lang="LID4096" smtClean="0"/>
              <a:t>33</a:t>
            </a:fld>
            <a:endParaRPr lang="LID4096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746CB8F-FBE3-11E8-68F0-13EAA425CA4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5545" y="3429000"/>
            <a:ext cx="2450335" cy="15278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87590474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8873C2-5DD1-EF40-1470-2EABB35BE7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7E671C-4352-A23A-F8DE-F0F251CD12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Experiment management</a:t>
            </a:r>
            <a:endParaRPr lang="LID4096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72FB89-D287-64A0-DCBF-F9AE85883E4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 err="1"/>
              <a:t>DVCLive</a:t>
            </a:r>
            <a:r>
              <a:rPr lang="en-US" dirty="0"/>
              <a:t> Python module</a:t>
            </a:r>
          </a:p>
          <a:p>
            <a:r>
              <a:rPr lang="en-US" dirty="0"/>
              <a:t>Log experiments</a:t>
            </a:r>
          </a:p>
          <a:p>
            <a:pPr lvl="1"/>
            <a:r>
              <a:rPr lang="en-US" dirty="0"/>
              <a:t>Parameter values</a:t>
            </a:r>
          </a:p>
          <a:p>
            <a:pPr lvl="1"/>
            <a:r>
              <a:rPr lang="en-US" dirty="0"/>
              <a:t>Time step</a:t>
            </a:r>
          </a:p>
          <a:p>
            <a:pPr lvl="1"/>
            <a:r>
              <a:rPr lang="en-US" dirty="0"/>
              <a:t>Metric values</a:t>
            </a:r>
          </a:p>
          <a:p>
            <a:pPr lvl="1"/>
            <a:r>
              <a:rPr lang="en-US" dirty="0"/>
              <a:t>Images/plots/artifacts</a:t>
            </a:r>
          </a:p>
          <a:p>
            <a:r>
              <a:rPr lang="en-US" dirty="0"/>
              <a:t>Report generation</a:t>
            </a:r>
          </a:p>
          <a:p>
            <a:r>
              <a:rPr lang="en-US" dirty="0"/>
              <a:t>Compare experiments</a:t>
            </a:r>
          </a:p>
          <a:p>
            <a:r>
              <a:rPr lang="en-US" dirty="0"/>
              <a:t>Share via GitHub/DVC Studio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15948FA-9A0D-3036-9FD9-46AC370CB5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7CE217-4467-4B8D-A735-B008FA7C4816}" type="slidenum">
              <a:rPr lang="LID4096" smtClean="0"/>
              <a:t>34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1214388684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EB6E4B-D2E9-B24F-97FE-30274A8B36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DVCLive</a:t>
            </a:r>
            <a:r>
              <a:rPr lang="en-US" dirty="0"/>
              <a:t> basics</a:t>
            </a:r>
            <a:endParaRPr lang="LID4096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A46FF7F-5AA7-B3A2-6D7C-719CCA876D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7CE217-4467-4B8D-A735-B008FA7C4816}" type="slidenum">
              <a:rPr lang="LID4096" smtClean="0"/>
              <a:t>35</a:t>
            </a:fld>
            <a:endParaRPr lang="LID4096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AD63023-1980-1F2A-DC13-A6B0364F46E6}"/>
              </a:ext>
            </a:extLst>
          </p:cNvPr>
          <p:cNvSpPr txBox="1"/>
          <p:nvPr/>
        </p:nvSpPr>
        <p:spPr>
          <a:xfrm>
            <a:off x="108859" y="2931524"/>
            <a:ext cx="5105398" cy="2031325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en-US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param = 5.0</a:t>
            </a:r>
          </a:p>
          <a:p>
            <a:pPr lvl="0">
              <a:defRPr/>
            </a:pPr>
            <a:r>
              <a:rPr lang="en-US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system = </a:t>
            </a:r>
            <a:r>
              <a:rPr lang="en-US" dirty="0" err="1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init_system</a:t>
            </a:r>
            <a:r>
              <a:rPr lang="en-US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(param)</a:t>
            </a:r>
          </a:p>
          <a:p>
            <a:pPr lvl="0">
              <a:defRPr/>
            </a:pPr>
            <a:r>
              <a:rPr lang="en-US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for t in range(1, </a:t>
            </a:r>
            <a:r>
              <a:rPr lang="en-US" dirty="0" err="1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max_t</a:t>
            </a:r>
            <a:r>
              <a:rPr lang="en-US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):</a:t>
            </a:r>
          </a:p>
          <a:p>
            <a:pPr lvl="0">
              <a:defRPr/>
            </a:pPr>
            <a:r>
              <a:rPr lang="en-US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    evolve(system)</a:t>
            </a:r>
          </a:p>
          <a:p>
            <a:pPr lvl="0">
              <a:defRPr/>
            </a:pPr>
            <a:r>
              <a:rPr lang="en-US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    metric = </a:t>
            </a:r>
            <a:r>
              <a:rPr lang="en-US" dirty="0" err="1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compute_metric</a:t>
            </a:r>
            <a:r>
              <a:rPr lang="en-US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(system)</a:t>
            </a:r>
          </a:p>
          <a:p>
            <a:pPr lvl="0">
              <a:defRPr/>
            </a:pPr>
            <a:r>
              <a:rPr lang="en-US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    print(t, metric)</a:t>
            </a:r>
          </a:p>
          <a:p>
            <a:pPr lvl="0">
              <a:defRPr/>
            </a:pPr>
            <a:r>
              <a:rPr lang="en-US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save(system, '</a:t>
            </a:r>
            <a:r>
              <a:rPr lang="en-US" dirty="0" err="1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system.pkl</a:t>
            </a:r>
            <a:r>
              <a:rPr lang="en-US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')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822221E-950B-44DF-3D50-F18E423656DC}"/>
              </a:ext>
            </a:extLst>
          </p:cNvPr>
          <p:cNvSpPr txBox="1"/>
          <p:nvPr/>
        </p:nvSpPr>
        <p:spPr>
          <a:xfrm>
            <a:off x="6183084" y="1823529"/>
            <a:ext cx="5867400" cy="3970318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en-US" b="1" dirty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import </a:t>
            </a:r>
            <a:r>
              <a:rPr lang="en-US" b="1" dirty="0" err="1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dvclive</a:t>
            </a:r>
            <a:endParaRPr lang="en-US" b="1" dirty="0">
              <a:solidFill>
                <a:srgbClr val="FF0000"/>
              </a:solidFill>
              <a:latin typeface="Courier New" pitchFamily="49" charset="0"/>
              <a:cs typeface="Courier New" pitchFamily="49" charset="0"/>
            </a:endParaRPr>
          </a:p>
          <a:p>
            <a:pPr lvl="0">
              <a:defRPr/>
            </a:pPr>
            <a:endParaRPr lang="en-US" b="1" dirty="0">
              <a:solidFill>
                <a:srgbClr val="FF0000"/>
              </a:solidFill>
              <a:latin typeface="Courier New" pitchFamily="49" charset="0"/>
              <a:cs typeface="Courier New" pitchFamily="49" charset="0"/>
            </a:endParaRPr>
          </a:p>
          <a:p>
            <a:pPr lvl="0">
              <a:defRPr/>
            </a:pPr>
            <a:r>
              <a:rPr lang="en-US" b="1" dirty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with </a:t>
            </a:r>
            <a:r>
              <a:rPr lang="en-US" b="1" dirty="0" err="1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dvclive.Live</a:t>
            </a:r>
            <a:r>
              <a:rPr lang="en-US" b="1" dirty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(report='html') as live:</a:t>
            </a:r>
          </a:p>
          <a:p>
            <a:pPr lvl="0">
              <a:defRPr/>
            </a:pPr>
            <a:r>
              <a:rPr lang="en-US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    param = 5.0</a:t>
            </a:r>
          </a:p>
          <a:p>
            <a:pPr lvl="0">
              <a:defRPr/>
            </a:pPr>
            <a:r>
              <a:rPr lang="en-US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    </a:t>
            </a:r>
            <a:r>
              <a:rPr lang="en-US" b="1" dirty="0" err="1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live.log_param</a:t>
            </a:r>
            <a:r>
              <a:rPr lang="en-US" b="1" dirty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('param', param)</a:t>
            </a:r>
          </a:p>
          <a:p>
            <a:pPr lvl="0">
              <a:defRPr/>
            </a:pPr>
            <a:r>
              <a:rPr lang="en-US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    system = </a:t>
            </a:r>
            <a:r>
              <a:rPr lang="en-US" dirty="0" err="1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init_system</a:t>
            </a:r>
            <a:r>
              <a:rPr lang="en-US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(param)</a:t>
            </a:r>
          </a:p>
          <a:p>
            <a:pPr lvl="0">
              <a:defRPr/>
            </a:pPr>
            <a:r>
              <a:rPr lang="en-US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    for t in range(1, </a:t>
            </a:r>
            <a:r>
              <a:rPr lang="en-US" dirty="0" err="1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max_t</a:t>
            </a:r>
            <a:r>
              <a:rPr lang="en-US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):</a:t>
            </a:r>
          </a:p>
          <a:p>
            <a:pPr lvl="0">
              <a:defRPr/>
            </a:pPr>
            <a:r>
              <a:rPr lang="en-US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        evolve(system)</a:t>
            </a:r>
          </a:p>
          <a:p>
            <a:pPr lvl="0">
              <a:defRPr/>
            </a:pPr>
            <a:r>
              <a:rPr lang="en-US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        metric = </a:t>
            </a:r>
            <a:r>
              <a:rPr lang="en-US" dirty="0" err="1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compute_metric</a:t>
            </a:r>
            <a:r>
              <a:rPr lang="en-US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(system)</a:t>
            </a:r>
          </a:p>
          <a:p>
            <a:pPr lvl="0">
              <a:defRPr/>
            </a:pPr>
            <a:r>
              <a:rPr lang="en-US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        </a:t>
            </a:r>
            <a:r>
              <a:rPr lang="en-US" b="1" dirty="0" err="1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live.log_metric</a:t>
            </a:r>
            <a:r>
              <a:rPr lang="en-US" b="1" dirty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('metric', metric)</a:t>
            </a:r>
          </a:p>
          <a:p>
            <a:pPr lvl="0">
              <a:defRPr/>
            </a:pPr>
            <a:r>
              <a:rPr lang="en-US" b="1" dirty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        </a:t>
            </a:r>
            <a:r>
              <a:rPr lang="en-US" b="1" dirty="0" err="1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live.next_step</a:t>
            </a:r>
            <a:r>
              <a:rPr lang="en-US" b="1" dirty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()</a:t>
            </a:r>
          </a:p>
          <a:p>
            <a:pPr lvl="0">
              <a:defRPr/>
            </a:pPr>
            <a:r>
              <a:rPr lang="en-US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    save(system, '</a:t>
            </a:r>
            <a:r>
              <a:rPr lang="en-US" dirty="0" err="1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system.pkl</a:t>
            </a:r>
            <a:r>
              <a:rPr lang="en-US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')</a:t>
            </a:r>
            <a:br>
              <a:rPr lang="en-US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</a:br>
            <a:r>
              <a:rPr lang="en-US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    </a:t>
            </a:r>
            <a:r>
              <a:rPr lang="en-US" b="1" dirty="0" err="1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live.log_artifact</a:t>
            </a:r>
            <a:r>
              <a:rPr lang="en-US" b="1" dirty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('</a:t>
            </a:r>
            <a:r>
              <a:rPr lang="en-US" b="1" dirty="0" err="1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system.pkl</a:t>
            </a:r>
            <a:r>
              <a:rPr lang="en-US" b="1" dirty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',</a:t>
            </a:r>
            <a:br>
              <a:rPr lang="en-US" b="1" dirty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</a:br>
            <a:r>
              <a:rPr lang="en-US" b="1" dirty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                      type='model')</a:t>
            </a:r>
          </a:p>
        </p:txBody>
      </p:sp>
      <p:sp>
        <p:nvSpPr>
          <p:cNvPr id="9" name="Arrow: Right 8">
            <a:extLst>
              <a:ext uri="{FF2B5EF4-FFF2-40B4-BE49-F238E27FC236}">
                <a16:creationId xmlns:a16="http://schemas.microsoft.com/office/drawing/2014/main" id="{F0D31021-F96B-ECEF-CDC4-BF7E4CC02FBA}"/>
              </a:ext>
            </a:extLst>
          </p:cNvPr>
          <p:cNvSpPr/>
          <p:nvPr/>
        </p:nvSpPr>
        <p:spPr>
          <a:xfrm>
            <a:off x="5399314" y="3947186"/>
            <a:ext cx="609603" cy="298243"/>
          </a:xfrm>
          <a:prstGeom prst="right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866883099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DB0FF0-EB0B-ADB7-85EE-B87920FA1A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Run experiment</a:t>
            </a:r>
            <a:endParaRPr lang="LID4096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3496625-B6DE-7C10-FAE8-0E21770713A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Run Python script as usual</a:t>
            </a:r>
          </a:p>
          <a:p>
            <a:r>
              <a:rPr lang="en-US" dirty="0"/>
              <a:t>Creates</a:t>
            </a:r>
          </a:p>
          <a:p>
            <a:pPr lvl="1"/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dvc.yaml</a:t>
            </a:r>
            <a:r>
              <a:rPr lang="en-US" dirty="0"/>
              <a:t>: location of parameters/metrics/plots</a:t>
            </a:r>
          </a:p>
          <a:p>
            <a:pPr lvl="1"/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dvclive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/</a:t>
            </a:r>
          </a:p>
          <a:p>
            <a:pPr lvl="2"/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metrics.json</a:t>
            </a:r>
            <a:r>
              <a:rPr lang="en-US" dirty="0">
                <a:cs typeface="Courier New" panose="02070309020205020404" pitchFamily="49" charset="0"/>
              </a:rPr>
              <a:t>: metrics of last time step</a:t>
            </a:r>
          </a:p>
          <a:p>
            <a:pPr lvl="2"/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params.yaml</a:t>
            </a:r>
            <a:r>
              <a:rPr lang="en-US" dirty="0">
                <a:cs typeface="Courier New" panose="02070309020205020404" pitchFamily="49" charset="0"/>
              </a:rPr>
              <a:t>: parameter values</a:t>
            </a:r>
          </a:p>
          <a:p>
            <a:pPr lvl="2"/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plots/metrics/</a:t>
            </a:r>
          </a:p>
          <a:p>
            <a:pPr lvl="3"/>
            <a:r>
              <a:rPr lang="en-US" dirty="0">
                <a:cs typeface="Courier New" panose="02070309020205020404" pitchFamily="49" charset="0"/>
              </a:rPr>
              <a:t>TSV file per metric, value for each time step</a:t>
            </a:r>
          </a:p>
          <a:p>
            <a:pPr lvl="2"/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report.html</a:t>
            </a:r>
          </a:p>
          <a:p>
            <a:r>
              <a:rPr lang="en-US" dirty="0"/>
              <a:t>Pushes git experiment ref to remote for sharing</a:t>
            </a:r>
          </a:p>
          <a:p>
            <a:pPr lvl="3"/>
            <a:endParaRPr lang="LID4096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F9F4A6B-C4BE-627C-06D5-2FFC2B7787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7CE217-4467-4B8D-A735-B008FA7C4816}" type="slidenum">
              <a:rPr lang="LID4096" smtClean="0"/>
              <a:t>36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4112502229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A410F218-AB36-7A72-0A40-4890EE6550F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8830" y="1065015"/>
            <a:ext cx="8341765" cy="5771213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16792E4F-9FD5-191E-727E-5119219DED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HTML report</a:t>
            </a:r>
            <a:endParaRPr lang="LID4096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7E69077-99E3-0D17-3FB3-E50E863648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7CE217-4467-4B8D-A735-B008FA7C4816}" type="slidenum">
              <a:rPr lang="LID4096" smtClean="0"/>
              <a:t>37</a:t>
            </a:fld>
            <a:endParaRPr lang="LID4096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97577362-355A-26A6-757C-FEC6BA1E6C03}"/>
              </a:ext>
            </a:extLst>
          </p:cNvPr>
          <p:cNvGrpSpPr/>
          <p:nvPr/>
        </p:nvGrpSpPr>
        <p:grpSpPr>
          <a:xfrm>
            <a:off x="5404566" y="365125"/>
            <a:ext cx="3206035" cy="1250898"/>
            <a:chOff x="88563" y="5501785"/>
            <a:chExt cx="5047585" cy="1135701"/>
          </a:xfrm>
        </p:grpSpPr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7A320EAD-39ED-5F69-302A-6BAFDFC7F076}"/>
                </a:ext>
              </a:extLst>
            </p:cNvPr>
            <p:cNvSpPr txBox="1"/>
            <p:nvPr/>
          </p:nvSpPr>
          <p:spPr>
            <a:xfrm>
              <a:off x="2083559" y="5501785"/>
              <a:ext cx="3052589" cy="335320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rgbClr val="C00000"/>
              </a:solidFill>
            </a:ln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ea typeface="+mn-ea"/>
                  <a:cs typeface="+mn-cs"/>
                </a:rPr>
                <a:t>Parameter values</a:t>
              </a:r>
              <a:endParaRPr kumimoji="0" lang="nl-BE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cxnSp>
          <p:nvCxnSpPr>
            <p:cNvPr id="12" name="Straight Arrow Connector 11">
              <a:extLst>
                <a:ext uri="{FF2B5EF4-FFF2-40B4-BE49-F238E27FC236}">
                  <a16:creationId xmlns:a16="http://schemas.microsoft.com/office/drawing/2014/main" id="{45702458-C966-289C-51E0-A997432CDA0F}"/>
                </a:ext>
              </a:extLst>
            </p:cNvPr>
            <p:cNvCxnSpPr>
              <a:cxnSpLocks/>
              <a:stCxn id="11" idx="1"/>
            </p:cNvCxnSpPr>
            <p:nvPr/>
          </p:nvCxnSpPr>
          <p:spPr>
            <a:xfrm flipH="1">
              <a:off x="88563" y="5669445"/>
              <a:ext cx="1994996" cy="968041"/>
            </a:xfrm>
            <a:prstGeom prst="straightConnector1">
              <a:avLst/>
            </a:prstGeom>
            <a:ln w="28575">
              <a:solidFill>
                <a:srgbClr val="C00000"/>
              </a:solidFill>
              <a:tailEnd type="stealth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479C8E80-395A-1215-7FA8-3CE3DC99724F}"/>
              </a:ext>
            </a:extLst>
          </p:cNvPr>
          <p:cNvGrpSpPr/>
          <p:nvPr/>
        </p:nvGrpSpPr>
        <p:grpSpPr>
          <a:xfrm>
            <a:off x="7946570" y="1230518"/>
            <a:ext cx="2862943" cy="1250898"/>
            <a:chOff x="88563" y="5501785"/>
            <a:chExt cx="4507421" cy="1135701"/>
          </a:xfrm>
        </p:grpSpPr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CCF9B459-6DA3-6F9D-F4FA-B2B486D61F3F}"/>
                </a:ext>
              </a:extLst>
            </p:cNvPr>
            <p:cNvSpPr txBox="1"/>
            <p:nvPr/>
          </p:nvSpPr>
          <p:spPr>
            <a:xfrm>
              <a:off x="2083561" y="5501785"/>
              <a:ext cx="2512423" cy="335320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rgbClr val="C00000"/>
              </a:solidFill>
            </a:ln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ea typeface="+mn-ea"/>
                  <a:cs typeface="+mn-cs"/>
                </a:rPr>
                <a:t>Metric values</a:t>
              </a:r>
              <a:endParaRPr kumimoji="0" lang="nl-BE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cxnSp>
          <p:nvCxnSpPr>
            <p:cNvPr id="16" name="Straight Arrow Connector 15">
              <a:extLst>
                <a:ext uri="{FF2B5EF4-FFF2-40B4-BE49-F238E27FC236}">
                  <a16:creationId xmlns:a16="http://schemas.microsoft.com/office/drawing/2014/main" id="{D85D0EA3-F1B3-BACC-F2B5-BA8B412040C0}"/>
                </a:ext>
              </a:extLst>
            </p:cNvPr>
            <p:cNvCxnSpPr>
              <a:cxnSpLocks/>
              <a:stCxn id="15" idx="1"/>
            </p:cNvCxnSpPr>
            <p:nvPr/>
          </p:nvCxnSpPr>
          <p:spPr>
            <a:xfrm flipH="1">
              <a:off x="88563" y="5669445"/>
              <a:ext cx="1994998" cy="968041"/>
            </a:xfrm>
            <a:prstGeom prst="straightConnector1">
              <a:avLst/>
            </a:prstGeom>
            <a:ln w="28575">
              <a:solidFill>
                <a:srgbClr val="C00000"/>
              </a:solidFill>
              <a:tailEnd type="stealth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9" name="Group 18">
            <a:extLst>
              <a:ext uri="{FF2B5EF4-FFF2-40B4-BE49-F238E27FC236}">
                <a16:creationId xmlns:a16="http://schemas.microsoft.com/office/drawing/2014/main" id="{078F29B5-B8EC-01EA-4087-92C5CE400C7E}"/>
              </a:ext>
            </a:extLst>
          </p:cNvPr>
          <p:cNvGrpSpPr/>
          <p:nvPr/>
        </p:nvGrpSpPr>
        <p:grpSpPr>
          <a:xfrm>
            <a:off x="6973125" y="4233277"/>
            <a:ext cx="3368302" cy="1250898"/>
            <a:chOff x="88563" y="5501785"/>
            <a:chExt cx="5303059" cy="1135701"/>
          </a:xfrm>
        </p:grpSpPr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51585BCD-6E44-9DE2-E231-64C76BC983DE}"/>
                </a:ext>
              </a:extLst>
            </p:cNvPr>
            <p:cNvSpPr txBox="1"/>
            <p:nvPr/>
          </p:nvSpPr>
          <p:spPr>
            <a:xfrm>
              <a:off x="2083561" y="5501785"/>
              <a:ext cx="3308061" cy="586809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rgbClr val="C00000"/>
              </a:solidFill>
            </a:ln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ea typeface="+mn-ea"/>
                  <a:cs typeface="+mn-cs"/>
                </a:rPr>
                <a:t>Plots based on TSV files, interactive</a:t>
              </a:r>
              <a:endParaRPr kumimoji="0" lang="nl-BE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cxnSp>
          <p:nvCxnSpPr>
            <p:cNvPr id="21" name="Straight Arrow Connector 20">
              <a:extLst>
                <a:ext uri="{FF2B5EF4-FFF2-40B4-BE49-F238E27FC236}">
                  <a16:creationId xmlns:a16="http://schemas.microsoft.com/office/drawing/2014/main" id="{0E5D21A9-F6E3-55F6-87DE-A0F528DC3355}"/>
                </a:ext>
              </a:extLst>
            </p:cNvPr>
            <p:cNvCxnSpPr>
              <a:cxnSpLocks/>
              <a:stCxn id="20" idx="1"/>
            </p:cNvCxnSpPr>
            <p:nvPr/>
          </p:nvCxnSpPr>
          <p:spPr>
            <a:xfrm flipH="1">
              <a:off x="88563" y="5795190"/>
              <a:ext cx="1994998" cy="842296"/>
            </a:xfrm>
            <a:prstGeom prst="straightConnector1">
              <a:avLst/>
            </a:prstGeom>
            <a:ln w="28575">
              <a:solidFill>
                <a:srgbClr val="C00000"/>
              </a:solidFill>
              <a:tailEnd type="stealth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" name="Group 3">
            <a:extLst>
              <a:ext uri="{FF2B5EF4-FFF2-40B4-BE49-F238E27FC236}">
                <a16:creationId xmlns:a16="http://schemas.microsoft.com/office/drawing/2014/main" id="{9703C93F-8221-FBC1-86C0-F9DB2E680581}"/>
              </a:ext>
            </a:extLst>
          </p:cNvPr>
          <p:cNvGrpSpPr/>
          <p:nvPr/>
        </p:nvGrpSpPr>
        <p:grpSpPr>
          <a:xfrm>
            <a:off x="9605805" y="4932394"/>
            <a:ext cx="2271286" cy="1210028"/>
            <a:chOff x="6061878" y="373626"/>
            <a:chExt cx="2271286" cy="1210028"/>
          </a:xfrm>
        </p:grpSpPr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967D306A-9652-4B6A-B041-08CBE277F554}"/>
                </a:ext>
              </a:extLst>
            </p:cNvPr>
            <p:cNvSpPr txBox="1"/>
            <p:nvPr/>
          </p:nvSpPr>
          <p:spPr>
            <a:xfrm>
              <a:off x="6061878" y="752657"/>
              <a:ext cx="1835759" cy="830997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none" rtlCol="0">
              <a:spAutoFit/>
            </a:bodyPr>
            <a:lstStyle/>
            <a:p>
              <a:r>
                <a:rPr lang="en-US" sz="2400" dirty="0"/>
                <a:t>On WSL2</a:t>
              </a:r>
              <a:br>
                <a:rPr lang="en-US" sz="2400" dirty="0"/>
              </a:br>
              <a:r>
                <a:rPr lang="en-US" sz="2400" dirty="0"/>
                <a:t>use </a:t>
              </a:r>
              <a:r>
                <a:rPr lang="en-US" sz="2400" dirty="0">
                  <a:latin typeface="Courier New" panose="02070309020205020404" pitchFamily="49" charset="0"/>
                  <a:cs typeface="Courier New" panose="02070309020205020404" pitchFamily="49" charset="0"/>
                </a:rPr>
                <a:t>--open</a:t>
              </a:r>
              <a:endParaRPr lang="LID4096" sz="2400" dirty="0"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pic>
          <p:nvPicPr>
            <p:cNvPr id="6" name="Graphic 5" descr="Smiling face with solid fill with solid fill">
              <a:extLst>
                <a:ext uri="{FF2B5EF4-FFF2-40B4-BE49-F238E27FC236}">
                  <a16:creationId xmlns:a16="http://schemas.microsoft.com/office/drawing/2014/main" id="{8B011098-B56D-B679-5982-18AF64E24760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7725322" y="373626"/>
              <a:ext cx="607842" cy="607842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045272557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2B3818-0E54-8D78-B819-CD54F9A366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Experiment management</a:t>
            </a:r>
            <a:endParaRPr lang="LID4096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42A1C1-3EE3-3D7E-FD75-C38CE189CB9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List experiments at HEAD</a:t>
            </a:r>
          </a:p>
          <a:p>
            <a:endParaRPr lang="en-US" dirty="0"/>
          </a:p>
          <a:p>
            <a:r>
              <a:rPr lang="en-US" dirty="0"/>
              <a:t>List all experiments</a:t>
            </a:r>
          </a:p>
          <a:p>
            <a:endParaRPr lang="en-US" dirty="0"/>
          </a:p>
          <a:p>
            <a:r>
              <a:rPr lang="en-US" dirty="0"/>
              <a:t>Save workspace as experiment</a:t>
            </a:r>
          </a:p>
          <a:p>
            <a:endParaRPr lang="en-US" dirty="0"/>
          </a:p>
          <a:p>
            <a:r>
              <a:rPr lang="en-US" dirty="0"/>
              <a:t>Rename experiment</a:t>
            </a:r>
          </a:p>
          <a:p>
            <a:endParaRPr lang="en-US" dirty="0"/>
          </a:p>
          <a:p>
            <a:r>
              <a:rPr lang="en-US" dirty="0"/>
              <a:t>Remove experiment</a:t>
            </a:r>
            <a:endParaRPr lang="LID4096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819BBCB-7C78-8187-B738-C0C273D4B5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7CE217-4467-4B8D-A735-B008FA7C4816}" type="slidenum">
              <a:rPr lang="LID4096" smtClean="0"/>
              <a:t>38</a:t>
            </a:fld>
            <a:endParaRPr lang="LID4096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AAB447A-7F95-ED59-FBAE-C8C77B914853}"/>
              </a:ext>
            </a:extLst>
          </p:cNvPr>
          <p:cNvSpPr txBox="1"/>
          <p:nvPr/>
        </p:nvSpPr>
        <p:spPr>
          <a:xfrm>
            <a:off x="1317171" y="2249173"/>
            <a:ext cx="5606143" cy="369332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$  </a:t>
            </a:r>
            <a:r>
              <a:rPr lang="en-US" b="1" dirty="0" err="1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dvc</a:t>
            </a:r>
            <a:r>
              <a:rPr lang="en-US" b="1" dirty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 exp ls</a:t>
            </a:r>
            <a:endParaRPr lang="nl-BE" b="1" dirty="0">
              <a:solidFill>
                <a:schemeClr val="bg1"/>
              </a:solidFill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D37ADF1-6E9F-B07E-50FD-E89774B3CF0C}"/>
              </a:ext>
            </a:extLst>
          </p:cNvPr>
          <p:cNvSpPr txBox="1"/>
          <p:nvPr/>
        </p:nvSpPr>
        <p:spPr>
          <a:xfrm>
            <a:off x="1317170" y="6073816"/>
            <a:ext cx="5606144" cy="369332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$  </a:t>
            </a:r>
            <a:r>
              <a:rPr lang="en-US" b="1" dirty="0" err="1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dvc</a:t>
            </a:r>
            <a:r>
              <a:rPr lang="en-US" b="1" dirty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 exp remove  </a:t>
            </a:r>
            <a:r>
              <a:rPr lang="en-US" b="1" dirty="0" err="1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high_temp</a:t>
            </a:r>
            <a:endParaRPr lang="nl-BE" b="1" dirty="0">
              <a:solidFill>
                <a:schemeClr val="bg1"/>
              </a:solidFill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AAC5846-0A03-3D69-BB9B-19A296312F12}"/>
              </a:ext>
            </a:extLst>
          </p:cNvPr>
          <p:cNvSpPr txBox="1"/>
          <p:nvPr/>
        </p:nvSpPr>
        <p:spPr>
          <a:xfrm>
            <a:off x="1317171" y="4150165"/>
            <a:ext cx="5606143" cy="369332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$  </a:t>
            </a:r>
            <a:r>
              <a:rPr lang="en-US" b="1" dirty="0" err="1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dvc</a:t>
            </a:r>
            <a:r>
              <a:rPr lang="en-US" b="1" dirty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 exp save  --name '</a:t>
            </a:r>
            <a:r>
              <a:rPr lang="en-US" b="1" dirty="0" err="1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high_temp</a:t>
            </a:r>
            <a:r>
              <a:rPr lang="en-US" b="1" dirty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'</a:t>
            </a:r>
            <a:endParaRPr lang="nl-BE" b="1" dirty="0">
              <a:solidFill>
                <a:schemeClr val="bg1"/>
              </a:solidFill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7DF3C11-3335-70DC-5DE0-49D7351651FD}"/>
              </a:ext>
            </a:extLst>
          </p:cNvPr>
          <p:cNvSpPr txBox="1"/>
          <p:nvPr/>
        </p:nvSpPr>
        <p:spPr>
          <a:xfrm>
            <a:off x="1317171" y="3189692"/>
            <a:ext cx="5606143" cy="369332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$  </a:t>
            </a:r>
            <a:r>
              <a:rPr lang="en-US" b="1" dirty="0" err="1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dvc</a:t>
            </a:r>
            <a:r>
              <a:rPr lang="en-US" b="1" dirty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 exp ls  -A</a:t>
            </a:r>
            <a:endParaRPr lang="nl-BE" b="1" dirty="0">
              <a:solidFill>
                <a:schemeClr val="bg1"/>
              </a:solidFill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E611112-FFFB-24F6-DBC7-5D43A1BF8E8B}"/>
              </a:ext>
            </a:extLst>
          </p:cNvPr>
          <p:cNvSpPr txBox="1"/>
          <p:nvPr/>
        </p:nvSpPr>
        <p:spPr>
          <a:xfrm>
            <a:off x="1317169" y="5063693"/>
            <a:ext cx="5606145" cy="369332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$  </a:t>
            </a:r>
            <a:r>
              <a:rPr lang="en-US" b="1" dirty="0" err="1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dvc</a:t>
            </a:r>
            <a:r>
              <a:rPr lang="en-US" b="1" dirty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 exp rename  rival-slew </a:t>
            </a:r>
            <a:r>
              <a:rPr lang="en-US" b="1" dirty="0" err="1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high_temp</a:t>
            </a:r>
            <a:endParaRPr lang="nl-BE" b="1" dirty="0">
              <a:solidFill>
                <a:schemeClr val="bg1"/>
              </a:solidFill>
              <a:latin typeface="Courier New" pitchFamily="49" charset="0"/>
              <a:cs typeface="Courier New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767615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  <p:bldP spid="8" grpId="0" animBg="1"/>
      <p:bldP spid="9" grpId="0" animBg="1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FC5FFFA1-80E7-FE5F-95B4-793CC0FCFA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Experiment parameters &amp; metrics</a:t>
            </a:r>
            <a:endParaRPr lang="LID4096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58E7C4AE-5111-0F7E-76CB-8C3C6CF593F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Show experiments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Many measures/parameters  very wide output</a:t>
            </a:r>
          </a:p>
          <a:p>
            <a:pPr lvl="1"/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LESS='-S'</a:t>
            </a:r>
            <a:r>
              <a:rPr lang="en-US" dirty="0"/>
              <a:t> prevents wrapping</a:t>
            </a:r>
          </a:p>
          <a:p>
            <a:pPr lvl="1"/>
            <a:r>
              <a:rPr lang="en-US" dirty="0"/>
              <a:t>Use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--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json</a:t>
            </a:r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lvl="1"/>
            <a:r>
              <a:rPr lang="en-US" dirty="0"/>
              <a:t>Use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--csv --no-pager</a:t>
            </a:r>
            <a:r>
              <a:rPr lang="en-US" dirty="0"/>
              <a:t> and </a:t>
            </a:r>
            <a:r>
              <a:rPr lang="en-US" dirty="0" err="1"/>
              <a:t>csvkit</a:t>
            </a:r>
            <a:r>
              <a:rPr lang="en-US" dirty="0"/>
              <a:t> to select columns (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csvcut</a:t>
            </a:r>
            <a:r>
              <a:rPr lang="en-US" dirty="0"/>
              <a:t>) and format (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csvlook</a:t>
            </a:r>
            <a:r>
              <a:rPr lang="en-US" dirty="0"/>
              <a:t>) 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BCAD41E-D374-AC03-C2CF-DD36760128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7CE217-4467-4B8D-A735-B008FA7C4816}" type="slidenum">
              <a:rPr lang="LID4096" smtClean="0"/>
              <a:t>39</a:t>
            </a:fld>
            <a:endParaRPr lang="LID4096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E1014BE-EF49-9BE4-1727-4751E2EB5466}"/>
              </a:ext>
            </a:extLst>
          </p:cNvPr>
          <p:cNvSpPr txBox="1"/>
          <p:nvPr/>
        </p:nvSpPr>
        <p:spPr>
          <a:xfrm>
            <a:off x="533400" y="2246968"/>
            <a:ext cx="11386458" cy="1754326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$  LESS='-S'  </a:t>
            </a:r>
            <a:r>
              <a:rPr lang="en-US" b="1" dirty="0" err="1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dvc</a:t>
            </a:r>
            <a:r>
              <a:rPr lang="en-US" b="1" dirty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 exp show --only-changed --md</a:t>
            </a:r>
          </a:p>
          <a:p>
            <a:r>
              <a:rPr lang="en-US" b="1" dirty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| Experiment               | Created   | magnetization   | energy   | </a:t>
            </a:r>
            <a:r>
              <a:rPr lang="en-US" b="1" dirty="0" err="1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ising.h</a:t>
            </a:r>
            <a:r>
              <a:rPr lang="en-US" b="1" dirty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   |</a:t>
            </a:r>
          </a:p>
          <a:p>
            <a:r>
              <a:rPr lang="en-US" b="1" dirty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|--------------------------|-----------|-----------------|----------|-----------|</a:t>
            </a:r>
          </a:p>
          <a:p>
            <a:r>
              <a:rPr lang="en-US" b="1" dirty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| workspace                | -         | 0.9734          | -2.3871  | 0.5       |</a:t>
            </a:r>
          </a:p>
          <a:p>
            <a:r>
              <a:rPr lang="en-US" b="1" dirty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| main                     | 11:23 AM  | 0.4944          | -1.2352  | 1         |</a:t>
            </a:r>
          </a:p>
          <a:p>
            <a:r>
              <a:rPr lang="en-US" b="1" dirty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| ├── 44fcecf [rival-slew] | 11:39 AM  | 0.9734          | -2.3871  | 0.5       |</a:t>
            </a:r>
            <a:endParaRPr lang="nl-BE" b="1" dirty="0">
              <a:solidFill>
                <a:schemeClr val="bg1"/>
              </a:solidFill>
              <a:latin typeface="Courier New" pitchFamily="49" charset="0"/>
              <a:cs typeface="Courier New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171224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9AF386-E6D7-F5DB-C51F-93F7299117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Experiment plots</a:t>
            </a:r>
            <a:endParaRPr lang="LID4096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99FF7DD-5DA6-18C4-4D1D-4257F4FC3F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7CE217-4467-4B8D-A735-B008FA7C4816}" type="slidenum">
              <a:rPr lang="LID4096" smtClean="0"/>
              <a:t>40</a:t>
            </a:fld>
            <a:endParaRPr lang="LID4096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F273256-D8A0-52DF-0E7A-3CB389C77D61}"/>
              </a:ext>
            </a:extLst>
          </p:cNvPr>
          <p:cNvSpPr txBox="1"/>
          <p:nvPr/>
        </p:nvSpPr>
        <p:spPr>
          <a:xfrm>
            <a:off x="1317171" y="1879057"/>
            <a:ext cx="4180115" cy="369332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$  </a:t>
            </a:r>
            <a:r>
              <a:rPr lang="en-US" b="1" dirty="0" err="1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dvc</a:t>
            </a:r>
            <a:r>
              <a:rPr lang="en-US" b="1" dirty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 plots show  </a:t>
            </a:r>
            <a:r>
              <a:rPr lang="en-US" b="1" dirty="0" err="1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high_temp</a:t>
            </a:r>
            <a:endParaRPr lang="nl-BE" b="1" dirty="0">
              <a:solidFill>
                <a:schemeClr val="bg1"/>
              </a:solidFill>
              <a:latin typeface="Courier New" pitchFamily="49" charset="0"/>
              <a:cs typeface="Courier New" pitchFamily="49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06A1521-DD7F-157E-A284-99D6450215E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2114" y="2683802"/>
            <a:ext cx="8946821" cy="4174198"/>
          </a:xfrm>
          <a:prstGeom prst="rect">
            <a:avLst/>
          </a:prstGeom>
        </p:spPr>
      </p:pic>
      <p:grpSp>
        <p:nvGrpSpPr>
          <p:cNvPr id="7" name="Group 6">
            <a:extLst>
              <a:ext uri="{FF2B5EF4-FFF2-40B4-BE49-F238E27FC236}">
                <a16:creationId xmlns:a16="http://schemas.microsoft.com/office/drawing/2014/main" id="{9CE147B6-8370-4B6E-1245-BB840C21CD24}"/>
              </a:ext>
            </a:extLst>
          </p:cNvPr>
          <p:cNvGrpSpPr/>
          <p:nvPr/>
        </p:nvGrpSpPr>
        <p:grpSpPr>
          <a:xfrm>
            <a:off x="8105240" y="2058353"/>
            <a:ext cx="3368302" cy="1250898"/>
            <a:chOff x="88563" y="5501785"/>
            <a:chExt cx="5303059" cy="1135701"/>
          </a:xfrm>
        </p:grpSpPr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BBA59516-5AAB-7B87-0309-2D1C1CAD1650}"/>
                </a:ext>
              </a:extLst>
            </p:cNvPr>
            <p:cNvSpPr txBox="1"/>
            <p:nvPr/>
          </p:nvSpPr>
          <p:spPr>
            <a:xfrm>
              <a:off x="2083561" y="5501785"/>
              <a:ext cx="3308061" cy="586809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rgbClr val="C00000"/>
              </a:solidFill>
            </a:ln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ea typeface="+mn-ea"/>
                  <a:cs typeface="+mn-cs"/>
                </a:rPr>
                <a:t>Plots based on TSV files, interactive</a:t>
              </a:r>
              <a:endParaRPr kumimoji="0" lang="nl-BE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cxnSp>
          <p:nvCxnSpPr>
            <p:cNvPr id="9" name="Straight Arrow Connector 8">
              <a:extLst>
                <a:ext uri="{FF2B5EF4-FFF2-40B4-BE49-F238E27FC236}">
                  <a16:creationId xmlns:a16="http://schemas.microsoft.com/office/drawing/2014/main" id="{A90F7800-678F-D266-462D-92AB4961B9D6}"/>
                </a:ext>
              </a:extLst>
            </p:cNvPr>
            <p:cNvCxnSpPr>
              <a:cxnSpLocks/>
              <a:stCxn id="8" idx="1"/>
            </p:cNvCxnSpPr>
            <p:nvPr/>
          </p:nvCxnSpPr>
          <p:spPr>
            <a:xfrm flipH="1">
              <a:off x="88563" y="5795190"/>
              <a:ext cx="1994998" cy="842296"/>
            </a:xfrm>
            <a:prstGeom prst="straightConnector1">
              <a:avLst/>
            </a:prstGeom>
            <a:ln w="28575">
              <a:solidFill>
                <a:srgbClr val="C00000"/>
              </a:solidFill>
              <a:tailEnd type="stealth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0" name="TextBox 9">
            <a:extLst>
              <a:ext uri="{FF2B5EF4-FFF2-40B4-BE49-F238E27FC236}">
                <a16:creationId xmlns:a16="http://schemas.microsoft.com/office/drawing/2014/main" id="{763E99FA-21E3-0262-02EC-49D61910601E}"/>
              </a:ext>
            </a:extLst>
          </p:cNvPr>
          <p:cNvSpPr txBox="1"/>
          <p:nvPr/>
        </p:nvSpPr>
        <p:spPr>
          <a:xfrm>
            <a:off x="8523514" y="4973022"/>
            <a:ext cx="1107996" cy="369332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/>
              <a:t>HTML file</a:t>
            </a:r>
            <a:endParaRPr lang="LID4096" dirty="0"/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60332A15-2890-7F95-4177-670EBE5F6AAD}"/>
              </a:ext>
            </a:extLst>
          </p:cNvPr>
          <p:cNvGrpSpPr/>
          <p:nvPr/>
        </p:nvGrpSpPr>
        <p:grpSpPr>
          <a:xfrm>
            <a:off x="6061878" y="752657"/>
            <a:ext cx="3376036" cy="1283447"/>
            <a:chOff x="6061878" y="752657"/>
            <a:chExt cx="3376036" cy="1283447"/>
          </a:xfrm>
        </p:grpSpPr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C9869AB2-DDDF-0CA2-D329-91BB16218C8C}"/>
                </a:ext>
              </a:extLst>
            </p:cNvPr>
            <p:cNvSpPr txBox="1"/>
            <p:nvPr/>
          </p:nvSpPr>
          <p:spPr>
            <a:xfrm>
              <a:off x="6061878" y="752657"/>
              <a:ext cx="3015634" cy="830997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none" rtlCol="0">
              <a:spAutoFit/>
            </a:bodyPr>
            <a:lstStyle/>
            <a:p>
              <a:r>
                <a:rPr lang="en-US" sz="2400" dirty="0"/>
                <a:t>If you have a browser,</a:t>
              </a:r>
              <a:br>
                <a:rPr lang="en-US" sz="2400" dirty="0"/>
              </a:br>
              <a:r>
                <a:rPr lang="en-US" sz="2400" dirty="0"/>
                <a:t>use </a:t>
              </a:r>
              <a:r>
                <a:rPr lang="en-US" sz="2400" dirty="0">
                  <a:latin typeface="Courier New" panose="02070309020205020404" pitchFamily="49" charset="0"/>
                  <a:cs typeface="Courier New" panose="02070309020205020404" pitchFamily="49" charset="0"/>
                </a:rPr>
                <a:t>--open</a:t>
              </a:r>
              <a:endParaRPr lang="LID4096" sz="2400" dirty="0"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pic>
          <p:nvPicPr>
            <p:cNvPr id="12" name="Graphic 11" descr="Smiling face with solid fill with solid fill">
              <a:extLst>
                <a:ext uri="{FF2B5EF4-FFF2-40B4-BE49-F238E27FC236}">
                  <a16:creationId xmlns:a16="http://schemas.microsoft.com/office/drawing/2014/main" id="{BA1EB4FF-1075-D0BC-B773-69ACAD9735BE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8523514" y="1121704"/>
              <a:ext cx="914400" cy="91440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6328385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8206CA-3919-5554-121C-1B9552CA43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Comparing experiments</a:t>
            </a:r>
            <a:endParaRPr lang="LID4096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5D0A6D1-9366-11EB-DF4E-38473912069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11968"/>
            <a:ext cx="10515600" cy="4351338"/>
          </a:xfrm>
        </p:spPr>
        <p:txBody>
          <a:bodyPr/>
          <a:lstStyle/>
          <a:p>
            <a:r>
              <a:rPr lang="en-US" dirty="0"/>
              <a:t>Parameters/final metrics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Evolution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LID4096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0DD123B-5FCA-205D-BF1D-F928E9541C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7CE217-4467-4B8D-A735-B008FA7C4816}" type="slidenum">
              <a:rPr lang="LID4096" smtClean="0"/>
              <a:t>41</a:t>
            </a:fld>
            <a:endParaRPr lang="LID4096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E253980-B1C5-EE74-F219-D0D1DE071438}"/>
              </a:ext>
            </a:extLst>
          </p:cNvPr>
          <p:cNvSpPr txBox="1"/>
          <p:nvPr/>
        </p:nvSpPr>
        <p:spPr>
          <a:xfrm>
            <a:off x="1240972" y="1836390"/>
            <a:ext cx="10515600" cy="2031325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$  </a:t>
            </a:r>
            <a:r>
              <a:rPr lang="en-US" b="1" dirty="0" err="1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dvc</a:t>
            </a:r>
            <a:r>
              <a:rPr lang="en-US" b="1" dirty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 exp diff </a:t>
            </a:r>
            <a:r>
              <a:rPr lang="en-US" b="1" dirty="0" err="1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high_temp</a:t>
            </a:r>
            <a:r>
              <a:rPr lang="en-US" b="1" dirty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en-US" b="1" dirty="0" err="1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low_temp</a:t>
            </a:r>
            <a:endParaRPr lang="en-US" b="1" dirty="0">
              <a:solidFill>
                <a:schemeClr val="bg1"/>
              </a:solidFill>
              <a:latin typeface="Courier New" pitchFamily="49" charset="0"/>
              <a:cs typeface="Courier New" pitchFamily="49" charset="0"/>
            </a:endParaRPr>
          </a:p>
          <a:p>
            <a:r>
              <a:rPr lang="en-US" b="1" dirty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Path                  Metric         </a:t>
            </a:r>
            <a:r>
              <a:rPr lang="en-US" b="1" dirty="0" err="1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high_temp</a:t>
            </a:r>
            <a:r>
              <a:rPr lang="en-US" b="1" dirty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    </a:t>
            </a:r>
            <a:r>
              <a:rPr lang="en-US" b="1" dirty="0" err="1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low_temp</a:t>
            </a:r>
            <a:r>
              <a:rPr lang="en-US" b="1" dirty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    Change</a:t>
            </a:r>
          </a:p>
          <a:p>
            <a:r>
              <a:rPr lang="en-US" b="1" dirty="0" err="1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dvclive</a:t>
            </a:r>
            <a:r>
              <a:rPr lang="en-US" b="1" dirty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/</a:t>
            </a:r>
            <a:r>
              <a:rPr lang="en-US" b="1" dirty="0" err="1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metrics.json</a:t>
            </a:r>
            <a:r>
              <a:rPr lang="en-US" b="1" dirty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  energy         -2.3871      -0.6899     1.6972</a:t>
            </a:r>
          </a:p>
          <a:p>
            <a:r>
              <a:rPr lang="en-US" b="1" dirty="0" err="1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dvclive</a:t>
            </a:r>
            <a:r>
              <a:rPr lang="en-US" b="1" dirty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/</a:t>
            </a:r>
            <a:r>
              <a:rPr lang="en-US" b="1" dirty="0" err="1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metrics.json</a:t>
            </a:r>
            <a:r>
              <a:rPr lang="en-US" b="1" dirty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  magnetization  0.9734       0.295       -0.6784</a:t>
            </a:r>
          </a:p>
          <a:p>
            <a:endParaRPr lang="en-US" b="1" dirty="0">
              <a:solidFill>
                <a:schemeClr val="bg1"/>
              </a:solidFill>
              <a:latin typeface="Courier New" pitchFamily="49" charset="0"/>
              <a:cs typeface="Courier New" pitchFamily="49" charset="0"/>
            </a:endParaRPr>
          </a:p>
          <a:p>
            <a:r>
              <a:rPr lang="en-US" b="1" dirty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Path                 Param                 </a:t>
            </a:r>
            <a:r>
              <a:rPr lang="en-US" b="1" dirty="0" err="1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high_temp</a:t>
            </a:r>
            <a:r>
              <a:rPr lang="en-US" b="1" dirty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    </a:t>
            </a:r>
            <a:r>
              <a:rPr lang="en-US" b="1" dirty="0" err="1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low_temp</a:t>
            </a:r>
            <a:r>
              <a:rPr lang="en-US" b="1" dirty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    Change</a:t>
            </a:r>
          </a:p>
          <a:p>
            <a:r>
              <a:rPr lang="en-US" b="1" dirty="0" err="1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dvclive</a:t>
            </a:r>
            <a:r>
              <a:rPr lang="en-US" b="1" dirty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/</a:t>
            </a:r>
            <a:r>
              <a:rPr lang="en-US" b="1" dirty="0" err="1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params.yaml</a:t>
            </a:r>
            <a:r>
              <a:rPr lang="en-US" b="1" dirty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  </a:t>
            </a:r>
            <a:r>
              <a:rPr lang="en-US" b="1" dirty="0" err="1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dynamics.temperature</a:t>
            </a:r>
            <a:r>
              <a:rPr lang="en-US" b="1" dirty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  2.0          5.0         3.0</a:t>
            </a:r>
            <a:endParaRPr lang="nl-BE" b="1" dirty="0">
              <a:solidFill>
                <a:schemeClr val="bg1"/>
              </a:solidFill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0C1B6BC-9FD8-434E-3730-24E8F29D819E}"/>
              </a:ext>
            </a:extLst>
          </p:cNvPr>
          <p:cNvSpPr txBox="1"/>
          <p:nvPr/>
        </p:nvSpPr>
        <p:spPr>
          <a:xfrm>
            <a:off x="1240972" y="4446178"/>
            <a:ext cx="5214257" cy="369332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$  </a:t>
            </a:r>
            <a:r>
              <a:rPr lang="en-US" b="1" dirty="0" err="1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dvc</a:t>
            </a:r>
            <a:r>
              <a:rPr lang="en-US" b="1" dirty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 plots diff </a:t>
            </a:r>
            <a:r>
              <a:rPr lang="en-US" b="1" dirty="0" err="1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high_temp</a:t>
            </a:r>
            <a:r>
              <a:rPr lang="en-US" b="1" dirty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en-US" b="1" dirty="0" err="1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low_temp</a:t>
            </a:r>
            <a:endParaRPr lang="en-US" b="1" dirty="0">
              <a:solidFill>
                <a:schemeClr val="bg1"/>
              </a:solidFill>
              <a:latin typeface="Courier New" pitchFamily="49" charset="0"/>
              <a:cs typeface="Courier New" pitchFamily="49" charset="0"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A37F60CD-CE2E-AA84-07D4-646E2BC8956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83722" y="4199202"/>
            <a:ext cx="4746242" cy="2080948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7E6E73F6-47AF-2664-8C32-27D6AB9D2B00}"/>
              </a:ext>
            </a:extLst>
          </p:cNvPr>
          <p:cNvSpPr txBox="1"/>
          <p:nvPr/>
        </p:nvSpPr>
        <p:spPr>
          <a:xfrm>
            <a:off x="5780314" y="5559718"/>
            <a:ext cx="1107996" cy="369332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/>
              <a:t>HTML file</a:t>
            </a:r>
            <a:endParaRPr lang="LID4096" dirty="0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A5E85CCD-6D7D-3879-AA23-56B0BBA3C446}"/>
              </a:ext>
            </a:extLst>
          </p:cNvPr>
          <p:cNvGrpSpPr/>
          <p:nvPr/>
        </p:nvGrpSpPr>
        <p:grpSpPr>
          <a:xfrm>
            <a:off x="1169535" y="5255465"/>
            <a:ext cx="3376036" cy="1283447"/>
            <a:chOff x="6061878" y="752657"/>
            <a:chExt cx="3376036" cy="1283447"/>
          </a:xfrm>
        </p:grpSpPr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2C04D22C-6CE7-EF8A-DD62-2EBE454B7ABE}"/>
                </a:ext>
              </a:extLst>
            </p:cNvPr>
            <p:cNvSpPr txBox="1"/>
            <p:nvPr/>
          </p:nvSpPr>
          <p:spPr>
            <a:xfrm>
              <a:off x="6061878" y="752657"/>
              <a:ext cx="3015634" cy="830997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none" rtlCol="0">
              <a:spAutoFit/>
            </a:bodyPr>
            <a:lstStyle/>
            <a:p>
              <a:r>
                <a:rPr lang="en-US" sz="2400" dirty="0"/>
                <a:t>If you have a browser,</a:t>
              </a:r>
              <a:br>
                <a:rPr lang="en-US" sz="2400" dirty="0"/>
              </a:br>
              <a:r>
                <a:rPr lang="en-US" sz="2400" dirty="0"/>
                <a:t>use </a:t>
              </a:r>
              <a:r>
                <a:rPr lang="en-US" sz="2400" dirty="0">
                  <a:latin typeface="Courier New" panose="02070309020205020404" pitchFamily="49" charset="0"/>
                  <a:cs typeface="Courier New" panose="02070309020205020404" pitchFamily="49" charset="0"/>
                </a:rPr>
                <a:t>--open</a:t>
              </a:r>
              <a:endParaRPr lang="LID4096" sz="2400" dirty="0"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pic>
          <p:nvPicPr>
            <p:cNvPr id="9" name="Graphic 8" descr="Smiling face with solid fill with solid fill">
              <a:extLst>
                <a:ext uri="{FF2B5EF4-FFF2-40B4-BE49-F238E27FC236}">
                  <a16:creationId xmlns:a16="http://schemas.microsoft.com/office/drawing/2014/main" id="{4D1D8A83-ACA7-8425-BABE-15AFA29B35CA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8523514" y="1121704"/>
              <a:ext cx="914400" cy="91440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421699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AF57E0-A434-0F25-8810-27DED25237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Sharing experiments</a:t>
            </a:r>
            <a:endParaRPr lang="LID4096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002FCF8-B809-DD95-86E9-B1DA899BEA0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Push experiments to GitHub</a:t>
            </a:r>
          </a:p>
          <a:p>
            <a:endParaRPr lang="en-US" dirty="0"/>
          </a:p>
          <a:p>
            <a:r>
              <a:rPr lang="en-US" dirty="0"/>
              <a:t>Pull experiments to GitHub</a:t>
            </a:r>
            <a:endParaRPr lang="LID4096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5BBD7B2-FCD6-562B-4011-98567506D0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7CE217-4467-4B8D-A735-B008FA7C4816}" type="slidenum">
              <a:rPr lang="LID4096" smtClean="0"/>
              <a:t>42</a:t>
            </a:fld>
            <a:endParaRPr lang="LID4096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F970B18-B139-6675-9285-2512622F4AAB}"/>
              </a:ext>
            </a:extLst>
          </p:cNvPr>
          <p:cNvSpPr txBox="1"/>
          <p:nvPr/>
        </p:nvSpPr>
        <p:spPr>
          <a:xfrm>
            <a:off x="1284515" y="2358030"/>
            <a:ext cx="3461658" cy="369332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$  </a:t>
            </a:r>
            <a:r>
              <a:rPr lang="en-US" b="1" dirty="0" err="1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dvc</a:t>
            </a:r>
            <a:r>
              <a:rPr lang="en-US" b="1" dirty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 exp push  origin</a:t>
            </a:r>
            <a:endParaRPr lang="nl-BE" b="1" dirty="0">
              <a:solidFill>
                <a:schemeClr val="bg1"/>
              </a:solidFill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90D8C08-EE54-490F-0420-7DFC2CC90C83}"/>
              </a:ext>
            </a:extLst>
          </p:cNvPr>
          <p:cNvSpPr txBox="1"/>
          <p:nvPr/>
        </p:nvSpPr>
        <p:spPr>
          <a:xfrm>
            <a:off x="1284514" y="3337745"/>
            <a:ext cx="3461658" cy="369332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$  </a:t>
            </a:r>
            <a:r>
              <a:rPr lang="en-US" b="1" dirty="0" err="1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dvc</a:t>
            </a:r>
            <a:r>
              <a:rPr lang="en-US" b="1" dirty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 exp pull  origin</a:t>
            </a:r>
            <a:endParaRPr lang="nl-BE" b="1" dirty="0">
              <a:solidFill>
                <a:schemeClr val="bg1"/>
              </a:solidFill>
              <a:latin typeface="Courier New" pitchFamily="49" charset="0"/>
              <a:cs typeface="Courier New" pitchFamily="49" charset="0"/>
            </a:endParaRP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509B1F7F-969D-D1BA-DFDD-C8F8C13D92B0}"/>
              </a:ext>
            </a:extLst>
          </p:cNvPr>
          <p:cNvGrpSpPr/>
          <p:nvPr/>
        </p:nvGrpSpPr>
        <p:grpSpPr>
          <a:xfrm>
            <a:off x="4746172" y="2542700"/>
            <a:ext cx="4680857" cy="979711"/>
            <a:chOff x="4746172" y="2542700"/>
            <a:chExt cx="4680857" cy="979711"/>
          </a:xfrm>
        </p:grpSpPr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510740FA-6CEA-F3A5-E2FA-A8898F5F8081}"/>
                </a:ext>
              </a:extLst>
            </p:cNvPr>
            <p:cNvGrpSpPr/>
            <p:nvPr/>
          </p:nvGrpSpPr>
          <p:grpSpPr>
            <a:xfrm>
              <a:off x="4746173" y="2542700"/>
              <a:ext cx="4680856" cy="646337"/>
              <a:chOff x="-1875092" y="5501780"/>
              <a:chExt cx="7369546" cy="586814"/>
            </a:xfrm>
          </p:grpSpPr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B790D43E-0539-E6DA-D927-1852ECF0F6C8}"/>
                  </a:ext>
                </a:extLst>
              </p:cNvPr>
              <p:cNvSpPr txBox="1"/>
              <p:nvPr/>
            </p:nvSpPr>
            <p:spPr>
              <a:xfrm>
                <a:off x="2083561" y="5501785"/>
                <a:ext cx="3410893" cy="586809"/>
              </a:xfrm>
              <a:prstGeom prst="rect">
                <a:avLst/>
              </a:prstGeom>
              <a:solidFill>
                <a:schemeClr val="bg1"/>
              </a:solidFill>
              <a:ln w="19050">
                <a:solidFill>
                  <a:srgbClr val="C00000"/>
                </a:solidFill>
              </a:ln>
            </p:spPr>
            <p:txBody>
              <a:bodyPr wrap="squar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ea typeface="+mn-ea"/>
                    <a:cs typeface="+mn-cs"/>
                  </a:rPr>
                  <a:t>Name of git remote,</a:t>
                </a: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US" dirty="0">
                    <a:solidFill>
                      <a:prstClr val="black"/>
                    </a:solidFill>
                    <a:latin typeface="Courier New" panose="02070309020205020404" pitchFamily="49" charset="0"/>
                  </a:rPr>
                  <a:t>no default</a:t>
                </a:r>
                <a:endParaRPr kumimoji="0" lang="nl-BE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ourier New" panose="02070309020205020404" pitchFamily="49" charset="0"/>
                  <a:cs typeface="Courier New" panose="02070309020205020404" pitchFamily="49" charset="0"/>
                </a:endParaRPr>
              </a:p>
            </p:txBody>
          </p:sp>
          <p:cxnSp>
            <p:nvCxnSpPr>
              <p:cNvPr id="9" name="Straight Arrow Connector 8">
                <a:extLst>
                  <a:ext uri="{FF2B5EF4-FFF2-40B4-BE49-F238E27FC236}">
                    <a16:creationId xmlns:a16="http://schemas.microsoft.com/office/drawing/2014/main" id="{B102E545-5547-3E49-3ABD-BD39A199286D}"/>
                  </a:ext>
                </a:extLst>
              </p:cNvPr>
              <p:cNvCxnSpPr>
                <a:cxnSpLocks/>
                <a:stCxn id="8" idx="1"/>
                <a:endCxn id="5" idx="3"/>
              </p:cNvCxnSpPr>
              <p:nvPr/>
            </p:nvCxnSpPr>
            <p:spPr>
              <a:xfrm flipH="1" flipV="1">
                <a:off x="-1875092" y="5501780"/>
                <a:ext cx="3958653" cy="293409"/>
              </a:xfrm>
              <a:prstGeom prst="straightConnector1">
                <a:avLst/>
              </a:prstGeom>
              <a:ln w="28575">
                <a:solidFill>
                  <a:srgbClr val="C00000"/>
                </a:solidFill>
                <a:tailEnd type="stealth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12" name="Straight Arrow Connector 11">
              <a:extLst>
                <a:ext uri="{FF2B5EF4-FFF2-40B4-BE49-F238E27FC236}">
                  <a16:creationId xmlns:a16="http://schemas.microsoft.com/office/drawing/2014/main" id="{EAEBD127-1D55-D715-31A4-A9DC92B1C84F}"/>
                </a:ext>
              </a:extLst>
            </p:cNvPr>
            <p:cNvCxnSpPr>
              <a:cxnSpLocks/>
              <a:stCxn id="8" idx="1"/>
              <a:endCxn id="6" idx="3"/>
            </p:cNvCxnSpPr>
            <p:nvPr/>
          </p:nvCxnSpPr>
          <p:spPr>
            <a:xfrm flipH="1">
              <a:off x="4746172" y="2865872"/>
              <a:ext cx="2514387" cy="656539"/>
            </a:xfrm>
            <a:prstGeom prst="straightConnector1">
              <a:avLst/>
            </a:prstGeom>
            <a:ln w="28575">
              <a:solidFill>
                <a:srgbClr val="C00000"/>
              </a:solidFill>
              <a:tailEnd type="stealth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0" name="Group 9">
            <a:extLst>
              <a:ext uri="{FF2B5EF4-FFF2-40B4-BE49-F238E27FC236}">
                <a16:creationId xmlns:a16="http://schemas.microsoft.com/office/drawing/2014/main" id="{D480B76E-9E75-5766-9591-85778F37A33F}"/>
              </a:ext>
            </a:extLst>
          </p:cNvPr>
          <p:cNvGrpSpPr/>
          <p:nvPr/>
        </p:nvGrpSpPr>
        <p:grpSpPr>
          <a:xfrm>
            <a:off x="3461552" y="4159938"/>
            <a:ext cx="5083625" cy="1379498"/>
            <a:chOff x="424546" y="5228351"/>
            <a:chExt cx="5083625" cy="1379498"/>
          </a:xfrm>
        </p:grpSpPr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15F8BC51-5153-06D0-761B-19D80FEC2989}"/>
                </a:ext>
              </a:extLst>
            </p:cNvPr>
            <p:cNvSpPr txBox="1"/>
            <p:nvPr/>
          </p:nvSpPr>
          <p:spPr>
            <a:xfrm>
              <a:off x="424546" y="5653742"/>
              <a:ext cx="4661469" cy="954107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none" rtlCol="0">
              <a:spAutoFit/>
            </a:bodyPr>
            <a:lstStyle/>
            <a:p>
              <a:r>
                <a:rPr lang="en-US" sz="2800" dirty="0"/>
                <a:t>Don’t forget to </a:t>
              </a:r>
              <a:r>
                <a:rPr lang="en-US" sz="2800" dirty="0" err="1"/>
                <a:t>dvc</a:t>
              </a:r>
              <a:r>
                <a:rPr lang="en-US" sz="2800" dirty="0"/>
                <a:t> push/pull,</a:t>
              </a:r>
              <a:br>
                <a:rPr lang="en-US" sz="2800" dirty="0"/>
              </a:br>
              <a:r>
                <a:rPr lang="en-US" sz="2800" dirty="0"/>
                <a:t>git push/pull is not enough!</a:t>
              </a:r>
              <a:endParaRPr lang="LID4096" sz="2800" dirty="0"/>
            </a:p>
          </p:txBody>
        </p:sp>
        <p:pic>
          <p:nvPicPr>
            <p:cNvPr id="13" name="Picture 2" descr="C:\Users\lucg5005\AppData\Local\Microsoft\Windows\Temporary Internet Files\Content.IE5\CWZUAEH4\lgi01a201309290600[1].jpg">
              <a:extLst>
                <a:ext uri="{FF2B5EF4-FFF2-40B4-BE49-F238E27FC236}">
                  <a16:creationId xmlns:a16="http://schemas.microsoft.com/office/drawing/2014/main" id="{CE4F2AF2-2090-AEFA-BB78-E2542DB9AAE5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942020" y="5228351"/>
              <a:ext cx="566151" cy="58090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28272962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56BD0C-DC7C-ECEF-F228-FE714A00DA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about R?</a:t>
            </a:r>
            <a:endParaRPr lang="LID4096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8C8B397-F5D8-CF03-9E79-56AD679B80A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4931226" cy="4351338"/>
          </a:xfrm>
        </p:spPr>
        <p:txBody>
          <a:bodyPr>
            <a:normAutofit/>
          </a:bodyPr>
          <a:lstStyle/>
          <a:p>
            <a:r>
              <a:rPr lang="en-US" dirty="0"/>
              <a:t>Easy: use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reticulate</a:t>
            </a:r>
            <a:r>
              <a:rPr lang="en-US" dirty="0"/>
              <a:t> to use Python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dvclive</a:t>
            </a:r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E7F08BB-3246-52C0-4035-F9D2DCD55F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7CE217-4467-4B8D-A735-B008FA7C4816}" type="slidenum">
              <a:rPr lang="LID4096" smtClean="0"/>
              <a:t>43</a:t>
            </a:fld>
            <a:endParaRPr lang="LID4096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70D0454-FA1D-63A3-0ECC-CCC405365DB9}"/>
              </a:ext>
            </a:extLst>
          </p:cNvPr>
          <p:cNvSpPr txBox="1"/>
          <p:nvPr/>
        </p:nvSpPr>
        <p:spPr>
          <a:xfrm>
            <a:off x="6487883" y="1043047"/>
            <a:ext cx="5279571" cy="5078313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en-US" b="1" dirty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library(reticulate)</a:t>
            </a:r>
          </a:p>
          <a:p>
            <a:pPr lvl="0">
              <a:defRPr/>
            </a:pPr>
            <a:r>
              <a:rPr lang="en-US" b="1" dirty="0" err="1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dvclive</a:t>
            </a:r>
            <a:r>
              <a:rPr lang="en-US" b="1" dirty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 &lt;- import("</a:t>
            </a:r>
            <a:r>
              <a:rPr lang="en-US" b="1" dirty="0" err="1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dvclive</a:t>
            </a:r>
            <a:r>
              <a:rPr lang="en-US" b="1" dirty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")</a:t>
            </a:r>
          </a:p>
          <a:p>
            <a:pPr lvl="0">
              <a:defRPr/>
            </a:pPr>
            <a:r>
              <a:rPr lang="en-US" b="1" dirty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live &lt;- </a:t>
            </a:r>
            <a:r>
              <a:rPr lang="en-US" b="1" dirty="0" err="1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dvclive$Live</a:t>
            </a:r>
            <a:r>
              <a:rPr lang="en-US" b="1" dirty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(report='html')</a:t>
            </a:r>
          </a:p>
          <a:p>
            <a:pPr lvl="0">
              <a:defRPr/>
            </a:pPr>
            <a:endParaRPr lang="en-US" b="1" dirty="0">
              <a:solidFill>
                <a:srgbClr val="FF0000"/>
              </a:solidFill>
              <a:latin typeface="Courier New" pitchFamily="49" charset="0"/>
              <a:cs typeface="Courier New" pitchFamily="49" charset="0"/>
            </a:endParaRPr>
          </a:p>
          <a:p>
            <a:pPr lvl="0">
              <a:defRPr/>
            </a:pPr>
            <a:r>
              <a:rPr lang="en-US" dirty="0">
                <a:latin typeface="Courier New" pitchFamily="49" charset="0"/>
                <a:cs typeface="Courier New" pitchFamily="49" charset="0"/>
              </a:rPr>
              <a:t>arguments &lt;- </a:t>
            </a:r>
            <a:r>
              <a:rPr lang="en-US" dirty="0" err="1">
                <a:latin typeface="Courier New" pitchFamily="49" charset="0"/>
                <a:cs typeface="Courier New" pitchFamily="49" charset="0"/>
              </a:rPr>
              <a:t>commandArgs</a:t>
            </a:r>
            <a:r>
              <a:rPr lang="en-US" dirty="0">
                <a:latin typeface="Courier New" pitchFamily="49" charset="0"/>
                <a:cs typeface="Courier New" pitchFamily="49" charset="0"/>
              </a:rPr>
              <a:t>(</a:t>
            </a:r>
            <a:r>
              <a:rPr lang="en-US" dirty="0">
                <a:latin typeface="Courier New" pitchFamily="49" charset="0"/>
                <a:cs typeface="Courier New" pitchFamily="49" charset="0"/>
                <a:sym typeface="Symbol" panose="05050102010706020507" pitchFamily="18" charset="2"/>
              </a:rPr>
              <a:t></a:t>
            </a:r>
            <a:r>
              <a:rPr lang="en-US" dirty="0">
                <a:latin typeface="Courier New" pitchFamily="49" charset="0"/>
                <a:cs typeface="Courier New" pitchFamily="49" charset="0"/>
              </a:rPr>
              <a:t>)</a:t>
            </a:r>
          </a:p>
          <a:p>
            <a:pPr lvl="0">
              <a:defRPr/>
            </a:pPr>
            <a:r>
              <a:rPr lang="en-US" dirty="0">
                <a:latin typeface="Courier New" pitchFamily="49" charset="0"/>
                <a:cs typeface="Courier New" pitchFamily="49" charset="0"/>
              </a:rPr>
              <a:t>delta &lt;- </a:t>
            </a:r>
            <a:r>
              <a:rPr lang="en-US" dirty="0" err="1">
                <a:latin typeface="Courier New" pitchFamily="49" charset="0"/>
                <a:cs typeface="Courier New" pitchFamily="49" charset="0"/>
              </a:rPr>
              <a:t>as.numeric</a:t>
            </a:r>
            <a:r>
              <a:rPr lang="en-US" dirty="0">
                <a:latin typeface="Courier New" pitchFamily="49" charset="0"/>
                <a:cs typeface="Courier New" pitchFamily="49" charset="0"/>
              </a:rPr>
              <a:t>(arguments[1])</a:t>
            </a:r>
          </a:p>
          <a:p>
            <a:pPr lvl="0">
              <a:defRPr/>
            </a:pPr>
            <a:r>
              <a:rPr lang="en-US" b="1" dirty="0" err="1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live$log_param</a:t>
            </a:r>
            <a:r>
              <a:rPr lang="en-US" b="1" dirty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("delta", delta)</a:t>
            </a:r>
          </a:p>
          <a:p>
            <a:pPr lvl="0">
              <a:defRPr/>
            </a:pPr>
            <a:endParaRPr lang="en-US" b="1" dirty="0">
              <a:solidFill>
                <a:srgbClr val="FF0000"/>
              </a:solidFill>
              <a:latin typeface="Courier New" pitchFamily="49" charset="0"/>
              <a:cs typeface="Courier New" pitchFamily="49" charset="0"/>
            </a:endParaRPr>
          </a:p>
          <a:p>
            <a:pPr lvl="0">
              <a:defRPr/>
            </a:pPr>
            <a:r>
              <a:rPr lang="en-US" dirty="0">
                <a:latin typeface="Courier New" pitchFamily="49" charset="0"/>
                <a:cs typeface="Courier New" pitchFamily="49" charset="0"/>
              </a:rPr>
              <a:t>score &lt;- 0.0</a:t>
            </a:r>
          </a:p>
          <a:p>
            <a:pPr lvl="0">
              <a:defRPr/>
            </a:pPr>
            <a:r>
              <a:rPr lang="en-US" b="1" dirty="0" err="1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live$log_metric</a:t>
            </a:r>
            <a:r>
              <a:rPr lang="en-US" b="1" dirty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("score", score)</a:t>
            </a:r>
          </a:p>
          <a:p>
            <a:pPr lvl="0">
              <a:defRPr/>
            </a:pPr>
            <a:r>
              <a:rPr lang="en-US" b="1" dirty="0" err="1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live$next_step</a:t>
            </a:r>
            <a:r>
              <a:rPr lang="en-US" b="1" dirty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()</a:t>
            </a:r>
          </a:p>
          <a:p>
            <a:pPr lvl="0">
              <a:defRPr/>
            </a:pPr>
            <a:r>
              <a:rPr lang="en-US" dirty="0">
                <a:latin typeface="Courier New" pitchFamily="49" charset="0"/>
                <a:cs typeface="Courier New" pitchFamily="49" charset="0"/>
              </a:rPr>
              <a:t>for(step in 1:100) {</a:t>
            </a:r>
          </a:p>
          <a:p>
            <a:pPr lvl="0">
              <a:defRPr/>
            </a:pPr>
            <a:r>
              <a:rPr lang="en-US" dirty="0">
                <a:latin typeface="Courier New" pitchFamily="49" charset="0"/>
                <a:cs typeface="Courier New" pitchFamily="49" charset="0"/>
              </a:rPr>
              <a:t>  score &lt;- score + delta</a:t>
            </a:r>
          </a:p>
          <a:p>
            <a:pPr lvl="0">
              <a:defRPr/>
            </a:pPr>
            <a:r>
              <a:rPr lang="en-US" b="1" dirty="0">
                <a:latin typeface="Courier New" pitchFamily="49" charset="0"/>
                <a:cs typeface="Courier New" pitchFamily="49" charset="0"/>
              </a:rPr>
              <a:t>  </a:t>
            </a:r>
            <a:r>
              <a:rPr lang="en-US" b="1" dirty="0" err="1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live$log_metric</a:t>
            </a:r>
            <a:r>
              <a:rPr lang="en-US" b="1" dirty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("score", score)</a:t>
            </a:r>
          </a:p>
          <a:p>
            <a:pPr lvl="0">
              <a:defRPr/>
            </a:pPr>
            <a:r>
              <a:rPr lang="en-US" b="1" dirty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  </a:t>
            </a:r>
            <a:r>
              <a:rPr lang="en-US" b="1" dirty="0" err="1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live$next_step</a:t>
            </a:r>
            <a:r>
              <a:rPr lang="en-US" b="1" dirty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()</a:t>
            </a:r>
          </a:p>
          <a:p>
            <a:pPr lvl="0">
              <a:defRPr/>
            </a:pPr>
            <a:r>
              <a:rPr lang="en-US" dirty="0">
                <a:latin typeface="Courier New" pitchFamily="49" charset="0"/>
                <a:cs typeface="Courier New" pitchFamily="49" charset="0"/>
              </a:rPr>
              <a:t>}</a:t>
            </a:r>
          </a:p>
          <a:p>
            <a:pPr lvl="0">
              <a:defRPr/>
            </a:pPr>
            <a:endParaRPr lang="en-US" b="1" dirty="0">
              <a:solidFill>
                <a:srgbClr val="FF0000"/>
              </a:solidFill>
              <a:latin typeface="Courier New" pitchFamily="49" charset="0"/>
              <a:cs typeface="Courier New" pitchFamily="49" charset="0"/>
            </a:endParaRPr>
          </a:p>
          <a:p>
            <a:pPr lvl="0">
              <a:defRPr/>
            </a:pPr>
            <a:r>
              <a:rPr lang="en-US" b="1" dirty="0" err="1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live$end</a:t>
            </a:r>
            <a:r>
              <a:rPr lang="en-US" b="1" dirty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()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7E346A6-577F-EDE7-79B9-D41BA4AF4C6B}"/>
              </a:ext>
            </a:extLst>
          </p:cNvPr>
          <p:cNvSpPr txBox="1"/>
          <p:nvPr/>
        </p:nvSpPr>
        <p:spPr>
          <a:xfrm>
            <a:off x="424546" y="2985631"/>
            <a:ext cx="4931226" cy="2031325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en-US" dirty="0">
                <a:latin typeface="Courier New" pitchFamily="49" charset="0"/>
                <a:cs typeface="Courier New" pitchFamily="49" charset="0"/>
              </a:rPr>
              <a:t>arguments &lt;- </a:t>
            </a:r>
            <a:r>
              <a:rPr lang="en-US" dirty="0" err="1">
                <a:latin typeface="Courier New" pitchFamily="49" charset="0"/>
                <a:cs typeface="Courier New" pitchFamily="49" charset="0"/>
              </a:rPr>
              <a:t>commandArgs</a:t>
            </a:r>
            <a:r>
              <a:rPr lang="en-US" dirty="0">
                <a:latin typeface="Courier New" pitchFamily="49" charset="0"/>
                <a:cs typeface="Courier New" pitchFamily="49" charset="0"/>
              </a:rPr>
              <a:t>(</a:t>
            </a:r>
            <a:r>
              <a:rPr lang="en-US" dirty="0">
                <a:latin typeface="Courier New" pitchFamily="49" charset="0"/>
                <a:cs typeface="Courier New" pitchFamily="49" charset="0"/>
                <a:sym typeface="Symbol" panose="05050102010706020507" pitchFamily="18" charset="2"/>
              </a:rPr>
              <a:t></a:t>
            </a:r>
            <a:r>
              <a:rPr lang="en-US" dirty="0">
                <a:latin typeface="Courier New" pitchFamily="49" charset="0"/>
                <a:cs typeface="Courier New" pitchFamily="49" charset="0"/>
              </a:rPr>
              <a:t>)</a:t>
            </a:r>
          </a:p>
          <a:p>
            <a:pPr lvl="0">
              <a:defRPr/>
            </a:pPr>
            <a:r>
              <a:rPr lang="en-US" dirty="0">
                <a:latin typeface="Courier New" pitchFamily="49" charset="0"/>
                <a:cs typeface="Courier New" pitchFamily="49" charset="0"/>
              </a:rPr>
              <a:t>delta &lt;- </a:t>
            </a:r>
            <a:r>
              <a:rPr lang="en-US" dirty="0" err="1">
                <a:latin typeface="Courier New" pitchFamily="49" charset="0"/>
                <a:cs typeface="Courier New" pitchFamily="49" charset="0"/>
              </a:rPr>
              <a:t>as.numeric</a:t>
            </a:r>
            <a:r>
              <a:rPr lang="en-US" dirty="0">
                <a:latin typeface="Courier New" pitchFamily="49" charset="0"/>
                <a:cs typeface="Courier New" pitchFamily="49" charset="0"/>
              </a:rPr>
              <a:t>(arguments[1])</a:t>
            </a:r>
          </a:p>
          <a:p>
            <a:pPr lvl="0">
              <a:defRPr/>
            </a:pPr>
            <a:endParaRPr lang="en-US" b="1" dirty="0">
              <a:solidFill>
                <a:srgbClr val="FF0000"/>
              </a:solidFill>
              <a:latin typeface="Courier New" pitchFamily="49" charset="0"/>
              <a:cs typeface="Courier New" pitchFamily="49" charset="0"/>
            </a:endParaRPr>
          </a:p>
          <a:p>
            <a:pPr lvl="0">
              <a:defRPr/>
            </a:pPr>
            <a:r>
              <a:rPr lang="en-US" dirty="0">
                <a:latin typeface="Courier New" pitchFamily="49" charset="0"/>
                <a:cs typeface="Courier New" pitchFamily="49" charset="0"/>
              </a:rPr>
              <a:t>score &lt;- 0.0</a:t>
            </a:r>
          </a:p>
          <a:p>
            <a:pPr lvl="0">
              <a:defRPr/>
            </a:pPr>
            <a:r>
              <a:rPr lang="en-US" dirty="0">
                <a:latin typeface="Courier New" pitchFamily="49" charset="0"/>
                <a:cs typeface="Courier New" pitchFamily="49" charset="0"/>
              </a:rPr>
              <a:t>for(step in 1:100) {</a:t>
            </a:r>
          </a:p>
          <a:p>
            <a:pPr lvl="0">
              <a:defRPr/>
            </a:pPr>
            <a:r>
              <a:rPr lang="en-US" dirty="0">
                <a:latin typeface="Courier New" pitchFamily="49" charset="0"/>
                <a:cs typeface="Courier New" pitchFamily="49" charset="0"/>
              </a:rPr>
              <a:t>  score &lt;- score + delta</a:t>
            </a:r>
          </a:p>
          <a:p>
            <a:pPr lvl="0">
              <a:defRPr/>
            </a:pPr>
            <a:r>
              <a:rPr lang="en-US" dirty="0">
                <a:latin typeface="Courier New" pitchFamily="49" charset="0"/>
                <a:cs typeface="Courier New" pitchFamily="49" charset="0"/>
              </a:rPr>
              <a:t>}</a:t>
            </a:r>
          </a:p>
        </p:txBody>
      </p:sp>
      <p:sp>
        <p:nvSpPr>
          <p:cNvPr id="8" name="Arrow: Right 7">
            <a:extLst>
              <a:ext uri="{FF2B5EF4-FFF2-40B4-BE49-F238E27FC236}">
                <a16:creationId xmlns:a16="http://schemas.microsoft.com/office/drawing/2014/main" id="{A90D2F71-9A9C-35DF-9C3C-56F35709DD44}"/>
              </a:ext>
            </a:extLst>
          </p:cNvPr>
          <p:cNvSpPr/>
          <p:nvPr/>
        </p:nvSpPr>
        <p:spPr>
          <a:xfrm>
            <a:off x="5638802" y="3703050"/>
            <a:ext cx="609603" cy="298243"/>
          </a:xfrm>
          <a:prstGeom prst="right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6AD85B6A-FAEE-F5E9-FB23-0D57305477E7}"/>
              </a:ext>
            </a:extLst>
          </p:cNvPr>
          <p:cNvGrpSpPr/>
          <p:nvPr/>
        </p:nvGrpSpPr>
        <p:grpSpPr>
          <a:xfrm>
            <a:off x="424546" y="5228351"/>
            <a:ext cx="5671454" cy="948611"/>
            <a:chOff x="424546" y="5228351"/>
            <a:chExt cx="5671454" cy="948611"/>
          </a:xfrm>
        </p:grpSpPr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03D7CA67-8F01-1A12-6ABC-77A5963E9FA5}"/>
                </a:ext>
              </a:extLst>
            </p:cNvPr>
            <p:cNvSpPr txBox="1"/>
            <p:nvPr/>
          </p:nvSpPr>
          <p:spPr>
            <a:xfrm>
              <a:off x="424546" y="5653742"/>
              <a:ext cx="5346079" cy="52322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none" rtlCol="0">
              <a:spAutoFit/>
            </a:bodyPr>
            <a:lstStyle/>
            <a:p>
              <a:r>
                <a:rPr lang="en-US" sz="2800" dirty="0"/>
                <a:t>Don’t forget to call </a:t>
              </a:r>
              <a:r>
                <a:rPr lang="en-US" sz="2800" dirty="0" err="1">
                  <a:latin typeface="Courier New" panose="02070309020205020404" pitchFamily="49" charset="0"/>
                  <a:cs typeface="Courier New" panose="02070309020205020404" pitchFamily="49" charset="0"/>
                </a:rPr>
                <a:t>live$end</a:t>
              </a:r>
              <a:r>
                <a:rPr lang="en-US" sz="2800" dirty="0">
                  <a:latin typeface="Courier New" panose="02070309020205020404" pitchFamily="49" charset="0"/>
                  <a:cs typeface="Courier New" panose="02070309020205020404" pitchFamily="49" charset="0"/>
                </a:rPr>
                <a:t>()</a:t>
              </a:r>
              <a:r>
                <a:rPr lang="en-US" sz="2800" dirty="0"/>
                <a:t>!</a:t>
              </a:r>
              <a:endParaRPr lang="LID4096" sz="2800" dirty="0"/>
            </a:p>
          </p:txBody>
        </p:sp>
        <p:pic>
          <p:nvPicPr>
            <p:cNvPr id="11" name="Picture 2" descr="C:\Users\lucg5005\AppData\Local\Microsoft\Windows\Temporary Internet Files\Content.IE5\CWZUAEH4\lgi01a201309290600[1].jpg">
              <a:extLst>
                <a:ext uri="{FF2B5EF4-FFF2-40B4-BE49-F238E27FC236}">
                  <a16:creationId xmlns:a16="http://schemas.microsoft.com/office/drawing/2014/main" id="{7289967E-7D2F-C9AD-2A80-87212B4535E3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529849" y="5228351"/>
              <a:ext cx="566151" cy="58090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2278707214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380915-6496-8594-95CA-983C936C84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E248AE-579D-3672-BC55-0435E386AF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 Version Control</a:t>
            </a:r>
            <a:endParaRPr lang="LID4096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AB69F1D-805B-C683-401C-988A9C78E40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Experiment management &amp; pipelines</a:t>
            </a:r>
            <a:endParaRPr lang="LID4096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F85FC04-9F55-83C4-BE76-F5E339243E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7CE217-4467-4B8D-A735-B008FA7C4816}" type="slidenum">
              <a:rPr lang="LID4096" smtClean="0"/>
              <a:t>44</a:t>
            </a:fld>
            <a:endParaRPr lang="LID4096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4D3830D-FC92-C049-8D91-E9C1645C2AE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5545" y="3429000"/>
            <a:ext cx="2450335" cy="15278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84991313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Slide Background">
            <a:extLst>
              <a:ext uri="{FF2B5EF4-FFF2-40B4-BE49-F238E27FC236}">
                <a16:creationId xmlns:a16="http://schemas.microsoft.com/office/drawing/2014/main" id="{C0763A76-9F1C-4FC5-82B7-DD475DA461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-1" y="0"/>
            <a:ext cx="12191999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E81BF4F6-F2CF-4984-9D14-D6966D92F9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8522446" cy="2285999"/>
          </a:xfrm>
          <a:prstGeom prst="rect">
            <a:avLst/>
          </a:prstGeom>
          <a:ln>
            <a:noFill/>
          </a:ln>
          <a:effectLst>
            <a:outerShdw blurRad="596900" dist="304800" dir="7140000" sx="90000" sy="90000" algn="t" rotWithShape="0">
              <a:srgbClr val="000000">
                <a:alpha val="15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D9E7FA19-4BC4-C638-81F6-077D0A1599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1803" y="350196"/>
            <a:ext cx="4646904" cy="1624520"/>
          </a:xfrm>
        </p:spPr>
        <p:txBody>
          <a:bodyPr anchor="ctr">
            <a:normAutofit/>
          </a:bodyPr>
          <a:lstStyle/>
          <a:p>
            <a:r>
              <a:rPr lang="en-US" sz="4000"/>
              <a:t>Pipelines &amp; DVCLive</a:t>
            </a:r>
            <a:endParaRPr lang="LID4096" sz="400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0528C44-C257-7D56-531F-9ACBC298B7E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1802" y="2743200"/>
            <a:ext cx="4646905" cy="3613149"/>
          </a:xfrm>
        </p:spPr>
        <p:txBody>
          <a:bodyPr anchor="ctr">
            <a:normAutofit/>
          </a:bodyPr>
          <a:lstStyle/>
          <a:p>
            <a:r>
              <a:rPr lang="en-US" sz="2000" dirty="0"/>
              <a:t>Experiment == stage</a:t>
            </a:r>
          </a:p>
          <a:p>
            <a:pPr lvl="1"/>
            <a:r>
              <a:rPr lang="en-US" sz="2000" dirty="0"/>
              <a:t>Uses </a:t>
            </a:r>
            <a:r>
              <a:rPr lang="en-US" sz="2000" dirty="0" err="1"/>
              <a:t>DVCLive</a:t>
            </a:r>
            <a:endParaRPr lang="en-US" sz="2000" dirty="0"/>
          </a:p>
          <a:p>
            <a:r>
              <a:rPr lang="en-US" sz="2400" dirty="0"/>
              <a:t>Keep track of</a:t>
            </a:r>
          </a:p>
          <a:p>
            <a:pPr lvl="1"/>
            <a:r>
              <a:rPr lang="en-US" sz="2000" dirty="0"/>
              <a:t>Dependencies</a:t>
            </a:r>
          </a:p>
          <a:p>
            <a:pPr lvl="1"/>
            <a:r>
              <a:rPr lang="en-US" sz="2000" dirty="0"/>
              <a:t>Parameters</a:t>
            </a:r>
          </a:p>
          <a:p>
            <a:pPr lvl="1"/>
            <a:r>
              <a:rPr lang="en-US" sz="2000" dirty="0"/>
              <a:t>Metrics</a:t>
            </a:r>
          </a:p>
          <a:p>
            <a:pPr lvl="1"/>
            <a:r>
              <a:rPr lang="en-US" sz="2000" dirty="0"/>
              <a:t>Outputs</a:t>
            </a:r>
            <a:endParaRPr lang="LID4096" sz="2000" dirty="0"/>
          </a:p>
        </p:txBody>
      </p:sp>
      <p:pic>
        <p:nvPicPr>
          <p:cNvPr id="8" name="Picture 7" descr="Manometer beer equipment">
            <a:extLst>
              <a:ext uri="{FF2B5EF4-FFF2-40B4-BE49-F238E27FC236}">
                <a16:creationId xmlns:a16="http://schemas.microsoft.com/office/drawing/2014/main" id="{01EE5749-D367-9BA3-1232-18424D093EA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3039" r="8006" b="-1"/>
          <a:stretch>
            <a:fillRect/>
          </a:stretch>
        </p:blipFill>
        <p:spPr>
          <a:xfrm>
            <a:off x="6096000" y="1"/>
            <a:ext cx="6102825" cy="6858000"/>
          </a:xfrm>
          <a:prstGeom prst="rect">
            <a:avLst/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D450FD-72CB-BD96-1D52-EE1365A0BA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32520" y="6356350"/>
            <a:ext cx="3200400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9C7CE217-4467-4B8D-A735-B008FA7C4816}" type="slidenum">
              <a:rPr lang="LID4096">
                <a:solidFill>
                  <a:srgbClr val="FFFFFF"/>
                </a:solidFill>
              </a:rPr>
              <a:pPr>
                <a:spcAft>
                  <a:spcPts val="600"/>
                </a:spcAft>
              </a:pPr>
              <a:t>45</a:t>
            </a:fld>
            <a:endParaRPr lang="LID4096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85275385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C82DBD-FEF5-0FF4-FBD1-3F111CAB91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Experiments in pipelines</a:t>
            </a:r>
            <a:endParaRPr lang="LID4096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79D0B90-64C3-3AD3-CA17-042F5641786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Add stage as usual</a:t>
            </a:r>
          </a:p>
          <a:p>
            <a:pPr lvl="1"/>
            <a:r>
              <a:rPr lang="en-US" dirty="0"/>
              <a:t>Contains </a:t>
            </a:r>
            <a:r>
              <a:rPr lang="en-US" dirty="0" err="1"/>
              <a:t>DVCLive</a:t>
            </a:r>
            <a:r>
              <a:rPr lang="en-US" dirty="0"/>
              <a:t> experiment management</a:t>
            </a:r>
          </a:p>
          <a:p>
            <a:pPr lvl="1"/>
            <a:r>
              <a:rPr lang="en-US" dirty="0"/>
              <a:t>Parameters read from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params.yaml</a:t>
            </a:r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dirty="0"/>
              <a:t>Run experiment</a:t>
            </a:r>
          </a:p>
          <a:p>
            <a:endParaRPr lang="en-US" dirty="0"/>
          </a:p>
          <a:p>
            <a:r>
              <a:rPr lang="en-US" dirty="0"/>
              <a:t>Run experiment with specific parameter value</a:t>
            </a:r>
          </a:p>
          <a:p>
            <a:endParaRPr lang="en-US" dirty="0"/>
          </a:p>
          <a:p>
            <a:r>
              <a:rPr lang="en-US" dirty="0"/>
              <a:t>Prepare workspace for specific experiment, e.g.,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high_a</a:t>
            </a:r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en-US" dirty="0"/>
          </a:p>
          <a:p>
            <a:endParaRPr lang="LID4096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F8322AA-E6A9-9A7E-60AC-B72ED48703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7CE217-4467-4B8D-A735-B008FA7C4816}" type="slidenum">
              <a:rPr lang="LID4096" smtClean="0"/>
              <a:t>46</a:t>
            </a:fld>
            <a:endParaRPr lang="LID4096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618B632-4041-16BF-9C39-26D4BD9DEEC1}"/>
              </a:ext>
            </a:extLst>
          </p:cNvPr>
          <p:cNvSpPr txBox="1"/>
          <p:nvPr/>
        </p:nvSpPr>
        <p:spPr>
          <a:xfrm>
            <a:off x="1349828" y="3609890"/>
            <a:ext cx="5606143" cy="369332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$  </a:t>
            </a:r>
            <a:r>
              <a:rPr lang="en-US" b="1" dirty="0" err="1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dvc</a:t>
            </a:r>
            <a:r>
              <a:rPr lang="en-US" b="1" dirty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 exp run</a:t>
            </a:r>
            <a:endParaRPr lang="nl-BE" b="1" dirty="0">
              <a:solidFill>
                <a:schemeClr val="bg1"/>
              </a:solidFill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041F1C2-ABC2-273C-7742-1E9CE66F2C17}"/>
              </a:ext>
            </a:extLst>
          </p:cNvPr>
          <p:cNvSpPr txBox="1"/>
          <p:nvPr/>
        </p:nvSpPr>
        <p:spPr>
          <a:xfrm>
            <a:off x="1349827" y="4632558"/>
            <a:ext cx="5606143" cy="369332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$  </a:t>
            </a:r>
            <a:r>
              <a:rPr lang="en-US" b="1" dirty="0" err="1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dvc</a:t>
            </a:r>
            <a:r>
              <a:rPr lang="en-US" b="1" dirty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 exp run  --set-param a=2.0</a:t>
            </a:r>
            <a:endParaRPr lang="nl-BE" b="1" dirty="0">
              <a:solidFill>
                <a:schemeClr val="bg1"/>
              </a:solidFill>
              <a:latin typeface="Courier New" pitchFamily="49" charset="0"/>
              <a:cs typeface="Courier New" pitchFamily="49" charset="0"/>
            </a:endParaRP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D8B25769-28A9-2124-8B58-79C5B91E1965}"/>
              </a:ext>
            </a:extLst>
          </p:cNvPr>
          <p:cNvGrpSpPr/>
          <p:nvPr/>
        </p:nvGrpSpPr>
        <p:grpSpPr>
          <a:xfrm>
            <a:off x="7456714" y="4172597"/>
            <a:ext cx="3897086" cy="830997"/>
            <a:chOff x="-418324" y="5501785"/>
            <a:chExt cx="6135578" cy="754469"/>
          </a:xfrm>
        </p:grpSpPr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BA518634-1A20-8570-E9E3-2B7A841DD994}"/>
                </a:ext>
              </a:extLst>
            </p:cNvPr>
            <p:cNvSpPr txBox="1"/>
            <p:nvPr/>
          </p:nvSpPr>
          <p:spPr>
            <a:xfrm>
              <a:off x="2083561" y="5501785"/>
              <a:ext cx="3633693" cy="754469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rgbClr val="C00000"/>
              </a:solidFill>
            </a:ln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ea typeface="+mn-ea"/>
                  <a:cs typeface="+mn-cs"/>
                </a:rPr>
                <a:t>Modifies </a:t>
              </a:r>
              <a:r>
                <a:rPr kumimoji="0" lang="en-US" sz="24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ourier New" panose="02070309020205020404" pitchFamily="49" charset="0"/>
                  <a:cs typeface="Courier New" panose="02070309020205020404" pitchFamily="49" charset="0"/>
                </a:rPr>
                <a:t>params.yaml</a:t>
              </a:r>
              <a:endParaRPr kumimoji="0" lang="nl-BE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cxnSp>
          <p:nvCxnSpPr>
            <p:cNvPr id="9" name="Straight Arrow Connector 8">
              <a:extLst>
                <a:ext uri="{FF2B5EF4-FFF2-40B4-BE49-F238E27FC236}">
                  <a16:creationId xmlns:a16="http://schemas.microsoft.com/office/drawing/2014/main" id="{9C4A9833-410D-0FDB-BCC7-786F2FC6A843}"/>
                </a:ext>
              </a:extLst>
            </p:cNvPr>
            <p:cNvCxnSpPr>
              <a:cxnSpLocks/>
              <a:stCxn id="8" idx="1"/>
            </p:cNvCxnSpPr>
            <p:nvPr/>
          </p:nvCxnSpPr>
          <p:spPr>
            <a:xfrm flipH="1">
              <a:off x="-418324" y="5879020"/>
              <a:ext cx="2501884" cy="208027"/>
            </a:xfrm>
            <a:prstGeom prst="straightConnector1">
              <a:avLst/>
            </a:prstGeom>
            <a:ln w="28575">
              <a:solidFill>
                <a:srgbClr val="C00000"/>
              </a:solidFill>
              <a:tailEnd type="stealth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3" name="TextBox 12">
            <a:extLst>
              <a:ext uri="{FF2B5EF4-FFF2-40B4-BE49-F238E27FC236}">
                <a16:creationId xmlns:a16="http://schemas.microsoft.com/office/drawing/2014/main" id="{BBEC9D5B-063F-5A20-E7C0-58F4A2A325F5}"/>
              </a:ext>
            </a:extLst>
          </p:cNvPr>
          <p:cNvSpPr txBox="1"/>
          <p:nvPr/>
        </p:nvSpPr>
        <p:spPr>
          <a:xfrm>
            <a:off x="1349826" y="5655226"/>
            <a:ext cx="5606143" cy="369332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$  </a:t>
            </a:r>
            <a:r>
              <a:rPr lang="en-US" b="1" dirty="0" err="1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dvc</a:t>
            </a:r>
            <a:r>
              <a:rPr lang="en-US" b="1" dirty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 exp apply </a:t>
            </a:r>
            <a:r>
              <a:rPr lang="en-US" b="1" dirty="0" err="1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high_a</a:t>
            </a:r>
            <a:endParaRPr lang="nl-BE" b="1" dirty="0">
              <a:solidFill>
                <a:schemeClr val="bg1"/>
              </a:solidFill>
              <a:latin typeface="Courier New" pitchFamily="49" charset="0"/>
              <a:cs typeface="Courier New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275362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13" grpId="0" animBg="1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C650B7-9531-E003-0160-20919755F3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Queues &amp; parameter sweeps</a:t>
            </a:r>
            <a:endParaRPr lang="LID4096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5256BB4-5101-B73B-611B-F2108D1BD44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Add experiment to queue</a:t>
            </a:r>
          </a:p>
          <a:p>
            <a:endParaRPr lang="en-US" dirty="0"/>
          </a:p>
          <a:p>
            <a:r>
              <a:rPr lang="en-US" dirty="0"/>
              <a:t>Queue parameter sweep</a:t>
            </a:r>
          </a:p>
          <a:p>
            <a:endParaRPr lang="en-US" dirty="0"/>
          </a:p>
          <a:p>
            <a:r>
              <a:rPr lang="en-US" dirty="0"/>
              <a:t>Run queued experiment sequentially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F3F2AA8-F2D6-153C-80B0-D1A5AB3172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7CE217-4467-4B8D-A735-B008FA7C4816}" type="slidenum">
              <a:rPr lang="LID4096" smtClean="0"/>
              <a:t>47</a:t>
            </a:fld>
            <a:endParaRPr lang="LID4096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8E83890-6D9E-4A0A-C56E-959CEC4CA7BE}"/>
              </a:ext>
            </a:extLst>
          </p:cNvPr>
          <p:cNvSpPr txBox="1"/>
          <p:nvPr/>
        </p:nvSpPr>
        <p:spPr>
          <a:xfrm>
            <a:off x="1349828" y="2292717"/>
            <a:ext cx="7260772" cy="369332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$  </a:t>
            </a:r>
            <a:r>
              <a:rPr lang="en-US" b="1" dirty="0" err="1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dvc</a:t>
            </a:r>
            <a:r>
              <a:rPr lang="en-US" b="1" dirty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 exp run  --queue</a:t>
            </a:r>
            <a:endParaRPr lang="nl-BE" b="1" dirty="0">
              <a:solidFill>
                <a:schemeClr val="bg1"/>
              </a:solidFill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B1E0867-C179-9BD8-2CC6-CCE42549A8C8}"/>
              </a:ext>
            </a:extLst>
          </p:cNvPr>
          <p:cNvSpPr txBox="1"/>
          <p:nvPr/>
        </p:nvSpPr>
        <p:spPr>
          <a:xfrm>
            <a:off x="1349827" y="3361450"/>
            <a:ext cx="7260773" cy="369332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$  </a:t>
            </a:r>
            <a:r>
              <a:rPr lang="en-US" b="1" dirty="0" err="1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dvc</a:t>
            </a:r>
            <a:r>
              <a:rPr lang="en-US" b="1" dirty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 exp run  --queue  -set-param 'a=3.0,4.0,5.0'</a:t>
            </a:r>
            <a:endParaRPr lang="nl-BE" b="1" dirty="0">
              <a:solidFill>
                <a:schemeClr val="bg1"/>
              </a:solidFill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6358864-2BCD-DFF1-8CB3-D650EB88646A}"/>
              </a:ext>
            </a:extLst>
          </p:cNvPr>
          <p:cNvSpPr txBox="1"/>
          <p:nvPr/>
        </p:nvSpPr>
        <p:spPr>
          <a:xfrm>
            <a:off x="1349827" y="4354374"/>
            <a:ext cx="7260772" cy="369332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$  </a:t>
            </a:r>
            <a:r>
              <a:rPr lang="en-US" b="1" dirty="0" err="1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dvc</a:t>
            </a:r>
            <a:r>
              <a:rPr lang="en-US" b="1" dirty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 exp run  --run-all</a:t>
            </a:r>
            <a:endParaRPr lang="nl-BE" b="1" dirty="0">
              <a:solidFill>
                <a:schemeClr val="bg1"/>
              </a:solidFill>
              <a:latin typeface="Courier New" pitchFamily="49" charset="0"/>
              <a:cs typeface="Courier New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736589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728D75-D4F9-4A2E-F1A2-1342466664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Queue status &amp; management</a:t>
            </a:r>
            <a:endParaRPr lang="LID4096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8DC946-4F82-703E-7F74-6B2866FCD2A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Check status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Show logs</a:t>
            </a:r>
          </a:p>
          <a:p>
            <a:endParaRPr lang="en-US" dirty="0"/>
          </a:p>
          <a:p>
            <a:r>
              <a:rPr lang="en-US" dirty="0"/>
              <a:t>Remove queued/completed task</a:t>
            </a:r>
            <a:endParaRPr lang="LID4096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EFB2601-ED0B-3E66-CEFD-7D6F43BD2E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7CE217-4467-4B8D-A735-B008FA7C4816}" type="slidenum">
              <a:rPr lang="LID4096" smtClean="0"/>
              <a:t>48</a:t>
            </a:fld>
            <a:endParaRPr lang="LID4096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2241780-6D75-A4E4-73FB-961362A1BCB6}"/>
              </a:ext>
            </a:extLst>
          </p:cNvPr>
          <p:cNvSpPr txBox="1"/>
          <p:nvPr/>
        </p:nvSpPr>
        <p:spPr>
          <a:xfrm>
            <a:off x="1209868" y="2264313"/>
            <a:ext cx="7260772" cy="2308324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$  </a:t>
            </a:r>
            <a:r>
              <a:rPr lang="en-US" b="1" dirty="0" err="1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dvc</a:t>
            </a:r>
            <a:r>
              <a:rPr lang="en-US" b="1" dirty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 queue status</a:t>
            </a:r>
          </a:p>
          <a:p>
            <a:r>
              <a:rPr lang="nl-BE" b="1" dirty="0" err="1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Task</a:t>
            </a:r>
            <a:r>
              <a:rPr lang="nl-BE" b="1" dirty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     Name        </a:t>
            </a:r>
            <a:r>
              <a:rPr lang="nl-BE" b="1" dirty="0" err="1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Created</a:t>
            </a:r>
            <a:r>
              <a:rPr lang="nl-BE" b="1" dirty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    Status</a:t>
            </a:r>
          </a:p>
          <a:p>
            <a:r>
              <a:rPr lang="nl-BE" b="1" dirty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db756f8  found-</a:t>
            </a:r>
            <a:r>
              <a:rPr lang="nl-BE" b="1" dirty="0" err="1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impi</a:t>
            </a:r>
            <a:r>
              <a:rPr lang="nl-BE" b="1" dirty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  02:24 PM   </a:t>
            </a:r>
            <a:r>
              <a:rPr lang="nl-BE" b="1" dirty="0" err="1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Queued</a:t>
            </a:r>
            <a:endParaRPr lang="nl-BE" b="1" dirty="0">
              <a:solidFill>
                <a:schemeClr val="bg1"/>
              </a:solidFill>
              <a:latin typeface="Courier New" pitchFamily="49" charset="0"/>
              <a:cs typeface="Courier New" pitchFamily="49" charset="0"/>
            </a:endParaRPr>
          </a:p>
          <a:p>
            <a:r>
              <a:rPr lang="nl-BE" b="1" dirty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6c431db  </a:t>
            </a:r>
            <a:r>
              <a:rPr lang="nl-BE" b="1" dirty="0" err="1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fuzzy-sash</a:t>
            </a:r>
            <a:r>
              <a:rPr lang="nl-BE" b="1" dirty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  02:24 PM   </a:t>
            </a:r>
            <a:r>
              <a:rPr lang="nl-BE" b="1" dirty="0" err="1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Queued</a:t>
            </a:r>
            <a:endParaRPr lang="nl-BE" b="1" dirty="0">
              <a:solidFill>
                <a:schemeClr val="bg1"/>
              </a:solidFill>
              <a:latin typeface="Courier New" pitchFamily="49" charset="0"/>
              <a:cs typeface="Courier New" pitchFamily="49" charset="0"/>
            </a:endParaRPr>
          </a:p>
          <a:p>
            <a:r>
              <a:rPr lang="nl-BE" b="1" dirty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96f84ca  </a:t>
            </a:r>
            <a:r>
              <a:rPr lang="nl-BE" b="1" dirty="0" err="1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regal-coho</a:t>
            </a:r>
            <a:r>
              <a:rPr lang="nl-BE" b="1" dirty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  02:24 PM   </a:t>
            </a:r>
            <a:r>
              <a:rPr lang="nl-BE" b="1" dirty="0" err="1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Queued</a:t>
            </a:r>
            <a:endParaRPr lang="nl-BE" b="1" dirty="0">
              <a:solidFill>
                <a:schemeClr val="bg1"/>
              </a:solidFill>
              <a:latin typeface="Courier New" pitchFamily="49" charset="0"/>
              <a:cs typeface="Courier New" pitchFamily="49" charset="0"/>
            </a:endParaRPr>
          </a:p>
          <a:p>
            <a:r>
              <a:rPr lang="nl-BE" b="1" dirty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20cacaa  </a:t>
            </a:r>
            <a:r>
              <a:rPr lang="nl-BE" b="1" dirty="0" err="1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muley</a:t>
            </a:r>
            <a:r>
              <a:rPr lang="nl-BE" b="1" dirty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-tams  02:17 PM   </a:t>
            </a:r>
            <a:r>
              <a:rPr lang="nl-BE" b="1" dirty="0" err="1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Success</a:t>
            </a:r>
            <a:endParaRPr lang="nl-BE" b="1" dirty="0">
              <a:solidFill>
                <a:schemeClr val="bg1"/>
              </a:solidFill>
              <a:latin typeface="Courier New" pitchFamily="49" charset="0"/>
              <a:cs typeface="Courier New" pitchFamily="49" charset="0"/>
            </a:endParaRPr>
          </a:p>
          <a:p>
            <a:r>
              <a:rPr lang="nl-BE" b="1" dirty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cf70af4  </a:t>
            </a:r>
            <a:r>
              <a:rPr lang="nl-BE" b="1" dirty="0" err="1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dopey</a:t>
            </a:r>
            <a:r>
              <a:rPr lang="nl-BE" b="1" dirty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-vang  02:17 PM   </a:t>
            </a:r>
            <a:r>
              <a:rPr lang="nl-BE" b="1" dirty="0" err="1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Success</a:t>
            </a:r>
            <a:endParaRPr lang="nl-BE" b="1" dirty="0">
              <a:solidFill>
                <a:schemeClr val="bg1"/>
              </a:solidFill>
              <a:latin typeface="Courier New" pitchFamily="49" charset="0"/>
              <a:cs typeface="Courier New" pitchFamily="49" charset="0"/>
            </a:endParaRPr>
          </a:p>
          <a:p>
            <a:r>
              <a:rPr lang="nl-BE" b="1" dirty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097310c  </a:t>
            </a:r>
            <a:r>
              <a:rPr lang="nl-BE" b="1" dirty="0" err="1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umber</a:t>
            </a:r>
            <a:r>
              <a:rPr lang="nl-BE" b="1" dirty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-wind  02:17 PM   </a:t>
            </a:r>
            <a:r>
              <a:rPr lang="nl-BE" b="1" dirty="0" err="1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Success</a:t>
            </a:r>
            <a:endParaRPr lang="nl-BE" b="1" dirty="0">
              <a:solidFill>
                <a:schemeClr val="bg1"/>
              </a:solidFill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3FAA8EE-9C06-79BD-0BC0-F0CBA594B01D}"/>
              </a:ext>
            </a:extLst>
          </p:cNvPr>
          <p:cNvSpPr txBox="1"/>
          <p:nvPr/>
        </p:nvSpPr>
        <p:spPr>
          <a:xfrm>
            <a:off x="1209868" y="5066607"/>
            <a:ext cx="7260772" cy="369332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$  </a:t>
            </a:r>
            <a:r>
              <a:rPr lang="en-US" b="1" dirty="0" err="1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dvc</a:t>
            </a:r>
            <a:r>
              <a:rPr lang="en-US" b="1" dirty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 queue logs dopey-vang</a:t>
            </a:r>
            <a:endParaRPr lang="nl-BE" b="1" dirty="0">
              <a:solidFill>
                <a:schemeClr val="bg1"/>
              </a:solidFill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2390648-381A-8592-AF74-56EEA48F56D3}"/>
              </a:ext>
            </a:extLst>
          </p:cNvPr>
          <p:cNvSpPr txBox="1"/>
          <p:nvPr/>
        </p:nvSpPr>
        <p:spPr>
          <a:xfrm>
            <a:off x="1209868" y="5993477"/>
            <a:ext cx="7260772" cy="369332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$  </a:t>
            </a:r>
            <a:r>
              <a:rPr lang="en-US" b="1" dirty="0" err="1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dvc</a:t>
            </a:r>
            <a:r>
              <a:rPr lang="en-US" b="1" dirty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 queue remove dopey-vang</a:t>
            </a:r>
            <a:endParaRPr lang="nl-BE" b="1" dirty="0">
              <a:solidFill>
                <a:schemeClr val="bg1"/>
              </a:solidFill>
              <a:latin typeface="Courier New" pitchFamily="49" charset="0"/>
              <a:cs typeface="Courier New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967717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</p:bld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B7F20D-B717-4A43-8652-C8EA897CAB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Queue control</a:t>
            </a:r>
            <a:endParaRPr lang="LID4096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07487BA-C93F-A595-3900-803762A1071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Run all tasks in queue, 2 workers</a:t>
            </a:r>
          </a:p>
          <a:p>
            <a:endParaRPr lang="en-US" dirty="0"/>
          </a:p>
          <a:p>
            <a:r>
              <a:rPr lang="en-US" dirty="0"/>
              <a:t>Stop all workers</a:t>
            </a:r>
          </a:p>
          <a:p>
            <a:endParaRPr lang="en-US" dirty="0"/>
          </a:p>
          <a:p>
            <a:r>
              <a:rPr lang="en-US" dirty="0"/>
              <a:t>Stop &amp; kill all workers</a:t>
            </a:r>
          </a:p>
          <a:p>
            <a:endParaRPr lang="en-US" dirty="0"/>
          </a:p>
          <a:p>
            <a:r>
              <a:rPr lang="en-US" dirty="0"/>
              <a:t>Kill specific running task</a:t>
            </a:r>
            <a:endParaRPr lang="LID4096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C552D53-879C-4DE5-6A08-14B28745E1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7CE217-4467-4B8D-A735-B008FA7C4816}" type="slidenum">
              <a:rPr lang="LID4096" smtClean="0"/>
              <a:t>49</a:t>
            </a:fld>
            <a:endParaRPr lang="LID4096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A1816CD-E0CB-C635-DC4E-978238819E41}"/>
              </a:ext>
            </a:extLst>
          </p:cNvPr>
          <p:cNvSpPr txBox="1"/>
          <p:nvPr/>
        </p:nvSpPr>
        <p:spPr>
          <a:xfrm>
            <a:off x="1181876" y="2410501"/>
            <a:ext cx="4267202" cy="369332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$  </a:t>
            </a:r>
            <a:r>
              <a:rPr lang="en-US" b="1" dirty="0" err="1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dvc</a:t>
            </a:r>
            <a:r>
              <a:rPr lang="en-US" b="1" dirty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 queue start  --jobs 2</a:t>
            </a:r>
            <a:endParaRPr lang="nl-BE" b="1" dirty="0">
              <a:solidFill>
                <a:schemeClr val="bg1"/>
              </a:solidFill>
              <a:latin typeface="Courier New" pitchFamily="49" charset="0"/>
              <a:cs typeface="Courier New" pitchFamily="49" charset="0"/>
            </a:endParaRP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01F8B04C-A4F0-BC88-48E5-AA94D8A28E75}"/>
              </a:ext>
            </a:extLst>
          </p:cNvPr>
          <p:cNvGrpSpPr/>
          <p:nvPr/>
        </p:nvGrpSpPr>
        <p:grpSpPr>
          <a:xfrm>
            <a:off x="5355772" y="2095538"/>
            <a:ext cx="3254828" cy="917156"/>
            <a:chOff x="8922121" y="5118668"/>
            <a:chExt cx="3254828" cy="917156"/>
          </a:xfrm>
        </p:grpSpPr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6D3776D9-521E-BC27-1EE7-1C3BB8327889}"/>
                </a:ext>
              </a:extLst>
            </p:cNvPr>
            <p:cNvSpPr txBox="1"/>
            <p:nvPr/>
          </p:nvSpPr>
          <p:spPr>
            <a:xfrm>
              <a:off x="8922121" y="5574159"/>
              <a:ext cx="2943306" cy="461665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txBody>
            <a:bodyPr wrap="none" rtlCol="0">
              <a:spAutoFit/>
            </a:bodyPr>
            <a:lstStyle/>
            <a:p>
              <a:r>
                <a:rPr lang="en-US" sz="2400" dirty="0"/>
                <a:t>Don’t oversubscribe!</a:t>
              </a:r>
              <a:endParaRPr lang="LID4096" sz="2400" dirty="0"/>
            </a:p>
          </p:txBody>
        </p:sp>
        <p:pic>
          <p:nvPicPr>
            <p:cNvPr id="11" name="Picture 3" descr="C:\Users\lucg5005\AppData\Local\Microsoft\Windows\Temporary Internet Files\Content.IE5\T8RCCH8G\cute_snail_by_gniyuhs-d4lvbji[1].png">
              <a:extLst>
                <a:ext uri="{FF2B5EF4-FFF2-40B4-BE49-F238E27FC236}">
                  <a16:creationId xmlns:a16="http://schemas.microsoft.com/office/drawing/2014/main" id="{B6E5AF44-60EB-BAD4-7CAC-6EDA44E5D29A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1534991" y="5118668"/>
              <a:ext cx="641958" cy="64195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5" name="TextBox 4">
            <a:extLst>
              <a:ext uri="{FF2B5EF4-FFF2-40B4-BE49-F238E27FC236}">
                <a16:creationId xmlns:a16="http://schemas.microsoft.com/office/drawing/2014/main" id="{25EB37C2-F18E-67D6-EB6A-1BDC1181921E}"/>
              </a:ext>
            </a:extLst>
          </p:cNvPr>
          <p:cNvSpPr txBox="1"/>
          <p:nvPr/>
        </p:nvSpPr>
        <p:spPr>
          <a:xfrm>
            <a:off x="1181876" y="3339856"/>
            <a:ext cx="4267202" cy="369332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$  </a:t>
            </a:r>
            <a:r>
              <a:rPr lang="en-US" b="1" dirty="0" err="1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dvc</a:t>
            </a:r>
            <a:r>
              <a:rPr lang="en-US" b="1" dirty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 queue stop</a:t>
            </a:r>
            <a:endParaRPr lang="nl-BE" b="1" dirty="0">
              <a:solidFill>
                <a:schemeClr val="bg1"/>
              </a:solidFill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B0012E2-9BD1-4440-A21C-5DE9AD7F25AD}"/>
              </a:ext>
            </a:extLst>
          </p:cNvPr>
          <p:cNvSpPr txBox="1"/>
          <p:nvPr/>
        </p:nvSpPr>
        <p:spPr>
          <a:xfrm>
            <a:off x="1181876" y="4363513"/>
            <a:ext cx="4267202" cy="369332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$  </a:t>
            </a:r>
            <a:r>
              <a:rPr lang="en-US" b="1" dirty="0" err="1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dvc</a:t>
            </a:r>
            <a:r>
              <a:rPr lang="en-US" b="1" dirty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 queue stop  --kill</a:t>
            </a:r>
            <a:endParaRPr lang="nl-BE" b="1" dirty="0">
              <a:solidFill>
                <a:schemeClr val="bg1"/>
              </a:solidFill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1B9849E-3E9C-4178-C39F-D5D31A0D8F0C}"/>
              </a:ext>
            </a:extLst>
          </p:cNvPr>
          <p:cNvSpPr txBox="1"/>
          <p:nvPr/>
        </p:nvSpPr>
        <p:spPr>
          <a:xfrm>
            <a:off x="1181876" y="5387170"/>
            <a:ext cx="4267202" cy="369332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$  </a:t>
            </a:r>
            <a:r>
              <a:rPr lang="en-US" b="1" dirty="0" err="1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dvc</a:t>
            </a:r>
            <a:r>
              <a:rPr lang="en-US" b="1" dirty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 queue kill leaky-wasp</a:t>
            </a:r>
            <a:endParaRPr lang="nl-BE" b="1" dirty="0">
              <a:solidFill>
                <a:schemeClr val="bg1"/>
              </a:solidFill>
              <a:latin typeface="Courier New" pitchFamily="49" charset="0"/>
              <a:cs typeface="Courier New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76430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5" grpId="0" animBg="1"/>
      <p:bldP spid="6" grpId="0" animBg="1"/>
      <p:bldP spid="7" grpId="0" animBg="1"/>
    </p:bld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5A3D8D-1E3E-A506-CF8D-1A50741A20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Conclusions</a:t>
            </a:r>
            <a:endParaRPr lang="LID4096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7D28C77-F7DF-9D95-99EA-189A0E96CE7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8AF2629-DA0D-6188-9309-0F17289878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7CE217-4467-4B8D-A735-B008FA7C4816}" type="slidenum">
              <a:rPr lang="LID4096" smtClean="0"/>
              <a:t>50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078462485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70D080-03FD-95CB-6C17-2AE9FAF796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Take-aways</a:t>
            </a:r>
            <a:endParaRPr lang="LID4096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1C6B09-2203-7249-5A48-8357BD8797F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Git + DVC = standalone</a:t>
            </a:r>
          </a:p>
          <a:p>
            <a:pPr lvl="1"/>
            <a:r>
              <a:rPr lang="en-US" dirty="0"/>
              <a:t>Light weight</a:t>
            </a:r>
          </a:p>
          <a:p>
            <a:pPr lvl="1"/>
            <a:r>
              <a:rPr lang="en-US" dirty="0"/>
              <a:t>Promotes reproducibility</a:t>
            </a:r>
          </a:p>
          <a:p>
            <a:pPr lvl="2"/>
            <a:r>
              <a:rPr lang="en-US" dirty="0"/>
              <a:t>Experiments</a:t>
            </a:r>
          </a:p>
          <a:p>
            <a:pPr lvl="2"/>
            <a:r>
              <a:rPr lang="en-US" dirty="0"/>
              <a:t>Workflows</a:t>
            </a:r>
          </a:p>
          <a:p>
            <a:pPr lvl="1"/>
            <a:r>
              <a:rPr lang="en-US" dirty="0"/>
              <a:t>Facilitates data/experiment/model sharing</a:t>
            </a:r>
          </a:p>
          <a:p>
            <a:r>
              <a:rPr lang="en-US" dirty="0"/>
              <a:t>Requires</a:t>
            </a:r>
          </a:p>
          <a:p>
            <a:pPr lvl="1"/>
            <a:r>
              <a:rPr lang="en-US" dirty="0"/>
              <a:t>Discipline using version control</a:t>
            </a:r>
            <a:endParaRPr lang="LID4096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23F528A-8A5B-DBF6-DE04-292E9382DC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7CE217-4467-4B8D-A735-B008FA7C4816}" type="slidenum">
              <a:rPr lang="LID4096" smtClean="0"/>
              <a:t>51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017268142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D73BB4-C6F8-7E5F-6EBF-08676EDE32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References</a:t>
            </a:r>
            <a:endParaRPr lang="LID4096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472650-163C-B12D-795A-4807F89AC94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Git documentation</a:t>
            </a:r>
            <a:br>
              <a:rPr lang="en-US" dirty="0"/>
            </a:br>
            <a:r>
              <a:rPr lang="en-US" dirty="0">
                <a:hlinkClick r:id="rId2"/>
              </a:rPr>
              <a:t>https://git-scm.com/doc</a:t>
            </a:r>
            <a:r>
              <a:rPr lang="en-US" dirty="0"/>
              <a:t> </a:t>
            </a:r>
          </a:p>
          <a:p>
            <a:r>
              <a:rPr lang="en-US" dirty="0"/>
              <a:t>DVC documentation</a:t>
            </a:r>
            <a:br>
              <a:rPr lang="en-US" dirty="0"/>
            </a:br>
            <a:r>
              <a:rPr lang="en-US" dirty="0">
                <a:hlinkClick r:id="rId3"/>
              </a:rPr>
              <a:t>https://dvc.org/doc</a:t>
            </a:r>
            <a:r>
              <a:rPr lang="en-US" dirty="0"/>
              <a:t> </a:t>
            </a:r>
            <a:endParaRPr lang="LID4096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44F75E1-9838-4C5B-166D-4927C4DB58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7CE217-4467-4B8D-A735-B008FA7C4816}" type="slidenum">
              <a:rPr lang="LID4096" smtClean="0"/>
              <a:t>52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93437995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3940</TotalTime>
  <Words>3089</Words>
  <Application>Microsoft Office PowerPoint</Application>
  <PresentationFormat>Widescreen</PresentationFormat>
  <Paragraphs>649</Paragraphs>
  <Slides>52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52</vt:i4>
      </vt:variant>
    </vt:vector>
  </HeadingPairs>
  <TitlesOfParts>
    <vt:vector size="59" baseType="lpstr">
      <vt:lpstr>Aptos</vt:lpstr>
      <vt:lpstr>Aptos Display</vt:lpstr>
      <vt:lpstr>Arial</vt:lpstr>
      <vt:lpstr>Calibri</vt:lpstr>
      <vt:lpstr>Courier New</vt:lpstr>
      <vt:lpstr>Symbol</vt:lpstr>
      <vt:lpstr>Office Theme</vt:lpstr>
      <vt:lpstr>MLOps on HPC</vt:lpstr>
      <vt:lpstr>PowerPoint Presentation</vt:lpstr>
      <vt:lpstr>PowerPoint Presentation</vt:lpstr>
      <vt:lpstr>Typographical conventions I</vt:lpstr>
      <vt:lpstr>Typographical conventions II</vt:lpstr>
      <vt:lpstr>Introduction</vt:lpstr>
      <vt:lpstr>Motivation</vt:lpstr>
      <vt:lpstr>Many options</vt:lpstr>
      <vt:lpstr>Data Version Control</vt:lpstr>
      <vt:lpstr>DVC advantages</vt:lpstr>
      <vt:lpstr>Repository setup for DVC</vt:lpstr>
      <vt:lpstr>DVC remote storage options</vt:lpstr>
      <vt:lpstr>DVC remotes examples</vt:lpstr>
      <vt:lpstr>Data Version Control</vt:lpstr>
      <vt:lpstr>DVC data versioning</vt:lpstr>
      <vt:lpstr>Interacting with DVC remote</vt:lpstr>
      <vt:lpstr>Modifying data</vt:lpstr>
      <vt:lpstr>Check out previous versions</vt:lpstr>
      <vt:lpstr>Check out only previous versions of data sets</vt:lpstr>
      <vt:lpstr>Importing data</vt:lpstr>
      <vt:lpstr>Data Version Control</vt:lpstr>
      <vt:lpstr>Data pipelines</vt:lpstr>
      <vt:lpstr>Add stage</vt:lpstr>
      <vt:lpstr>Parameters</vt:lpstr>
      <vt:lpstr>Add next stage</vt:lpstr>
      <vt:lpstr>Metrics</vt:lpstr>
      <vt:lpstr>Visualizing pipeline</vt:lpstr>
      <vt:lpstr>Run pipeline</vt:lpstr>
      <vt:lpstr>Viewing &amp; comparing metrics</vt:lpstr>
      <vt:lpstr>Comparing arbitrary runs</vt:lpstr>
      <vt:lpstr>Comparing parameters</vt:lpstr>
      <vt:lpstr>What about R?</vt:lpstr>
      <vt:lpstr>Data Version Control</vt:lpstr>
      <vt:lpstr>Experiment management</vt:lpstr>
      <vt:lpstr>DVCLive basics</vt:lpstr>
      <vt:lpstr>Run experiment</vt:lpstr>
      <vt:lpstr>HTML report</vt:lpstr>
      <vt:lpstr>Experiment management</vt:lpstr>
      <vt:lpstr>Experiment parameters &amp; metrics</vt:lpstr>
      <vt:lpstr>Experiment plots</vt:lpstr>
      <vt:lpstr>Comparing experiments</vt:lpstr>
      <vt:lpstr>Sharing experiments</vt:lpstr>
      <vt:lpstr>What about R?</vt:lpstr>
      <vt:lpstr>Data Version Control</vt:lpstr>
      <vt:lpstr>Pipelines &amp; DVCLive</vt:lpstr>
      <vt:lpstr>Experiments in pipelines</vt:lpstr>
      <vt:lpstr>Queues &amp; parameter sweeps</vt:lpstr>
      <vt:lpstr>Queue status &amp; management</vt:lpstr>
      <vt:lpstr>Queue control</vt:lpstr>
      <vt:lpstr>Conclusions</vt:lpstr>
      <vt:lpstr>Take-aways</vt:lpstr>
      <vt:lpstr>References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Geert Jan Bex</dc:creator>
  <cp:lastModifiedBy>Geert Jan Bex</cp:lastModifiedBy>
  <cp:revision>39</cp:revision>
  <dcterms:created xsi:type="dcterms:W3CDTF">2025-01-17T10:10:41Z</dcterms:created>
  <dcterms:modified xsi:type="dcterms:W3CDTF">2025-12-03T11:44:24Z</dcterms:modified>
</cp:coreProperties>
</file>