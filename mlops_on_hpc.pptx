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7" r:id="rId14"/>
    <p:sldId id="373" r:id="rId15"/>
    <p:sldId id="366" r:id="rId16"/>
    <p:sldId id="368" r:id="rId17"/>
    <p:sldId id="369" r:id="rId18"/>
    <p:sldId id="370" r:id="rId19"/>
    <p:sldId id="372" r:id="rId20"/>
    <p:sldId id="396" r:id="rId21"/>
    <p:sldId id="374" r:id="rId22"/>
    <p:sldId id="371" r:id="rId23"/>
    <p:sldId id="375" r:id="rId24"/>
    <p:sldId id="376" r:id="rId25"/>
    <p:sldId id="377" r:id="rId26"/>
    <p:sldId id="379" r:id="rId27"/>
    <p:sldId id="380" r:id="rId28"/>
    <p:sldId id="378" r:id="rId29"/>
    <p:sldId id="382" r:id="rId30"/>
    <p:sldId id="381" r:id="rId31"/>
    <p:sldId id="383" r:id="rId32"/>
    <p:sldId id="395" r:id="rId33"/>
    <p:sldId id="384" r:id="rId34"/>
    <p:sldId id="385" r:id="rId35"/>
    <p:sldId id="386" r:id="rId36"/>
    <p:sldId id="387" r:id="rId37"/>
    <p:sldId id="388" r:id="rId38"/>
    <p:sldId id="390" r:id="rId39"/>
    <p:sldId id="389" r:id="rId40"/>
    <p:sldId id="392" r:id="rId41"/>
    <p:sldId id="391" r:id="rId42"/>
    <p:sldId id="393" r:id="rId43"/>
    <p:sldId id="394" r:id="rId44"/>
    <p:sldId id="397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405" r:id="rId5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1832E-0171-4C3A-8280-47AD1B442FFF}" v="3" dt="2025-05-21T15:29:13.0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49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01832E-0171-4C3A-8280-47AD1B442FFF}"/>
    <pc:docChg chg="custSel addSld modSld">
      <pc:chgData name="Geert Jan Bex" userId="b602d378c858ceb4" providerId="LiveId" clId="{4801832E-0171-4C3A-8280-47AD1B442FFF}" dt="2025-05-21T15:28:55.882" v="37" actId="478"/>
      <pc:docMkLst>
        <pc:docMk/>
      </pc:docMkLst>
      <pc:sldChg chg="addSp delSp modSp new mod modClrScheme chgLayout">
        <pc:chgData name="Geert Jan Bex" userId="b602d378c858ceb4" providerId="LiveId" clId="{4801832E-0171-4C3A-8280-47AD1B442FFF}" dt="2025-05-21T15:28:55.882" v="37" actId="478"/>
        <pc:sldMkLst>
          <pc:docMk/>
          <pc:sldMk cId="688779831" sldId="358"/>
        </pc:sldMkLst>
        <pc:spChg chg="mod ord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2" creationId="{09B6272A-02E9-F2EE-436A-3F4932E13A7A}"/>
          </ac:spMkLst>
        </pc:spChg>
        <pc:spChg chg="del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3" creationId="{656988EA-9D81-5792-4562-CEF34AF7D24C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5" creationId="{D4751453-B372-41FE-6AD4-8053745813A4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6" creationId="{3EA672C9-D16F-6ECC-CD9F-13E1D5E2FD77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10" creationId="{5D409F96-829B-F0E2-9CA3-638A81E0EDFE}"/>
          </ac:spMkLst>
        </pc:spChg>
        <pc:spChg chg="mod">
          <ac:chgData name="Geert Jan Bex" userId="b602d378c858ceb4" providerId="LiveId" clId="{4801832E-0171-4C3A-8280-47AD1B442FFF}" dt="2025-05-21T15:28:45.282" v="35"/>
          <ac:spMkLst>
            <pc:docMk/>
            <pc:sldMk cId="688779831" sldId="358"/>
            <ac:spMk id="15" creationId="{9C3EDA34-C6EA-CACB-4B57-6632CD8078E2}"/>
          </ac:spMkLst>
        </pc:s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4" creationId="{86DB24A3-C16D-CA53-A6A4-4F7EE1D879CE}"/>
          </ac:grpSpMkLst>
        </pc:gr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7" creationId="{9E754873-0153-0D97-958A-06B2E493E517}"/>
          </ac:grpSpMkLst>
        </pc:grpChg>
        <pc:grpChg chg="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8" creationId="{BF59F79E-E11C-9AF7-FFCE-6CF4E4F7A8DF}"/>
          </ac:grpSpMkLst>
        </pc:grpChg>
        <pc:grpChg chg="add del mod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2" creationId="{D8DC2B81-AD45-EEB4-4C48-A85C4EDF6F42}"/>
          </ac:grpSpMkLst>
        </pc:grpChg>
        <pc:grpChg chg="mod topLvl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3" creationId="{B59AB037-1BEC-2578-88A3-40011B584EE4}"/>
          </ac:grpSpMkLst>
        </pc:grpChg>
        <pc:picChg chg="mod">
          <ac:chgData name="Geert Jan Bex" userId="b602d378c858ceb4" providerId="LiveId" clId="{4801832E-0171-4C3A-8280-47AD1B442FFF}" dt="2025-05-21T15:28:38.249" v="34"/>
          <ac:picMkLst>
            <pc:docMk/>
            <pc:sldMk cId="688779831" sldId="358"/>
            <ac:picMk id="9" creationId="{4FAF59EB-21B6-BDAF-B485-6D2BCDA5310A}"/>
          </ac:picMkLst>
        </pc:picChg>
        <pc:picChg chg="del mod topLvl">
          <ac:chgData name="Geert Jan Bex" userId="b602d378c858ceb4" providerId="LiveId" clId="{4801832E-0171-4C3A-8280-47AD1B442FFF}" dt="2025-05-21T15:28:55.882" v="37" actId="478"/>
          <ac:picMkLst>
            <pc:docMk/>
            <pc:sldMk cId="688779831" sldId="358"/>
            <ac:picMk id="14" creationId="{D3AC97ED-C105-5CA5-7B1C-7A1EB712B858}"/>
          </ac:picMkLst>
        </pc:picChg>
        <pc:cxnChg chg="mod">
          <ac:chgData name="Geert Jan Bex" userId="b602d378c858ceb4" providerId="LiveId" clId="{4801832E-0171-4C3A-8280-47AD1B442FFF}" dt="2025-05-21T15:28:38.249" v="34"/>
          <ac:cxnSpMkLst>
            <pc:docMk/>
            <pc:sldMk cId="688779831" sldId="358"/>
            <ac:cxnSpMk id="11" creationId="{B112BDF1-5478-EDB5-1F1C-048F81465E56}"/>
          </ac:cxnSpMkLst>
        </pc:cxnChg>
        <pc:cxnChg chg="mod">
          <ac:chgData name="Geert Jan Bex" userId="b602d378c858ceb4" providerId="LiveId" clId="{4801832E-0171-4C3A-8280-47AD1B442FFF}" dt="2025-05-21T15:28:45.282" v="35"/>
          <ac:cxnSpMkLst>
            <pc:docMk/>
            <pc:sldMk cId="688779831" sldId="358"/>
            <ac:cxnSpMk id="16" creationId="{7831DE07-2CFA-646A-1CF4-7EF5832801BD}"/>
          </ac:cxnSpMkLst>
        </pc:cxnChg>
      </pc:sldChg>
    </pc:docChg>
  </pc:docChgLst>
  <pc:docChgLst>
    <pc:chgData name="Geert Jan Bex" userId="b602d378c858ceb4" providerId="LiveId" clId="{30EAD574-1FC7-4A86-A60C-5DB10ABC81BA}"/>
    <pc:docChg chg="custSel addSld modSld">
      <pc:chgData name="Geert Jan Bex" userId="b602d378c858ceb4" providerId="LiveId" clId="{30EAD574-1FC7-4A86-A60C-5DB10ABC81BA}" dt="2025-02-03T12:51:50.899" v="8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</pc:sldChg>
      <pc:sldChg chg="addSp delSp modSp add mod delAnim modAnim">
        <pc:chgData name="Geert Jan Bex" userId="b602d378c858ceb4" providerId="LiveId" clId="{30EAD574-1FC7-4A86-A60C-5DB10ABC81BA}" dt="2025-02-03T12:51:50.899" v="87"/>
        <pc:sldMkLst>
          <pc:docMk/>
          <pc:sldMk cId="2597093166" sldId="348"/>
        </pc:sldMkLst>
      </pc:sldChg>
      <pc:sldChg chg="modSp add mod">
        <pc:chgData name="Geert Jan Bex" userId="b602d378c858ceb4" providerId="LiveId" clId="{30EAD574-1FC7-4A86-A60C-5DB10ABC81BA}" dt="2025-02-03T12:49:53.874" v="77" actId="208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12/03/2025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12/03/2025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12/03/2025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12/03/2025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12/03/2025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12/03/2025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bit.ly/4737qM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vc.org/doc/user-guide/data-management/cloud-versionin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git@github.com:gjbex/ml_project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vc.org/doc" TargetMode="External"/><Relationship Id="rId2" Type="http://schemas.openxmlformats.org/officeDocument/2006/relationships/hyperlink" Target="https://git-scm.com/do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MLOps</a:t>
            </a:r>
            <a:r>
              <a:rPr lang="en-US" dirty="0"/>
              <a:t> on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431F04A4-B182-7D9A-2216-19A7C3BB34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588693" y="5445224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https://bit.ly/4737qM1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FFC480-9116-B2BE-7116-6AB38E00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83CD-BDA9-F0C6-70DC-2630235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5E867-A8AD-3113-92B2-F950898F6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70F4-2B97-F08B-A400-14610A697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302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85605F-E7D2-A6BC-E621-D27565B16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Motivation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28C4-1AC3-BE14-F6BE-11B68875E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1643742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Machine learning</a:t>
            </a:r>
          </a:p>
          <a:p>
            <a:pPr lvl="1"/>
            <a:r>
              <a:rPr lang="en-US" sz="2000" dirty="0"/>
              <a:t>Increasingly important in many domains</a:t>
            </a:r>
          </a:p>
          <a:p>
            <a:pPr lvl="1"/>
            <a:r>
              <a:rPr lang="en-US" sz="2000" dirty="0"/>
              <a:t>Not trivial to reproduce</a:t>
            </a:r>
          </a:p>
          <a:p>
            <a:pPr lvl="1"/>
            <a:r>
              <a:rPr lang="en-US" sz="2000" dirty="0"/>
              <a:t>Requires flexibility to experiment</a:t>
            </a:r>
          </a:p>
          <a:p>
            <a:pPr lvl="1"/>
            <a:endParaRPr lang="en-US" sz="2000" dirty="0"/>
          </a:p>
          <a:p>
            <a:endParaRPr lang="en-US" sz="2400" dirty="0"/>
          </a:p>
          <a:p>
            <a:r>
              <a:rPr lang="en-US" sz="2000" dirty="0"/>
              <a:t>However, not limited to ML!</a:t>
            </a:r>
          </a:p>
          <a:p>
            <a:pPr lvl="1"/>
            <a:r>
              <a:rPr lang="en-US" sz="2000" dirty="0"/>
              <a:t>Any type of experiments</a:t>
            </a:r>
            <a:endParaRPr lang="LID4096" sz="2000" dirty="0"/>
          </a:p>
        </p:txBody>
      </p:sp>
      <p:pic>
        <p:nvPicPr>
          <p:cNvPr id="6" name="Picture 5" descr="Machine in a laboratory">
            <a:extLst>
              <a:ext uri="{FF2B5EF4-FFF2-40B4-BE49-F238E27FC236}">
                <a16:creationId xmlns:a16="http://schemas.microsoft.com/office/drawing/2014/main" id="{59D88B83-4DAB-5889-35AB-497F5412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70" r="16530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96115-DFA5-43A3-EF71-34E1D032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LID4096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3E2B7-F060-FE0E-D44A-E8B79994E60B}"/>
              </a:ext>
            </a:extLst>
          </p:cNvPr>
          <p:cNvSpPr txBox="1"/>
          <p:nvPr/>
        </p:nvSpPr>
        <p:spPr>
          <a:xfrm>
            <a:off x="2486981" y="3704421"/>
            <a:ext cx="1122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MLOps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88CB673-09F9-92B7-3C69-DAC9236D1FB6}"/>
              </a:ext>
            </a:extLst>
          </p:cNvPr>
          <p:cNvGrpSpPr/>
          <p:nvPr/>
        </p:nvGrpSpPr>
        <p:grpSpPr>
          <a:xfrm>
            <a:off x="2441103" y="4961332"/>
            <a:ext cx="1557440" cy="714591"/>
            <a:chOff x="2441103" y="4961332"/>
            <a:chExt cx="1557440" cy="71459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834E0CF-CC55-76E9-BAC1-C3426E1C6B88}"/>
                </a:ext>
              </a:extLst>
            </p:cNvPr>
            <p:cNvSpPr txBox="1"/>
            <p:nvPr/>
          </p:nvSpPr>
          <p:spPr>
            <a:xfrm>
              <a:off x="2441103" y="5214258"/>
              <a:ext cx="121379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ExpOps</a:t>
              </a:r>
              <a:endParaRPr lang="LID4096" sz="2400" dirty="0"/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BCE167F5-DE8A-5BE7-13B1-519EC16B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93468" y="4961332"/>
              <a:ext cx="505075" cy="505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4993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329C-EFBF-A4F4-61B1-990F095A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46390-B09D-DCFF-F23F-C98E6BA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MLFlow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ZenML</a:t>
            </a:r>
            <a:endParaRPr lang="en-US" dirty="0"/>
          </a:p>
          <a:p>
            <a:endParaRPr lang="en-US" dirty="0"/>
          </a:p>
          <a:p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C2A7-88E8-036E-CBF3-80BFCAE0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BDC27A-F312-C227-80CD-F4C81A638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058" y="2645290"/>
            <a:ext cx="2505425" cy="762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D43EC7-DD31-B709-4B67-54D1CA84F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231" y="1602642"/>
            <a:ext cx="2010056" cy="8097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D617D-DF3F-3C14-10EC-6787B6957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148" y="3579660"/>
            <a:ext cx="1343138" cy="83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440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91FC-F3E9-8B2D-93C7-E612E3E2F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22A94-D9EE-07BD-D2CC-A1179BB76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CCB1D-FD41-2462-A217-E8818F2DD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F6E89-1C1F-5484-625B-9E682E1A5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0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94AE0-795D-0EDB-31CE-636F5C69C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DVC advantages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1741E-5B6A-974E-2202-F12652130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 fontScale="92500"/>
          </a:bodyPr>
          <a:lstStyle/>
          <a:p>
            <a:r>
              <a:rPr lang="en-US" sz="2000" dirty="0"/>
              <a:t>Interoperates with git</a:t>
            </a:r>
          </a:p>
          <a:p>
            <a:r>
              <a:rPr lang="en-US" sz="2000" dirty="0"/>
              <a:t>Like git</a:t>
            </a:r>
          </a:p>
          <a:p>
            <a:r>
              <a:rPr lang="en-US" sz="2000" dirty="0"/>
              <a:t>Git + DVC = standalone</a:t>
            </a:r>
          </a:p>
          <a:p>
            <a:r>
              <a:rPr lang="en-US" sz="2000" dirty="0"/>
              <a:t>Supports remote data storage</a:t>
            </a:r>
          </a:p>
          <a:p>
            <a:endParaRPr lang="en-US" sz="2000" dirty="0"/>
          </a:p>
          <a:p>
            <a:r>
              <a:rPr lang="en-US" sz="2000" dirty="0"/>
              <a:t>Features</a:t>
            </a:r>
          </a:p>
          <a:p>
            <a:pPr lvl="1"/>
            <a:r>
              <a:rPr lang="en-US" sz="2000" dirty="0"/>
              <a:t>Data versioning</a:t>
            </a:r>
          </a:p>
          <a:p>
            <a:pPr lvl="1"/>
            <a:r>
              <a:rPr lang="en-US" sz="2000" dirty="0"/>
              <a:t>Data pipelines</a:t>
            </a:r>
          </a:p>
          <a:p>
            <a:pPr lvl="1"/>
            <a:r>
              <a:rPr lang="en-US" sz="2000" dirty="0"/>
              <a:t>Experiment management</a:t>
            </a:r>
          </a:p>
          <a:p>
            <a:pPr lvl="1"/>
            <a:r>
              <a:rPr lang="en-US" sz="2000" dirty="0"/>
              <a:t>Model registry (requires DVC Studio)</a:t>
            </a:r>
            <a:endParaRPr lang="LID4096" sz="2000" dirty="0"/>
          </a:p>
        </p:txBody>
      </p:sp>
      <p:pic>
        <p:nvPicPr>
          <p:cNvPr id="6" name="Picture 5" descr="Stretched steel tapes in different lengths">
            <a:extLst>
              <a:ext uri="{FF2B5EF4-FFF2-40B4-BE49-F238E27FC236}">
                <a16:creationId xmlns:a16="http://schemas.microsoft.com/office/drawing/2014/main" id="{8E5B289C-7600-BC91-47DF-20BFFD7F3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45" r="2047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6352E-2986-DF89-A4F3-1D56AF4B3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6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1D71-9C46-7A3A-A6F7-E26F63259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Repository setup for DVC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D002-A646-D36D-054D-0D51F543F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Set up git repository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ml_project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Initialize DVC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Configure remote for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80717-D273-892C-4CAE-6FDB9F60E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46715-3524-94A1-C6FA-927E09CACF93}"/>
              </a:ext>
            </a:extLst>
          </p:cNvPr>
          <p:cNvSpPr txBox="1"/>
          <p:nvPr/>
        </p:nvSpPr>
        <p:spPr>
          <a:xfrm>
            <a:off x="1808737" y="2332124"/>
            <a:ext cx="680186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FAB97-A03B-47EF-EF0F-75DE025AF7A0}"/>
              </a:ext>
            </a:extLst>
          </p:cNvPr>
          <p:cNvSpPr txBox="1"/>
          <p:nvPr/>
        </p:nvSpPr>
        <p:spPr>
          <a:xfrm>
            <a:off x="1808737" y="3877899"/>
            <a:ext cx="6801861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'Initialize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91D15D-2842-FF2D-D0F4-D2D24CD1A4DC}"/>
              </a:ext>
            </a:extLst>
          </p:cNvPr>
          <p:cNvSpPr txBox="1"/>
          <p:nvPr/>
        </p:nvSpPr>
        <p:spPr>
          <a:xfrm>
            <a:off x="1808738" y="5411248"/>
            <a:ext cx="6801862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../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remote storage for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204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EA23-0FE9-9F61-34A7-66027250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 storage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936BA-69E2-AA8E-04BD-95211F6B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</a:t>
            </a:r>
            <a:r>
              <a:rPr lang="en-US" i="1" dirty="0"/>
              <a:t>not</a:t>
            </a:r>
            <a:r>
              <a:rPr lang="en-US" dirty="0"/>
              <a:t> in git repository</a:t>
            </a:r>
          </a:p>
          <a:p>
            <a:pPr lvl="1"/>
            <a:r>
              <a:rPr lang="en-US" dirty="0"/>
              <a:t>Too large</a:t>
            </a:r>
          </a:p>
          <a:p>
            <a:pPr lvl="1"/>
            <a:r>
              <a:rPr lang="en-US" dirty="0"/>
              <a:t>Bad match with git, i.e., binary files</a:t>
            </a:r>
          </a:p>
          <a:p>
            <a:r>
              <a:rPr lang="en-US" dirty="0"/>
              <a:t>DVC</a:t>
            </a:r>
          </a:p>
          <a:p>
            <a:pPr lvl="1"/>
            <a:r>
              <a:rPr lang="en-US" dirty="0"/>
              <a:t>Meta-data in git repository</a:t>
            </a:r>
          </a:p>
          <a:p>
            <a:pPr lvl="1"/>
            <a:r>
              <a:rPr lang="en-US" dirty="0"/>
              <a:t>Data in remote storage</a:t>
            </a:r>
          </a:p>
          <a:p>
            <a:r>
              <a:rPr lang="en-US" dirty="0"/>
              <a:t>Remote storage</a:t>
            </a:r>
          </a:p>
          <a:p>
            <a:pPr lvl="1"/>
            <a:r>
              <a:rPr lang="en-US" dirty="0"/>
              <a:t>Local directory</a:t>
            </a:r>
          </a:p>
          <a:p>
            <a:pPr lvl="1"/>
            <a:r>
              <a:rPr lang="en-US" dirty="0"/>
              <a:t>SSH &amp; SFTP</a:t>
            </a:r>
          </a:p>
          <a:p>
            <a:pPr lvl="1"/>
            <a:r>
              <a:rPr lang="en-US" dirty="0"/>
              <a:t>HTTP/WebDAV</a:t>
            </a:r>
          </a:p>
          <a:p>
            <a:pPr lvl="1"/>
            <a:r>
              <a:rPr lang="en-US" dirty="0"/>
              <a:t>Cloud (S3, Azure Blob Storage, GCP, Google Drive, ...)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1EFC-0F2E-2E2C-811D-D443B16F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2FB6E9-E272-E2BD-C49F-967EB6FA3FB6}"/>
              </a:ext>
            </a:extLst>
          </p:cNvPr>
          <p:cNvGrpSpPr/>
          <p:nvPr/>
        </p:nvGrpSpPr>
        <p:grpSpPr>
          <a:xfrm>
            <a:off x="3254828" y="4001294"/>
            <a:ext cx="7597462" cy="1135701"/>
            <a:chOff x="-450540" y="5535406"/>
            <a:chExt cx="7597462" cy="113570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89C3C7-09A3-FA90-403A-515C7DA21585}"/>
                </a:ext>
              </a:extLst>
            </p:cNvPr>
            <p:cNvSpPr txBox="1"/>
            <p:nvPr/>
          </p:nvSpPr>
          <p:spPr>
            <a:xfrm>
              <a:off x="3707904" y="5535406"/>
              <a:ext cx="3439018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ea typeface="+mn-ea"/>
                  <a:cs typeface="+mn-cs"/>
                </a:rPr>
                <a:t>Good choice for HPC</a:t>
              </a:r>
              <a:endParaRPr kumimoji="0" lang="nl-BE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8E75BB4-B799-B618-BBC3-CD1AEA0B3F9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450540" y="5797016"/>
              <a:ext cx="4158444" cy="87409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5214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F64B-E17F-6EFA-83EA-30FD2E02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remotes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DF27-FE27-0776-7496-677AB3B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only for HPC access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accessible via SFTP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Cloud access, see documentation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  <a:hlinkClick r:id="rId2"/>
              </a:rPr>
              <a:t>https://dvc.org/doc/user-guide/data-management/cloud-versioning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11360-9D34-81D4-4D5B-1C6F94D0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98B6A-3BDB-0471-0B16-8F34E40325E6}"/>
              </a:ext>
            </a:extLst>
          </p:cNvPr>
          <p:cNvSpPr txBox="1"/>
          <p:nvPr/>
        </p:nvSpPr>
        <p:spPr>
          <a:xfrm>
            <a:off x="1340650" y="3923055"/>
            <a:ext cx="10661893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vsc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ssh://vsc30000@login.hpc.kuleuven.be:/data/leuven/300/vsc30000/dvc_data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27547-4DCE-692F-CD52-71EA68B6250E}"/>
              </a:ext>
            </a:extLst>
          </p:cNvPr>
          <p:cNvSpPr txBox="1"/>
          <p:nvPr/>
        </p:nvSpPr>
        <p:spPr>
          <a:xfrm>
            <a:off x="1340650" y="2366846"/>
            <a:ext cx="1066189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$VSC_DATA/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5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B542E-B741-7F4F-9520-963F673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21D01-A148-6D32-0A56-9482F66D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AEBDE-D5D2-5070-B447-344CBD0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versioning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BD9-3651-0170-C0A9-ACAEE55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1C4E8-F51B-2CBF-47F8-29C450ACC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071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F1A4-37FF-4F4A-4619-9F73AFDAD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data versioning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B6E9C-01BE-3220-B836-5F1FE8C3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data to DVC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can be</a:t>
            </a:r>
          </a:p>
          <a:p>
            <a:pPr lvl="1"/>
            <a:r>
              <a:rPr lang="en-US" dirty="0"/>
              <a:t>Textual (CSV, JSON, YAML,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Binary (HDF5, JPEG, </a:t>
            </a:r>
            <a:r>
              <a:rPr lang="en-US" dirty="0" err="1"/>
              <a:t>HuggingFace</a:t>
            </a:r>
            <a:r>
              <a:rPr lang="en-US" dirty="0"/>
              <a:t> dataset,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r>
              <a:rPr lang="en-US" dirty="0"/>
              <a:t>Convenient auto staging (optional)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4C9CA-DDF1-5A17-DBCF-7A652DF0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51F20-6957-3714-196F-F9443056B3C7}"/>
              </a:ext>
            </a:extLst>
          </p:cNvPr>
          <p:cNvSpPr txBox="1"/>
          <p:nvPr/>
        </p:nvSpPr>
        <p:spPr>
          <a:xfrm>
            <a:off x="1808737" y="2332124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data set'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1F26D-9708-9F92-EE70-9FFC7BAD0B1D}"/>
              </a:ext>
            </a:extLst>
          </p:cNvPr>
          <p:cNvSpPr txBox="1"/>
          <p:nvPr/>
        </p:nvSpPr>
        <p:spPr>
          <a:xfrm>
            <a:off x="1808737" y="5253633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config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core.autostage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true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'Switch on DVC auto-staging'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5B27E6-5DD7-D1B7-98AC-2A88896B6E08}"/>
              </a:ext>
            </a:extLst>
          </p:cNvPr>
          <p:cNvGrpSpPr/>
          <p:nvPr/>
        </p:nvGrpSpPr>
        <p:grpSpPr>
          <a:xfrm>
            <a:off x="5856514" y="1640960"/>
            <a:ext cx="5295196" cy="1004270"/>
            <a:chOff x="-2074887" y="5501785"/>
            <a:chExt cx="7297156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7D4B7E-4461-D47D-41A1-9DEB1C2105B8}"/>
                </a:ext>
              </a:extLst>
            </p:cNvPr>
            <p:cNvSpPr txBox="1"/>
            <p:nvPr/>
          </p:nvSpPr>
          <p:spPr>
            <a:xfrm>
              <a:off x="2083559" y="5501785"/>
              <a:ext cx="3138710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Created by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 add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86DECE1-A6E8-FAD1-5178-A9934E07A407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2074887" y="5710619"/>
              <a:ext cx="415844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90C900-1234-3FE7-3358-C5CDFC5C536F}"/>
              </a:ext>
            </a:extLst>
          </p:cNvPr>
          <p:cNvGrpSpPr/>
          <p:nvPr/>
        </p:nvGrpSpPr>
        <p:grpSpPr>
          <a:xfrm>
            <a:off x="6389914" y="3428998"/>
            <a:ext cx="5693835" cy="517618"/>
            <a:chOff x="-304736" y="5334092"/>
            <a:chExt cx="7846508" cy="58536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AC8DEE-E6FC-FF3D-3974-6E1DC238E04A}"/>
                </a:ext>
              </a:extLst>
            </p:cNvPr>
            <p:cNvSpPr txBox="1"/>
            <p:nvPr/>
          </p:nvSpPr>
          <p:spPr>
            <a:xfrm>
              <a:off x="2083559" y="5501785"/>
              <a:ext cx="5458213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Version of data == commit </a:t>
              </a:r>
              <a:r>
                <a:rPr lang="en-US" dirty="0">
                  <a:solidFill>
                    <a:prstClr val="black"/>
                  </a:solidFill>
                </a:rPr>
                <a:t>of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dirty="0">
                  <a:solidFill>
                    <a:prstClr val="black"/>
                  </a:solidFill>
                </a:rPr>
                <a:t> file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45480FD-EEB3-07F7-6281-4D20FA637EDA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-304736" y="5334092"/>
              <a:ext cx="2388295" cy="37652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22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62FB-630A-219F-2A2C-EED94EFE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DVC remote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DA91-72FE-416D-7FEF-8F2AD149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git</a:t>
            </a:r>
          </a:p>
          <a:p>
            <a:pPr lvl="1"/>
            <a:r>
              <a:rPr lang="en-US" dirty="0"/>
              <a:t>Push changes to remote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Pull changes from remote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F0A14-4458-7144-264D-012F640C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F827B-5ADB-BD15-82F0-27D3577C88A9}"/>
              </a:ext>
            </a:extLst>
          </p:cNvPr>
          <p:cNvSpPr txBox="1"/>
          <p:nvPr/>
        </p:nvSpPr>
        <p:spPr>
          <a:xfrm>
            <a:off x="1612794" y="279346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7FD43-B3FA-1D22-9DBE-AEBB858259FF}"/>
              </a:ext>
            </a:extLst>
          </p:cNvPr>
          <p:cNvSpPr txBox="1"/>
          <p:nvPr/>
        </p:nvSpPr>
        <p:spPr>
          <a:xfrm>
            <a:off x="1612794" y="400129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29072F5-DDD9-E136-1482-D0FBF3D42368}"/>
              </a:ext>
            </a:extLst>
          </p:cNvPr>
          <p:cNvGrpSpPr/>
          <p:nvPr/>
        </p:nvGrpSpPr>
        <p:grpSpPr>
          <a:xfrm>
            <a:off x="6749145" y="3029158"/>
            <a:ext cx="4235591" cy="1156802"/>
            <a:chOff x="2623457" y="4694356"/>
            <a:chExt cx="4235591" cy="115680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153D251-5277-7D61-4C98-4DC41B24385E}"/>
                </a:ext>
              </a:extLst>
            </p:cNvPr>
            <p:cNvSpPr txBox="1"/>
            <p:nvPr/>
          </p:nvSpPr>
          <p:spPr>
            <a:xfrm>
              <a:off x="2623457" y="5020161"/>
              <a:ext cx="383006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Data is cached locally in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/cache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D351281B-A66A-8FBC-9792-FD622701E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10976" y="469435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38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F552-F5B4-A3EF-F5D6-C34E2B54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0942-358B-39D3-0FB2-201941BCD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data</a:t>
            </a:r>
          </a:p>
          <a:p>
            <a:pPr lvl="1"/>
            <a:r>
              <a:rPr lang="en-US" dirty="0"/>
              <a:t>No change for git</a:t>
            </a:r>
          </a:p>
          <a:p>
            <a:pPr lvl="1"/>
            <a:r>
              <a:rPr lang="en-US" dirty="0"/>
              <a:t>Change for DVC</a:t>
            </a:r>
          </a:p>
          <a:p>
            <a:r>
              <a:rPr lang="en-US" dirty="0"/>
              <a:t>Check status,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FEB2-0978-A92D-4F36-7719CB94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0BE75-DC20-5EC6-8D44-01E257F9BC92}"/>
              </a:ext>
            </a:extLst>
          </p:cNvPr>
          <p:cNvSpPr txBox="1"/>
          <p:nvPr/>
        </p:nvSpPr>
        <p:spPr>
          <a:xfrm>
            <a:off x="1558367" y="3631179"/>
            <a:ext cx="7052234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modified:    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F798F-3EA0-29D2-3137-0359D0F967A5}"/>
              </a:ext>
            </a:extLst>
          </p:cNvPr>
          <p:cNvSpPr txBox="1"/>
          <p:nvPr/>
        </p:nvSpPr>
        <p:spPr>
          <a:xfrm>
            <a:off x="1558367" y="5666492"/>
            <a:ext cx="7052234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'Modify data'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3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1152F-8933-35BE-8F1A-6607D6B87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previous 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B91CA-3945-7651-D5B3-4CB2E0DD6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Check out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Go back to current version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EA471-CBD1-3D0F-D4B1-9AE6E9557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4C35B-32B5-7A20-6B97-D21173726D2F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F7F68A-39CD-2DA0-B4B0-82C138C6D3F8}"/>
              </a:ext>
            </a:extLst>
          </p:cNvPr>
          <p:cNvSpPr txBox="1"/>
          <p:nvPr/>
        </p:nvSpPr>
        <p:spPr>
          <a:xfrm>
            <a:off x="1503936" y="3368635"/>
            <a:ext cx="8663321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checkout </a:t>
            </a:r>
            <a:r>
              <a:rPr lang="en-US" b="1" dirty="0">
                <a:solidFill>
                  <a:schemeClr val="bg1"/>
                </a:solidFill>
              </a:rPr>
              <a:t>17262ab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Building workspace index         |2.00 [00:00, 94.3entry/s]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Comparing indexes                |3.00 [00:00, 2.10kentry/s]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Applying changes                 |1.00 [00:00,   225file/s]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8CD11-116B-2EA6-F208-5D63D283F43E}"/>
              </a:ext>
            </a:extLst>
          </p:cNvPr>
          <p:cNvSpPr txBox="1"/>
          <p:nvPr/>
        </p:nvSpPr>
        <p:spPr>
          <a:xfrm>
            <a:off x="1503936" y="5828463"/>
            <a:ext cx="8663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65F5AE-905C-B264-B599-E034BE5FEB6D}"/>
              </a:ext>
            </a:extLst>
          </p:cNvPr>
          <p:cNvGrpSpPr/>
          <p:nvPr/>
        </p:nvGrpSpPr>
        <p:grpSpPr>
          <a:xfrm>
            <a:off x="7847260" y="4542053"/>
            <a:ext cx="3870301" cy="1484821"/>
            <a:chOff x="8413411" y="4506284"/>
            <a:chExt cx="3870301" cy="14848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BB86F1-AA3F-3DB5-34BD-E50F6017B42E}"/>
                </a:ext>
              </a:extLst>
            </p:cNvPr>
            <p:cNvSpPr txBox="1"/>
            <p:nvPr/>
          </p:nvSpPr>
          <p:spPr>
            <a:xfrm>
              <a:off x="8413411" y="4913887"/>
              <a:ext cx="3506540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14202F6A-7368-3D7D-77EF-AC8A3F728B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17561" y="4506284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C7630B-0F66-7E50-1CE4-2804692EE7EF}"/>
              </a:ext>
            </a:extLst>
          </p:cNvPr>
          <p:cNvGrpSpPr/>
          <p:nvPr/>
        </p:nvGrpSpPr>
        <p:grpSpPr>
          <a:xfrm>
            <a:off x="7848507" y="2689759"/>
            <a:ext cx="3950199" cy="942697"/>
            <a:chOff x="6389916" y="4652038"/>
            <a:chExt cx="3950199" cy="942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2798926-F725-FC59-8E20-52323B2C7F8E}"/>
                </a:ext>
              </a:extLst>
            </p:cNvPr>
            <p:cNvSpPr txBox="1"/>
            <p:nvPr/>
          </p:nvSpPr>
          <p:spPr>
            <a:xfrm>
              <a:off x="6389916" y="5009960"/>
              <a:ext cx="3484800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Everything revert!!!</a:t>
              </a:r>
              <a:endParaRPr lang="LID4096" sz="3200" dirty="0"/>
            </a:p>
          </p:txBody>
        </p:sp>
        <p:pic>
          <p:nvPicPr>
            <p:cNvPr id="14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68B4816-5792-F5BD-519A-2A505E4C85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3964" y="4652038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6110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15714-3A45-E687-6CBD-5F4EBA417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C9AD6-CD94-A894-CF95-CB637917A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only previous versions of data sets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32CD3-DF03-B8CB-F004-82A4FFD24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Create a new branch &amp; restore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done, switch branches &amp; clean up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6A235-FD7E-FB42-EF92-DBCA5927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F9D6C-435F-7C39-8584-D34F4C56AA28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 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566300-F87A-6F00-4390-BEA06B40B5CB}"/>
              </a:ext>
            </a:extLst>
          </p:cNvPr>
          <p:cNvSpPr txBox="1"/>
          <p:nvPr/>
        </p:nvSpPr>
        <p:spPr>
          <a:xfrm>
            <a:off x="1503936" y="3368635"/>
            <a:ext cx="866332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-C experiment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restore  --source=17262ab  data/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-a  -m 'Use old data set'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5977D0-B1B1-3CE8-39A9-0F5BFF267D10}"/>
              </a:ext>
            </a:extLst>
          </p:cNvPr>
          <p:cNvSpPr txBox="1"/>
          <p:nvPr/>
        </p:nvSpPr>
        <p:spPr>
          <a:xfrm>
            <a:off x="1503936" y="5382147"/>
            <a:ext cx="8663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branch  -D  experiment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D702EF-685A-AD32-B634-29C60289D094}"/>
              </a:ext>
            </a:extLst>
          </p:cNvPr>
          <p:cNvGrpSpPr/>
          <p:nvPr/>
        </p:nvGrpSpPr>
        <p:grpSpPr>
          <a:xfrm>
            <a:off x="8183621" y="4817775"/>
            <a:ext cx="3967271" cy="1448882"/>
            <a:chOff x="6150428" y="4638296"/>
            <a:chExt cx="3967271" cy="14488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352565-7DBF-CB94-48F6-1B3163B6CCC7}"/>
                </a:ext>
              </a:extLst>
            </p:cNvPr>
            <p:cNvSpPr txBox="1"/>
            <p:nvPr/>
          </p:nvSpPr>
          <p:spPr>
            <a:xfrm>
              <a:off x="6150428" y="5009960"/>
              <a:ext cx="3591048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3D580E30-7008-C9DE-90E5-E648EFBD6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548" y="4638296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312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EE3-1552-DE57-5958-BC2DFBCA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C2AB7-4C49-EBA0-911F-1B035297B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files in git repository</a:t>
            </a:r>
          </a:p>
          <a:p>
            <a:endParaRPr lang="en-US" dirty="0"/>
          </a:p>
          <a:p>
            <a:r>
              <a:rPr lang="en-US" dirty="0"/>
              <a:t>Recursively list files</a:t>
            </a:r>
          </a:p>
          <a:p>
            <a:endParaRPr lang="en-US" dirty="0"/>
          </a:p>
          <a:p>
            <a:r>
              <a:rPr lang="en-US" dirty="0"/>
              <a:t>Import data set from git repository</a:t>
            </a:r>
          </a:p>
          <a:p>
            <a:endParaRPr lang="en-US" dirty="0"/>
          </a:p>
          <a:p>
            <a:r>
              <a:rPr lang="en-US" dirty="0"/>
              <a:t>Copy files from git repository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8982-1B76-5C14-2DF4-8F67E0F0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21214-3A68-CE8E-3B82-37EA5FFB6E36}"/>
              </a:ext>
            </a:extLst>
          </p:cNvPr>
          <p:cNvSpPr txBox="1"/>
          <p:nvPr/>
        </p:nvSpPr>
        <p:spPr>
          <a:xfrm>
            <a:off x="1171068" y="2292719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250F4-052F-55BF-D121-A10674E83CF0}"/>
              </a:ext>
            </a:extLst>
          </p:cNvPr>
          <p:cNvSpPr txBox="1"/>
          <p:nvPr/>
        </p:nvSpPr>
        <p:spPr>
          <a:xfrm>
            <a:off x="1171068" y="4350117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data/preprocessed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BF0C9-8F49-054E-83BE-E19FF8372848}"/>
              </a:ext>
            </a:extLst>
          </p:cNvPr>
          <p:cNvSpPr txBox="1"/>
          <p:nvPr/>
        </p:nvSpPr>
        <p:spPr>
          <a:xfrm>
            <a:off x="1171067" y="3313833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-T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3A1E3-4AA9-7FDB-DDF0-7BA237038676}"/>
              </a:ext>
            </a:extLst>
          </p:cNvPr>
          <p:cNvSpPr txBox="1"/>
          <p:nvPr/>
        </p:nvSpPr>
        <p:spPr>
          <a:xfrm>
            <a:off x="9599164" y="2854799"/>
            <a:ext cx="2202847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Note: performs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clone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under the hood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3716980-5C90-C0FF-8B28-DF2DAF8BE645}"/>
              </a:ext>
            </a:extLst>
          </p:cNvPr>
          <p:cNvGrpSpPr/>
          <p:nvPr/>
        </p:nvGrpSpPr>
        <p:grpSpPr>
          <a:xfrm>
            <a:off x="6717700" y="867288"/>
            <a:ext cx="1993730" cy="778950"/>
            <a:chOff x="10483358" y="2630321"/>
            <a:chExt cx="1993730" cy="77895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627ACB-6408-9BEE-D0BD-EBE43B88CF14}"/>
                </a:ext>
              </a:extLst>
            </p:cNvPr>
            <p:cNvSpPr txBox="1"/>
            <p:nvPr/>
          </p:nvSpPr>
          <p:spPr>
            <a:xfrm>
              <a:off x="10483358" y="2947606"/>
              <a:ext cx="1673150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Reuse data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pic>
          <p:nvPicPr>
            <p:cNvPr id="11" name="Graphic 10" descr="Thumbs up sign with solid fill">
              <a:extLst>
                <a:ext uri="{FF2B5EF4-FFF2-40B4-BE49-F238E27FC236}">
                  <a16:creationId xmlns:a16="http://schemas.microsoft.com/office/drawing/2014/main" id="{E399D65C-E4A7-043D-F531-2BD808536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021905" y="2630321"/>
              <a:ext cx="455183" cy="455183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F93B9-405A-E5AB-31D7-52BAEDB18327}"/>
              </a:ext>
            </a:extLst>
          </p:cNvPr>
          <p:cNvSpPr txBox="1"/>
          <p:nvPr/>
        </p:nvSpPr>
        <p:spPr>
          <a:xfrm>
            <a:off x="1171066" y="5448205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636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B947-6034-82C1-6B86-BB839046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06BB-22C7-9F18-8EEB-76FD771C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648C4-BAD6-346A-273D-32A49A7CB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7308D-72B9-7B0C-2C67-2FAF7FAF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71657-8C8C-0322-3C46-9CBCFBC7E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41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C2F7-8212-3936-E1EF-AE48A6C8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9D2A3-E554-9F87-B0F5-BD9269FFC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Pipelines are built from stages</a:t>
            </a:r>
          </a:p>
          <a:p>
            <a:r>
              <a:rPr lang="en-US" dirty="0"/>
              <a:t>Stage has</a:t>
            </a:r>
          </a:p>
          <a:p>
            <a:pPr lvl="1"/>
            <a:r>
              <a:rPr lang="en-US" dirty="0"/>
              <a:t>Dependencies</a:t>
            </a:r>
          </a:p>
          <a:p>
            <a:pPr lvl="1"/>
            <a:r>
              <a:rPr lang="en-US" dirty="0"/>
              <a:t>Parameters (optional)</a:t>
            </a:r>
          </a:p>
          <a:p>
            <a:pPr lvl="1"/>
            <a:r>
              <a:rPr lang="en-US" dirty="0"/>
              <a:t>Metrics (optional)</a:t>
            </a:r>
          </a:p>
          <a:p>
            <a:pPr lvl="1"/>
            <a:r>
              <a:rPr lang="en-US" dirty="0"/>
              <a:t>Output(s)</a:t>
            </a:r>
          </a:p>
          <a:p>
            <a:pPr lvl="1"/>
            <a:r>
              <a:rPr lang="en-US" dirty="0"/>
              <a:t>Action (Python/R/Bash/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 script)</a:t>
            </a:r>
          </a:p>
          <a:p>
            <a:r>
              <a:rPr lang="en-US" dirty="0"/>
              <a:t>Pipeline is directed acyclic graph (DAG) of stages</a:t>
            </a:r>
          </a:p>
          <a:p>
            <a:r>
              <a:rPr lang="en-US" dirty="0"/>
              <a:t>Stages are cached, only run on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F0DD9-43F3-25A1-C77A-743F21AAF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0041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2EBDC-A35E-10B5-BCBE-4623DF9E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A1B04-20D1-7547-7CC3-FCCEBB20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3A4D5-23ED-2398-4666-792BE6EBDC03}"/>
              </a:ext>
            </a:extLst>
          </p:cNvPr>
          <p:cNvSpPr txBox="1"/>
          <p:nvPr/>
        </p:nvSpPr>
        <p:spPr>
          <a:xfrm>
            <a:off x="838200" y="1690688"/>
            <a:ext cx="8663321" cy="31393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src/split_data.py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split_data.test_size,split_data.random_state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/test.csv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src/split_data.py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F17237-2BFE-39A5-0EA9-9A6D0ED742BE}"/>
              </a:ext>
            </a:extLst>
          </p:cNvPr>
          <p:cNvGrpSpPr/>
          <p:nvPr/>
        </p:nvGrpSpPr>
        <p:grpSpPr>
          <a:xfrm>
            <a:off x="5018314" y="686418"/>
            <a:ext cx="3067925" cy="1004270"/>
            <a:chOff x="88563" y="5501785"/>
            <a:chExt cx="4227818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A42B1C-A094-247B-1C2B-3DB1259F6E76}"/>
                </a:ext>
              </a:extLst>
            </p:cNvPr>
            <p:cNvSpPr txBox="1"/>
            <p:nvPr/>
          </p:nvSpPr>
          <p:spPr>
            <a:xfrm>
              <a:off x="2083559" y="5501785"/>
              <a:ext cx="2232822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1E54B9B-FFB3-5EDD-F8D1-40F88412AC5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710619"/>
              <a:ext cx="199499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B74DB-DA17-BBD9-C3C5-FD8FB844B5CE}"/>
              </a:ext>
            </a:extLst>
          </p:cNvPr>
          <p:cNvGrpSpPr/>
          <p:nvPr/>
        </p:nvGrpSpPr>
        <p:grpSpPr>
          <a:xfrm>
            <a:off x="4757185" y="1240416"/>
            <a:ext cx="4620214" cy="956231"/>
            <a:chOff x="-1606406" y="5501785"/>
            <a:chExt cx="6366983" cy="108137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14BF517-2822-703F-7260-3734BCB44BE4}"/>
                </a:ext>
              </a:extLst>
            </p:cNvPr>
            <p:cNvSpPr txBox="1"/>
            <p:nvPr/>
          </p:nvSpPr>
          <p:spPr>
            <a:xfrm>
              <a:off x="2083560" y="5501785"/>
              <a:ext cx="267701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B478151-7125-6FE4-F7C3-CBFBC8179D2B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1606406" y="5710619"/>
              <a:ext cx="3689966" cy="8725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CBEF5B6-78D7-C133-77B0-78DAFC776D60}"/>
              </a:ext>
            </a:extLst>
          </p:cNvPr>
          <p:cNvGrpSpPr/>
          <p:nvPr/>
        </p:nvGrpSpPr>
        <p:grpSpPr>
          <a:xfrm>
            <a:off x="7581946" y="1240415"/>
            <a:ext cx="4560218" cy="1066717"/>
            <a:chOff x="-1184946" y="5501785"/>
            <a:chExt cx="6284304" cy="12063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5C77DD-305F-B02D-7BC1-C82B61E45F1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EA0BC63-52F6-D47A-3404-7FB2D69D8095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1184946" y="5710619"/>
              <a:ext cx="3268506" cy="99748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2689CB-7288-0B92-CA79-157E8AFD4272}"/>
              </a:ext>
            </a:extLst>
          </p:cNvPr>
          <p:cNvGrpSpPr/>
          <p:nvPr/>
        </p:nvGrpSpPr>
        <p:grpSpPr>
          <a:xfrm>
            <a:off x="8817429" y="2869995"/>
            <a:ext cx="2669769" cy="450272"/>
            <a:chOff x="517637" y="5410252"/>
            <a:chExt cx="3679131" cy="5092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B07295-5137-4BCA-A638-4F602283E896}"/>
                </a:ext>
              </a:extLst>
            </p:cNvPr>
            <p:cNvSpPr txBox="1"/>
            <p:nvPr/>
          </p:nvSpPr>
          <p:spPr>
            <a:xfrm>
              <a:off x="2083561" y="5501785"/>
              <a:ext cx="211320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4295FE-9EFC-4C53-61BE-D905522DFDFB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517637" y="5410252"/>
              <a:ext cx="1565924" cy="3003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5704378-8579-4D8B-5B2B-28DE70E1AC52}"/>
              </a:ext>
            </a:extLst>
          </p:cNvPr>
          <p:cNvGrpSpPr/>
          <p:nvPr/>
        </p:nvGrpSpPr>
        <p:grpSpPr>
          <a:xfrm>
            <a:off x="6215743" y="3011680"/>
            <a:ext cx="5271454" cy="971126"/>
            <a:chOff x="6215743" y="3011680"/>
            <a:chExt cx="5271454" cy="97112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EB9D131-623A-EC0B-39E3-33045DF3D978}"/>
                </a:ext>
              </a:extLst>
            </p:cNvPr>
            <p:cNvGrpSpPr/>
            <p:nvPr/>
          </p:nvGrpSpPr>
          <p:grpSpPr>
            <a:xfrm>
              <a:off x="6313714" y="3011680"/>
              <a:ext cx="5173483" cy="971126"/>
              <a:chOff x="-2932660" y="4821233"/>
              <a:chExt cx="7129427" cy="1098219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112A53-7699-E520-A782-6ACB46DE0897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2113206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Output files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C9937ED1-D9DB-F4B8-FD87-4BD645EDA813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H="1" flipV="1">
                <a:off x="-2932660" y="4821233"/>
                <a:ext cx="5016221" cy="88938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2A78436-E328-BAA3-9023-0DEE8074CA02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6215743" y="3375954"/>
              <a:ext cx="3738002" cy="42218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C03CAD5-6A85-61CC-A5BB-6DA68C434C0D}"/>
              </a:ext>
            </a:extLst>
          </p:cNvPr>
          <p:cNvGrpSpPr/>
          <p:nvPr/>
        </p:nvGrpSpPr>
        <p:grpSpPr>
          <a:xfrm>
            <a:off x="5169860" y="3889886"/>
            <a:ext cx="6317338" cy="1098241"/>
            <a:chOff x="-4564490" y="4990732"/>
            <a:chExt cx="8705739" cy="12419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FE0DA4A-7123-B642-7276-50ABA2689581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A223BF1-455F-1F0B-94DA-23CC49456387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4564490" y="4990732"/>
              <a:ext cx="6648051" cy="87651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CA221750-E833-338E-20BA-A51AF64FB828}"/>
              </a:ext>
            </a:extLst>
          </p:cNvPr>
          <p:cNvSpPr txBox="1"/>
          <p:nvPr/>
        </p:nvSpPr>
        <p:spPr>
          <a:xfrm>
            <a:off x="6365318" y="5362347"/>
            <a:ext cx="498848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add</a:t>
            </a:r>
            <a:r>
              <a:rPr lang="en-US" sz="2400" dirty="0"/>
              <a:t> creates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4371075-153C-5985-3C66-09E3C817AE97}"/>
              </a:ext>
            </a:extLst>
          </p:cNvPr>
          <p:cNvGrpSpPr/>
          <p:nvPr/>
        </p:nvGrpSpPr>
        <p:grpSpPr>
          <a:xfrm>
            <a:off x="2227559" y="4830010"/>
            <a:ext cx="3988184" cy="821244"/>
            <a:chOff x="2227559" y="4830010"/>
            <a:chExt cx="3988184" cy="82124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B701C950-BAD0-3E77-8BEB-1357E9D0756D}"/>
                </a:ext>
              </a:extLst>
            </p:cNvPr>
            <p:cNvGrpSpPr/>
            <p:nvPr/>
          </p:nvGrpSpPr>
          <p:grpSpPr>
            <a:xfrm>
              <a:off x="2227559" y="4830010"/>
              <a:ext cx="2428998" cy="821244"/>
              <a:chOff x="2083561" y="4990730"/>
              <a:chExt cx="3347331" cy="928722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3EFDE2-7FA0-C947-C743-4B6654EAA8D9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AC535D0-2E55-8E9E-51E7-CA32EA6AE64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374115" y="4990730"/>
                <a:ext cx="1383112" cy="51105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7FFC768-1881-DDC8-FBDC-1922DB4AD43C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001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3B5BC-A448-6578-013C-83846A43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9BE63-6E45-9972-B34C-2F41FF5C3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</a:t>
            </a:r>
            <a:r>
              <a:rPr lang="en-US" dirty="0" err="1"/>
              <a:t>params.yaml</a:t>
            </a:r>
            <a:endParaRPr lang="en-US" dirty="0"/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YAML/JSON</a:t>
            </a:r>
          </a:p>
          <a:p>
            <a:pPr lvl="1"/>
            <a:r>
              <a:rPr lang="en-US" dirty="0"/>
              <a:t>Stage-specific</a:t>
            </a:r>
          </a:p>
          <a:p>
            <a:r>
              <a:rPr lang="en-US" dirty="0"/>
              <a:t>Use in scripts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26B29B-47A0-F53F-75F9-0A7262B60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FFCF42-65C2-2D11-AECF-F542161DAF2C}"/>
              </a:ext>
            </a:extLst>
          </p:cNvPr>
          <p:cNvGrpSpPr/>
          <p:nvPr/>
        </p:nvGrpSpPr>
        <p:grpSpPr>
          <a:xfrm>
            <a:off x="6346373" y="1009735"/>
            <a:ext cx="5344886" cy="2308325"/>
            <a:chOff x="1055914" y="2169658"/>
            <a:chExt cx="8795657" cy="230832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FF8A-C5D1-C830-6D88-CD0F84B1B78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23083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test_size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0.3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1234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train_model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penalty: "l1"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C: 0.5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solver: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liblinear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143444-7118-513D-5536-370EB830B25C}"/>
                </a:ext>
              </a:extLst>
            </p:cNvPr>
            <p:cNvSpPr txBox="1"/>
            <p:nvPr/>
          </p:nvSpPr>
          <p:spPr>
            <a:xfrm>
              <a:off x="7289900" y="2169658"/>
              <a:ext cx="256167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54A1E29-76CE-6E21-C642-07925922F21C}"/>
              </a:ext>
            </a:extLst>
          </p:cNvPr>
          <p:cNvGrpSpPr/>
          <p:nvPr/>
        </p:nvGrpSpPr>
        <p:grpSpPr>
          <a:xfrm>
            <a:off x="8561314" y="1992900"/>
            <a:ext cx="3463326" cy="2331871"/>
            <a:chOff x="10116905" y="1628769"/>
            <a:chExt cx="3463326" cy="233187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ECA93D4-8DF8-259D-066A-E3E31C4C7001}"/>
                </a:ext>
              </a:extLst>
            </p:cNvPr>
            <p:cNvGrpSpPr/>
            <p:nvPr/>
          </p:nvGrpSpPr>
          <p:grpSpPr>
            <a:xfrm>
              <a:off x="10483358" y="1628769"/>
              <a:ext cx="3096873" cy="2149834"/>
              <a:chOff x="4394018" y="4185076"/>
              <a:chExt cx="3096873" cy="2149834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8FEAB2-37BD-8677-1513-08B56701F31A}"/>
                  </a:ext>
                </a:extLst>
              </p:cNvPr>
              <p:cNvSpPr txBox="1"/>
              <p:nvPr/>
            </p:nvSpPr>
            <p:spPr>
              <a:xfrm>
                <a:off x="4394018" y="5503913"/>
                <a:ext cx="3096873" cy="83099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Specify random state</a:t>
                </a:r>
                <a:b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</a:b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         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reproducibility</a:t>
                </a:r>
                <a:endParaRPr kumimoji="0" lang="nl-BE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7CFE9841-C3A2-C615-6C8C-5BD208493057}"/>
                  </a:ext>
                </a:extLst>
              </p:cNvPr>
              <p:cNvCxnSpPr>
                <a:cxnSpLocks/>
                <a:stCxn id="11" idx="0"/>
              </p:cNvCxnSpPr>
              <p:nvPr/>
            </p:nvCxnSpPr>
            <p:spPr>
              <a:xfrm flipH="1" flipV="1">
                <a:off x="4860622" y="4185076"/>
                <a:ext cx="1081833" cy="131883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A3009238-509F-180A-C5E4-18ED1CDC8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116905" y="3236440"/>
              <a:ext cx="724200" cy="7242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5B079-D1A6-1E8A-8A03-1BECB95CD036}"/>
              </a:ext>
            </a:extLst>
          </p:cNvPr>
          <p:cNvGrpSpPr/>
          <p:nvPr/>
        </p:nvGrpSpPr>
        <p:grpSpPr>
          <a:xfrm>
            <a:off x="1001488" y="4328142"/>
            <a:ext cx="10689771" cy="1754328"/>
            <a:chOff x="1705237" y="2169657"/>
            <a:chExt cx="9338795" cy="17543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541ADEB-58B8-1160-4CB0-24C65839282D}"/>
                </a:ext>
              </a:extLst>
            </p:cNvPr>
            <p:cNvSpPr txBox="1"/>
            <p:nvPr/>
          </p:nvSpPr>
          <p:spPr>
            <a:xfrm>
              <a:off x="1705237" y="2169659"/>
              <a:ext cx="933879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 open(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args.params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 as file: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params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yaml.safe_load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(file)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train, test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split_train_test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params['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'],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)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C90C7B-EAE0-D88C-7BD3-8FE7D8E43602}"/>
                </a:ext>
              </a:extLst>
            </p:cNvPr>
            <p:cNvSpPr txBox="1"/>
            <p:nvPr/>
          </p:nvSpPr>
          <p:spPr>
            <a:xfrm>
              <a:off x="9367585" y="2169657"/>
              <a:ext cx="1667360" cy="3508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split_data.py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2550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6D28-C71E-D4BB-0CE2-C7A1100E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16C5-E91D-B148-29E5-DEBDB41A4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next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970A8-F490-B93F-C6EC-3C6A0273C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F9531C-E21F-D2C6-220D-53DC82F871F6}"/>
              </a:ext>
            </a:extLst>
          </p:cNvPr>
          <p:cNvSpPr txBox="1"/>
          <p:nvPr/>
        </p:nvSpPr>
        <p:spPr>
          <a:xfrm>
            <a:off x="838200" y="1690688"/>
            <a:ext cx="8663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src/train_preprocessor.py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src/train_preprocessor.py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2CD752-B7F6-6633-6B0F-B21A1EDB637C}"/>
              </a:ext>
            </a:extLst>
          </p:cNvPr>
          <p:cNvGrpSpPr/>
          <p:nvPr/>
        </p:nvGrpSpPr>
        <p:grpSpPr>
          <a:xfrm>
            <a:off x="5556966" y="495761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68C12-495C-2E46-287C-BA342296D55D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B6E9C6A-71F7-2C0A-B232-CEC11D355812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D507A6-2CD3-EA6E-A7A3-4DE7C355285C}"/>
              </a:ext>
            </a:extLst>
          </p:cNvPr>
          <p:cNvGrpSpPr/>
          <p:nvPr/>
        </p:nvGrpSpPr>
        <p:grpSpPr>
          <a:xfrm>
            <a:off x="6215743" y="495762"/>
            <a:ext cx="5731622" cy="1665246"/>
            <a:chOff x="-2114418" y="5231850"/>
            <a:chExt cx="7898581" cy="188318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142154F-6244-D388-072C-551086D5C7D7}"/>
                </a:ext>
              </a:extLst>
            </p:cNvPr>
            <p:cNvSpPr txBox="1"/>
            <p:nvPr/>
          </p:nvSpPr>
          <p:spPr>
            <a:xfrm>
              <a:off x="2083559" y="5231850"/>
              <a:ext cx="3700604" cy="10441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= output of 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split_data</a:t>
              </a:r>
              <a:endPara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   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57895C-ACCE-A7FC-3DEB-F6D1461AB88D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2114418" y="5753934"/>
              <a:ext cx="4197977" cy="13610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02EC9A-A69D-AFBA-D27C-46D61B4DB004}"/>
              </a:ext>
            </a:extLst>
          </p:cNvPr>
          <p:cNvGrpSpPr/>
          <p:nvPr/>
        </p:nvGrpSpPr>
        <p:grpSpPr>
          <a:xfrm>
            <a:off x="5567132" y="2641059"/>
            <a:ext cx="5173483" cy="971126"/>
            <a:chOff x="-2932660" y="4821233"/>
            <a:chExt cx="7129427" cy="109821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1325A2-E418-B088-F04C-37227B033EE2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Output files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329D55-7BE5-B759-88F3-9A757500A0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32660" y="4821233"/>
              <a:ext cx="5016221" cy="88938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124FBD2-17EF-CFF7-D7A3-51E276629AE8}"/>
              </a:ext>
            </a:extLst>
          </p:cNvPr>
          <p:cNvGrpSpPr/>
          <p:nvPr/>
        </p:nvGrpSpPr>
        <p:grpSpPr>
          <a:xfrm>
            <a:off x="6890657" y="3382975"/>
            <a:ext cx="3849958" cy="1293382"/>
            <a:chOff x="-1164266" y="4770052"/>
            <a:chExt cx="5305515" cy="146265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3ED7F5-1FDE-0CED-0B2D-28FEB0E155EB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79923C3-1D0B-E7B8-CCD4-B5691F3419D4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1164266" y="4770052"/>
              <a:ext cx="3247826" cy="109719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9DD0C6A-B0AB-BD6C-A421-9FFF9295A777}"/>
              </a:ext>
            </a:extLst>
          </p:cNvPr>
          <p:cNvSpPr txBox="1"/>
          <p:nvPr/>
        </p:nvSpPr>
        <p:spPr>
          <a:xfrm>
            <a:off x="6365318" y="4905147"/>
            <a:ext cx="50840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add</a:t>
            </a:r>
            <a:r>
              <a:rPr lang="en-US" sz="2400" dirty="0"/>
              <a:t> updates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A9E21AB-72E5-EE1C-DB0C-1246FFBC9278}"/>
              </a:ext>
            </a:extLst>
          </p:cNvPr>
          <p:cNvGrpSpPr/>
          <p:nvPr/>
        </p:nvGrpSpPr>
        <p:grpSpPr>
          <a:xfrm>
            <a:off x="2227559" y="4030026"/>
            <a:ext cx="3988184" cy="1164027"/>
            <a:chOff x="2227559" y="4487226"/>
            <a:chExt cx="3988184" cy="1164027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309441D-73A1-0A6D-86EE-9DF69F9E8E4E}"/>
                </a:ext>
              </a:extLst>
            </p:cNvPr>
            <p:cNvGrpSpPr/>
            <p:nvPr/>
          </p:nvGrpSpPr>
          <p:grpSpPr>
            <a:xfrm>
              <a:off x="2227559" y="4487226"/>
              <a:ext cx="2428998" cy="1164027"/>
              <a:chOff x="2083561" y="4603086"/>
              <a:chExt cx="3347331" cy="1316366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978E8A-7F94-B575-B818-22621E720D7B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FC4D520-0584-1C8C-54E0-8EDD93CF176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083561" y="4603086"/>
                <a:ext cx="1673666" cy="89869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40E06C2-6B76-0DA5-F17F-C01CEBD46CBF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58278FD-0E33-094B-1BF0-48EF880682E0}"/>
              </a:ext>
            </a:extLst>
          </p:cNvPr>
          <p:cNvGrpSpPr/>
          <p:nvPr/>
        </p:nvGrpSpPr>
        <p:grpSpPr>
          <a:xfrm>
            <a:off x="8859559" y="1838993"/>
            <a:ext cx="3087806" cy="465381"/>
            <a:chOff x="844142" y="5501785"/>
            <a:chExt cx="4255216" cy="52628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58E7A19-F563-11E4-B11F-C4F9E1B763A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17A0DC9-58B9-EEE8-8C2A-A7414FB932DD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844142" y="5710619"/>
              <a:ext cx="1239418" cy="317453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819CE55-1635-9A90-A65F-938B06C1F884}"/>
              </a:ext>
            </a:extLst>
          </p:cNvPr>
          <p:cNvSpPr txBox="1"/>
          <p:nvPr/>
        </p:nvSpPr>
        <p:spPr>
          <a:xfrm>
            <a:off x="1578429" y="5646154"/>
            <a:ext cx="860062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To modify existing stage, use: 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add --force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en-US" sz="2800" dirty="0">
                <a:cs typeface="Courier New" panose="02070309020205020404" pitchFamily="49" charset="0"/>
                <a:sym typeface="Symbol" panose="05050102010706020507" pitchFamily="18" charset="2"/>
              </a:rPr>
              <a:t>To remove stage, use: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remove 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55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725C-83F4-E819-0656-F3B511851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D09EE-E3A8-8E77-4B73-8872CE50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0FF64-F953-8AB3-23CB-C47B9C7C6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9DDE7-F4C6-6356-A381-CF105368292F}"/>
              </a:ext>
            </a:extLst>
          </p:cNvPr>
          <p:cNvSpPr txBox="1"/>
          <p:nvPr/>
        </p:nvSpPr>
        <p:spPr>
          <a:xfrm>
            <a:off x="772885" y="2615974"/>
            <a:ext cx="8663321" cy="286232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src/compute_metrics.py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--metrics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src/compute_metrics.py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--model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3BFFF61-FDAB-9B17-3683-356F89F5F4FC}"/>
              </a:ext>
            </a:extLst>
          </p:cNvPr>
          <p:cNvGrpSpPr/>
          <p:nvPr/>
        </p:nvGrpSpPr>
        <p:grpSpPr>
          <a:xfrm>
            <a:off x="5491651" y="1279533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ACE3F9-E8F9-BBE2-21FD-90FF60295696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BF12E67-A89E-7DCD-4A32-57D3260FF0CC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241EB3-E2C0-695F-D9DB-099C857929C9}"/>
              </a:ext>
            </a:extLst>
          </p:cNvPr>
          <p:cNvGrpSpPr/>
          <p:nvPr/>
        </p:nvGrpSpPr>
        <p:grpSpPr>
          <a:xfrm>
            <a:off x="5491651" y="3907970"/>
            <a:ext cx="5183649" cy="629499"/>
            <a:chOff x="-2946669" y="5207569"/>
            <a:chExt cx="7143436" cy="71188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1B2204-42F8-8CF7-B191-EEC03B002B69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Metric</a:t>
              </a:r>
              <a:r>
                <a: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 file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9B7171A-BCCF-D301-793C-0E9F62321E59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46669" y="5207569"/>
              <a:ext cx="5030231" cy="50304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380E7CF-C5C8-14EB-43BF-1C2E3B286E73}"/>
              </a:ext>
            </a:extLst>
          </p:cNvPr>
          <p:cNvGrpSpPr/>
          <p:nvPr/>
        </p:nvGrpSpPr>
        <p:grpSpPr>
          <a:xfrm>
            <a:off x="7173685" y="4757055"/>
            <a:ext cx="3501615" cy="844586"/>
            <a:chOff x="-684225" y="5277583"/>
            <a:chExt cx="4825474" cy="95512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7A90720-F899-A72F-3257-C42538910177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1617AA3-3CE0-2E74-014F-28DF0523429D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684225" y="5277583"/>
              <a:ext cx="2767785" cy="58966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15E8C7-E1F5-7687-C52E-6AB09E41E60E}"/>
              </a:ext>
            </a:extLst>
          </p:cNvPr>
          <p:cNvGrpSpPr/>
          <p:nvPr/>
        </p:nvGrpSpPr>
        <p:grpSpPr>
          <a:xfrm>
            <a:off x="8436280" y="2752228"/>
            <a:ext cx="3336765" cy="802066"/>
            <a:chOff x="501059" y="5501785"/>
            <a:chExt cx="4598299" cy="90703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620CA3-5F9B-8CE6-8048-D14C7DD31EBB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B1C741-0820-9219-E7D9-BD1CBC80A9FC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501059" y="5710619"/>
              <a:ext cx="1582501" cy="6982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2C59D6-DB4A-2471-9FBB-21E3F8756851}"/>
              </a:ext>
            </a:extLst>
          </p:cNvPr>
          <p:cNvGrpSpPr/>
          <p:nvPr/>
        </p:nvGrpSpPr>
        <p:grpSpPr>
          <a:xfrm>
            <a:off x="5769429" y="1279535"/>
            <a:ext cx="6003616" cy="2149465"/>
            <a:chOff x="5834744" y="495763"/>
            <a:chExt cx="6003616" cy="21494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6D9DF66-D343-EDE2-28C5-629618E6F0FC}"/>
                </a:ext>
              </a:extLst>
            </p:cNvPr>
            <p:cNvGrpSpPr/>
            <p:nvPr/>
          </p:nvGrpSpPr>
          <p:grpSpPr>
            <a:xfrm>
              <a:off x="6585857" y="495763"/>
              <a:ext cx="5252503" cy="1712563"/>
              <a:chOff x="-1604375" y="5231850"/>
              <a:chExt cx="7238321" cy="1936689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8211C8-7136-9471-5FEE-671FCBF87FE9}"/>
                  </a:ext>
                </a:extLst>
              </p:cNvPr>
              <p:cNvSpPr txBox="1"/>
              <p:nvPr/>
            </p:nvSpPr>
            <p:spPr>
              <a:xfrm>
                <a:off x="2083559" y="5231850"/>
                <a:ext cx="3550387" cy="135741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 dependency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= output of</a:t>
                </a:r>
                <a:br>
                  <a:rPr lang="en-US" dirty="0">
                    <a:solidFill>
                      <a:prstClr val="black"/>
                    </a:solidFill>
                  </a:rPr>
                </a:br>
                <a:r>
                  <a:rPr lang="en-US" dirty="0">
                    <a:solidFill>
                      <a:prstClr val="black"/>
                    </a:solidFill>
                  </a:rPr>
                  <a:t>    </a:t>
                </a:r>
                <a:r>
                  <a:rPr lang="en-US" dirty="0" err="1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preprocess_train</a:t>
                </a:r>
                <a:endPara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    and </a:t>
                </a:r>
                <a:r>
                  <a:rPr lang="en-US" dirty="0" err="1">
                    <a:solidFill>
                      <a:prstClr val="black"/>
                    </a:solidFill>
                  </a:rPr>
                  <a:t>train_model</a:t>
                </a:r>
                <a:r>
                  <a:rPr lang="en-US" dirty="0">
                    <a:solidFill>
                      <a:prstClr val="black"/>
                    </a:solidFill>
                  </a:rPr>
                  <a:t> stage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D67D1C5-A541-50C9-420F-19B550FACAFF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 flipH="1">
                <a:off x="-1604375" y="5910560"/>
                <a:ext cx="3687934" cy="125797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758DB5C-CD08-63C0-2647-C077D1010F01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834744" y="1095928"/>
              <a:ext cx="3427270" cy="15493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012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1D3D1-18EC-5528-885C-9CC8EE9C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603E1D-59EB-6E2C-61E3-8BD9B9356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stages</a:t>
            </a:r>
          </a:p>
          <a:p>
            <a:endParaRPr lang="en-US" dirty="0"/>
          </a:p>
          <a:p>
            <a:r>
              <a:rPr lang="en-US" dirty="0"/>
              <a:t>ASCII-art visualization of stages</a:t>
            </a:r>
          </a:p>
          <a:p>
            <a:endParaRPr lang="en-US" dirty="0"/>
          </a:p>
          <a:p>
            <a:r>
              <a:rPr lang="en-US" dirty="0"/>
              <a:t>ASCII visualization of data files</a:t>
            </a:r>
          </a:p>
          <a:p>
            <a:endParaRPr lang="en-US" dirty="0"/>
          </a:p>
          <a:p>
            <a:r>
              <a:rPr lang="en-US" dirty="0"/>
              <a:t>Rendering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77116-4814-714C-B8BD-D412E5D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734CC-7375-071B-DDD6-BC510393A12C}"/>
              </a:ext>
            </a:extLst>
          </p:cNvPr>
          <p:cNvSpPr txBox="1"/>
          <p:nvPr/>
        </p:nvSpPr>
        <p:spPr>
          <a:xfrm>
            <a:off x="1503936" y="3337749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8998E-6520-CA57-F18C-E9963D8F5945}"/>
              </a:ext>
            </a:extLst>
          </p:cNvPr>
          <p:cNvSpPr txBox="1"/>
          <p:nvPr/>
        </p:nvSpPr>
        <p:spPr>
          <a:xfrm>
            <a:off x="1503936" y="443048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--outs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E6B47-C172-A9B2-5981-99E4B3316935}"/>
              </a:ext>
            </a:extLst>
          </p:cNvPr>
          <p:cNvSpPr txBox="1"/>
          <p:nvPr/>
        </p:nvSpPr>
        <p:spPr>
          <a:xfrm>
            <a:off x="1503936" y="5342803"/>
            <a:ext cx="4733577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--dot | \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dot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Tpng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-o pipeline.png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9" name="Picture 8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E3434A22-61C2-8CEB-E3BE-4C50128C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479424"/>
            <a:ext cx="3820887" cy="2971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diagram of a data flow&#10;&#10;AI-generated content may be incorrect.">
            <a:extLst>
              <a:ext uri="{FF2B5EF4-FFF2-40B4-BE49-F238E27FC236}">
                <a16:creationId xmlns:a16="http://schemas.microsoft.com/office/drawing/2014/main" id="{6AB398F8-1002-321A-71A5-18350DE92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3686176"/>
            <a:ext cx="3820887" cy="24753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B95A7E-4C28-1EF3-C3B3-C964D89C60C8}"/>
              </a:ext>
            </a:extLst>
          </p:cNvPr>
          <p:cNvSpPr txBox="1"/>
          <p:nvPr/>
        </p:nvSpPr>
        <p:spPr>
          <a:xfrm>
            <a:off x="1503936" y="231032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list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1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8417E-9735-91D4-C82D-938AFDD03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31F5F7-7901-0D11-15F1-A3C4797EE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Only print commands, don't execute</a:t>
            </a:r>
          </a:p>
          <a:p>
            <a:endParaRPr lang="en-US" dirty="0"/>
          </a:p>
          <a:p>
            <a:r>
              <a:rPr lang="en-US" dirty="0"/>
              <a:t>Run only required stages</a:t>
            </a:r>
          </a:p>
          <a:p>
            <a:endParaRPr lang="en-US" dirty="0"/>
          </a:p>
          <a:p>
            <a:r>
              <a:rPr lang="en-US" dirty="0"/>
              <a:t>Run all stages</a:t>
            </a:r>
          </a:p>
          <a:p>
            <a:endParaRPr lang="en-US" dirty="0"/>
          </a:p>
          <a:p>
            <a:r>
              <a:rPr lang="en-US" dirty="0"/>
              <a:t>Produces/updates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dvc.lock</a:t>
            </a:r>
            <a:r>
              <a:rPr lang="en-US" dirty="0"/>
              <a:t> file: version control</a:t>
            </a:r>
            <a:endParaRPr lang="LID4096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25322EE-0847-9449-49B9-7232D76E53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Check pipeline status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479D15-A82F-8B1B-1ED9-99E31344A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EFB3C-6F07-AF4A-A03B-5ECEF2E3A1C0}"/>
              </a:ext>
            </a:extLst>
          </p:cNvPr>
          <p:cNvSpPr txBox="1"/>
          <p:nvPr/>
        </p:nvSpPr>
        <p:spPr>
          <a:xfrm>
            <a:off x="1286223" y="270004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--dry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2420A-5986-C766-E676-CCF82043185F}"/>
              </a:ext>
            </a:extLst>
          </p:cNvPr>
          <p:cNvSpPr txBox="1"/>
          <p:nvPr/>
        </p:nvSpPr>
        <p:spPr>
          <a:xfrm>
            <a:off x="1286220" y="3729242"/>
            <a:ext cx="473357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F5951-9235-414F-F0EE-278571DD08C9}"/>
              </a:ext>
            </a:extLst>
          </p:cNvPr>
          <p:cNvSpPr txBox="1"/>
          <p:nvPr/>
        </p:nvSpPr>
        <p:spPr>
          <a:xfrm>
            <a:off x="1286221" y="4758437"/>
            <a:ext cx="473357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--force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C10FD-B553-7CAF-6C76-5C77B68D4934}"/>
              </a:ext>
            </a:extLst>
          </p:cNvPr>
          <p:cNvSpPr txBox="1"/>
          <p:nvPr/>
        </p:nvSpPr>
        <p:spPr>
          <a:xfrm>
            <a:off x="1286218" y="6118203"/>
            <a:ext cx="47335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'Run pipeline'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F291D-2497-502F-6583-CCBD12C12E39}"/>
              </a:ext>
            </a:extLst>
          </p:cNvPr>
          <p:cNvSpPr txBox="1"/>
          <p:nvPr/>
        </p:nvSpPr>
        <p:spPr>
          <a:xfrm>
            <a:off x="6620224" y="2700047"/>
            <a:ext cx="500572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deps: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9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D674E-150D-C842-14DF-41D214C7F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76F3-9C92-0F5D-D6DF-3C28D2B63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&amp; comparing metrics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8DD7E-5B50-1C9A-83E5-B525BA140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254"/>
            <a:ext cx="10515600" cy="4351338"/>
          </a:xfrm>
        </p:spPr>
        <p:txBody>
          <a:bodyPr/>
          <a:lstStyle/>
          <a:p>
            <a:r>
              <a:rPr lang="en-US" dirty="0"/>
              <a:t>View metrics of most recent run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metrics with last commit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23782-4A81-E931-9AAC-625A24AE9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FF75F-61C6-E2ED-C436-EDC1C127DE57}"/>
              </a:ext>
            </a:extLst>
          </p:cNvPr>
          <p:cNvSpPr txBox="1"/>
          <p:nvPr/>
        </p:nvSpPr>
        <p:spPr>
          <a:xfrm>
            <a:off x="1155593" y="2031457"/>
            <a:ext cx="9044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show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accuracy    f1_score    precision    recall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0.84286     0.8932      0.82143      0.97872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0.86667     0.9         0.81818      1.0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A391C-E634-038A-C0B8-D71275490C0E}"/>
              </a:ext>
            </a:extLst>
          </p:cNvPr>
          <p:cNvSpPr txBox="1"/>
          <p:nvPr/>
        </p:nvSpPr>
        <p:spPr>
          <a:xfrm>
            <a:off x="1155592" y="4121516"/>
            <a:ext cx="9044321" cy="2585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HEAD     workspace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0.8      0.86667      0.06667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0.85714  0.9          0.04286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0.75     0.81818      0.06818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0.82857  0.84286      0.01429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0.88679  0.8932       0.00641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0.79661  0.82143      0.02482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recall     1.0      0.97872      -0.02128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24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FAD8F-0B88-E3A1-1888-54E88E68B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arbitrary runs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CE593-BBDD-F517-3EA1-CBF95D1F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metrics of commits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0E6F-26CF-B567-822D-6418D8D3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11074-C4C6-F4D6-4B98-4BDF9FD41D33}"/>
              </a:ext>
            </a:extLst>
          </p:cNvPr>
          <p:cNvSpPr txBox="1"/>
          <p:nvPr/>
        </p:nvSpPr>
        <p:spPr>
          <a:xfrm>
            <a:off x="1199134" y="2412461"/>
            <a:ext cx="9044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070869d    785ea1b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0.63333    0.8        0.16667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0.76596    0.85714    0.09119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0.62069    0.75       0.12931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0.77143    0.82857    0.05714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0.85455    0.88679    0.03225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0.74603    0.79661    0.05058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AAD2C-30F7-0289-D473-7C29B187BB8B}"/>
              </a:ext>
            </a:extLst>
          </p:cNvPr>
          <p:cNvSpPr txBox="1"/>
          <p:nvPr/>
        </p:nvSpPr>
        <p:spPr>
          <a:xfrm>
            <a:off x="3842657" y="5426843"/>
            <a:ext cx="40156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metrics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460955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B903-AB20-216A-EF44-8FD2A656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8BF26-F174-30A6-41B7-BC088FF37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parameters with last commit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parameters of commits</a:t>
            </a:r>
            <a:endParaRPr lang="LID4096" dirty="0"/>
          </a:p>
          <a:p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923D2-DFE6-62E9-B8A9-A621E9C8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41E1E-2121-75F2-D097-EBBD4089663D}"/>
              </a:ext>
            </a:extLst>
          </p:cNvPr>
          <p:cNvSpPr txBox="1"/>
          <p:nvPr/>
        </p:nvSpPr>
        <p:spPr>
          <a:xfrm>
            <a:off x="1155593" y="2292715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HEAD    workspace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1.0     1.5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BBAA4-179B-0D92-5FE7-5E09E7936AD2}"/>
              </a:ext>
            </a:extLst>
          </p:cNvPr>
          <p:cNvSpPr txBox="1"/>
          <p:nvPr/>
        </p:nvSpPr>
        <p:spPr>
          <a:xfrm>
            <a:off x="1155592" y="3859779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070869d    785ea1b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0.5        1.0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9D9FDA-DD80-6A7B-82FB-352144F9378C}"/>
              </a:ext>
            </a:extLst>
          </p:cNvPr>
          <p:cNvSpPr txBox="1"/>
          <p:nvPr/>
        </p:nvSpPr>
        <p:spPr>
          <a:xfrm>
            <a:off x="3842657" y="5426843"/>
            <a:ext cx="45309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parameters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274680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44F1-4B74-2885-B07B-CCAFEFA93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6B181-EA28-ABED-DC60-BA5FB6689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Nothing R specific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Reading YAML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FE272-6DB1-CDF8-5F57-BA7CF8637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15923F-26B2-5EBA-A2A7-17CADE222723}"/>
              </a:ext>
            </a:extLst>
          </p:cNvPr>
          <p:cNvGrpSpPr/>
          <p:nvPr/>
        </p:nvGrpSpPr>
        <p:grpSpPr>
          <a:xfrm>
            <a:off x="4463144" y="1459360"/>
            <a:ext cx="7175800" cy="2898163"/>
            <a:chOff x="4702629" y="1056588"/>
            <a:chExt cx="7175800" cy="289816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5AD6433-67DE-D458-122B-F8013C6BB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02629" y="1056588"/>
              <a:ext cx="7175800" cy="289816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F898E73-0AA3-D92D-E42D-2BC69526C632}"/>
                </a:ext>
              </a:extLst>
            </p:cNvPr>
            <p:cNvSpPr txBox="1"/>
            <p:nvPr/>
          </p:nvSpPr>
          <p:spPr>
            <a:xfrm>
              <a:off x="5083629" y="2505670"/>
              <a:ext cx="1654628" cy="9233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This is not a</a:t>
              </a:r>
              <a:br>
                <a:rPr lang="en-US" dirty="0"/>
              </a:br>
              <a:r>
                <a:rPr lang="en-US" dirty="0"/>
                <a:t>problem you</a:t>
              </a:r>
              <a:br>
                <a:rPr lang="en-US" dirty="0"/>
              </a:br>
              <a:r>
                <a:rPr lang="en-US" dirty="0"/>
                <a:t>need to solve</a:t>
              </a:r>
              <a:endParaRPr lang="LID4096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F87B21-0884-D9E0-3FA8-4BAFD814E5F2}"/>
              </a:ext>
            </a:extLst>
          </p:cNvPr>
          <p:cNvSpPr txBox="1"/>
          <p:nvPr/>
        </p:nvSpPr>
        <p:spPr>
          <a:xfrm>
            <a:off x="1077687" y="5201247"/>
            <a:ext cx="5987142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library(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 &lt;-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yaml.load_file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config$split_data$random_state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905932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35B8F-E4D3-4C58-4E8D-8B674D2C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1953-3CCA-D33C-9BB7-4B876A4B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03960-7FDA-B802-19E0-0B057946F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7877E-D186-0306-41AF-A2156616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6CB8F-FBE3-11E8-68F0-13EAA425C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590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73C2-5DD1-EF40-1470-2EABB35B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1C-4352-A23A-F8DE-F0F251CD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2FB89-D287-64A0-DCBF-F9AE85883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DVCLive</a:t>
            </a:r>
            <a:r>
              <a:rPr lang="en-US" dirty="0"/>
              <a:t> Python module</a:t>
            </a:r>
          </a:p>
          <a:p>
            <a:r>
              <a:rPr lang="en-US" dirty="0"/>
              <a:t>Log experiments</a:t>
            </a:r>
          </a:p>
          <a:p>
            <a:pPr lvl="1"/>
            <a:r>
              <a:rPr lang="en-US" dirty="0"/>
              <a:t>Parameter values</a:t>
            </a:r>
          </a:p>
          <a:p>
            <a:pPr lvl="1"/>
            <a:r>
              <a:rPr lang="en-US" dirty="0"/>
              <a:t>Time step</a:t>
            </a:r>
          </a:p>
          <a:p>
            <a:pPr lvl="1"/>
            <a:r>
              <a:rPr lang="en-US" dirty="0"/>
              <a:t>Metric values</a:t>
            </a:r>
          </a:p>
          <a:p>
            <a:pPr lvl="1"/>
            <a:r>
              <a:rPr lang="en-US" dirty="0"/>
              <a:t>Images/plots/artifacts</a:t>
            </a:r>
          </a:p>
          <a:p>
            <a:r>
              <a:rPr lang="en-US" dirty="0"/>
              <a:t>Report generation</a:t>
            </a:r>
          </a:p>
          <a:p>
            <a:r>
              <a:rPr lang="en-US" dirty="0"/>
              <a:t>Compare experiments</a:t>
            </a:r>
          </a:p>
          <a:p>
            <a:r>
              <a:rPr lang="en-US" dirty="0"/>
              <a:t>Share via GitHub/DVC Studio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948FA-9A0D-3036-9FD9-46AC370CB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43886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E4B-D2E9-B24F-97FE-30274A8B3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DVCLive</a:t>
            </a:r>
            <a:r>
              <a:rPr lang="en-US" dirty="0"/>
              <a:t> basics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FF7F-5AA7-B3A2-6D7C-719CCA876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63023-1980-1F2A-DC13-A6B0364F46E6}"/>
              </a:ext>
            </a:extLst>
          </p:cNvPr>
          <p:cNvSpPr txBox="1"/>
          <p:nvPr/>
        </p:nvSpPr>
        <p:spPr>
          <a:xfrm>
            <a:off x="108859" y="2931524"/>
            <a:ext cx="5105398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print(t, metric)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22221E-950B-44DF-3D50-F18E423656DC}"/>
              </a:ext>
            </a:extLst>
          </p:cNvPr>
          <p:cNvSpPr txBox="1"/>
          <p:nvPr/>
        </p:nvSpPr>
        <p:spPr>
          <a:xfrm>
            <a:off x="6183084" y="1823529"/>
            <a:ext cx="5867400" cy="39703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dvclive.Live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 as live: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('param', 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('metric', metric)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live.log_artifact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',</a:t>
            </a:r>
            <a:b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            type='model')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F0D31021-F96B-ECEF-CDC4-BF7E4CC02FBA}"/>
              </a:ext>
            </a:extLst>
          </p:cNvPr>
          <p:cNvSpPr/>
          <p:nvPr/>
        </p:nvSpPr>
        <p:spPr>
          <a:xfrm>
            <a:off x="5399314" y="3947186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6883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0FF0-EB0B-ADB7-85EE-B87920FA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experiment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96625-B6DE-7C10-FAE8-0E2177071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Python script as usual</a:t>
            </a:r>
          </a:p>
          <a:p>
            <a:r>
              <a:rPr lang="en-US" dirty="0"/>
              <a:t>Creates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dirty="0"/>
              <a:t>: location of parameters/metrics/plots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metrics.json</a:t>
            </a:r>
            <a:r>
              <a:rPr lang="en-US" dirty="0">
                <a:cs typeface="Courier New" panose="02070309020205020404" pitchFamily="49" charset="0"/>
              </a:rPr>
              <a:t>: metrics of last time step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r>
              <a:rPr lang="en-US" dirty="0">
                <a:cs typeface="Courier New" panose="02070309020205020404" pitchFamily="49" charset="0"/>
              </a:rPr>
              <a:t>: parameter values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plots/metrics/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TSV file per metric, value for each time step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report.html</a:t>
            </a:r>
          </a:p>
          <a:p>
            <a:r>
              <a:rPr lang="en-US" dirty="0"/>
              <a:t>Pushes git experiment ref to remote for sharing</a:t>
            </a:r>
          </a:p>
          <a:p>
            <a:pPr lvl="3"/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9F4A6B-C4BE-627C-06D5-2FFC2B77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25022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10F218-AB36-7A72-0A40-4890EE655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0" y="1065015"/>
            <a:ext cx="8341765" cy="57712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92E4F-9FD5-191E-727E-5119219D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report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E69077-99E3-0D17-3FB3-E50E8636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577362-355A-26A6-757C-FEC6BA1E6C03}"/>
              </a:ext>
            </a:extLst>
          </p:cNvPr>
          <p:cNvGrpSpPr/>
          <p:nvPr/>
        </p:nvGrpSpPr>
        <p:grpSpPr>
          <a:xfrm>
            <a:off x="5404566" y="365125"/>
            <a:ext cx="3206035" cy="1250898"/>
            <a:chOff x="88563" y="5501785"/>
            <a:chExt cx="5047585" cy="113570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320EAD-39ED-5F69-302A-6BAFDFC7F076}"/>
                </a:ext>
              </a:extLst>
            </p:cNvPr>
            <p:cNvSpPr txBox="1"/>
            <p:nvPr/>
          </p:nvSpPr>
          <p:spPr>
            <a:xfrm>
              <a:off x="2083559" y="5501785"/>
              <a:ext cx="3052589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702458-C966-289C-51E0-A997432CDA0F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79C8E80-395A-1215-7FA8-3CE3DC99724F}"/>
              </a:ext>
            </a:extLst>
          </p:cNvPr>
          <p:cNvGrpSpPr/>
          <p:nvPr/>
        </p:nvGrpSpPr>
        <p:grpSpPr>
          <a:xfrm>
            <a:off x="7946570" y="1230518"/>
            <a:ext cx="2862943" cy="1250898"/>
            <a:chOff x="88563" y="5501785"/>
            <a:chExt cx="4507421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F9B459-6DA3-6F9D-F4FA-B2B486D61F3F}"/>
                </a:ext>
              </a:extLst>
            </p:cNvPr>
            <p:cNvSpPr txBox="1"/>
            <p:nvPr/>
          </p:nvSpPr>
          <p:spPr>
            <a:xfrm>
              <a:off x="2083561" y="5501785"/>
              <a:ext cx="2512423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Metric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85D0EA3-F1B3-BACC-F2B5-BA8B412040C0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88563" y="5669445"/>
              <a:ext cx="1994998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8F29B5-B8EC-01EA-4087-92C5CE400C7E}"/>
              </a:ext>
            </a:extLst>
          </p:cNvPr>
          <p:cNvGrpSpPr/>
          <p:nvPr/>
        </p:nvGrpSpPr>
        <p:grpSpPr>
          <a:xfrm>
            <a:off x="6973125" y="4233277"/>
            <a:ext cx="3368302" cy="1250898"/>
            <a:chOff x="88563" y="5501785"/>
            <a:chExt cx="5303059" cy="113570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585BCD-6E44-9DE2-E231-64C76BC983DE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E5D21A9-F6E3-55F6-87DE-A0F528DC3355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3C93F-8221-FBC1-86C0-F9DB2E680581}"/>
              </a:ext>
            </a:extLst>
          </p:cNvPr>
          <p:cNvGrpSpPr/>
          <p:nvPr/>
        </p:nvGrpSpPr>
        <p:grpSpPr>
          <a:xfrm>
            <a:off x="9605805" y="4932394"/>
            <a:ext cx="2271286" cy="1210028"/>
            <a:chOff x="6061878" y="373626"/>
            <a:chExt cx="2271286" cy="121002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D306A-9652-4B6A-B041-08CBE277F554}"/>
                </a:ext>
              </a:extLst>
            </p:cNvPr>
            <p:cNvSpPr txBox="1"/>
            <p:nvPr/>
          </p:nvSpPr>
          <p:spPr>
            <a:xfrm>
              <a:off x="6061878" y="752657"/>
              <a:ext cx="183575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 WSL2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Graphic 5" descr="Smiling face with solid fill with solid fill">
              <a:extLst>
                <a:ext uri="{FF2B5EF4-FFF2-40B4-BE49-F238E27FC236}">
                  <a16:creationId xmlns:a16="http://schemas.microsoft.com/office/drawing/2014/main" id="{8B011098-B56D-B679-5982-18AF64E24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25322" y="373626"/>
              <a:ext cx="607842" cy="6078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45272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818-0E54-8D78-B819-CD54F9A3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2A1C1-3EE3-3D7E-FD75-C38CE189C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List experiments at HEAD</a:t>
            </a:r>
          </a:p>
          <a:p>
            <a:endParaRPr lang="en-US" dirty="0"/>
          </a:p>
          <a:p>
            <a:r>
              <a:rPr lang="en-US" dirty="0"/>
              <a:t>List all experiments</a:t>
            </a:r>
          </a:p>
          <a:p>
            <a:endParaRPr lang="en-US" dirty="0"/>
          </a:p>
          <a:p>
            <a:r>
              <a:rPr lang="en-US" dirty="0"/>
              <a:t>Save workspace as experiment</a:t>
            </a:r>
          </a:p>
          <a:p>
            <a:endParaRPr lang="en-US" dirty="0"/>
          </a:p>
          <a:p>
            <a:r>
              <a:rPr lang="en-US" dirty="0"/>
              <a:t>Rename experiment</a:t>
            </a:r>
          </a:p>
          <a:p>
            <a:endParaRPr lang="en-US" dirty="0"/>
          </a:p>
          <a:p>
            <a:r>
              <a:rPr lang="en-US" dirty="0"/>
              <a:t>Remove experiment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9BBCB-7C78-8187-B738-C0C273D4B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AB447A-7F95-ED59-FBAE-C8C77B914853}"/>
              </a:ext>
            </a:extLst>
          </p:cNvPr>
          <p:cNvSpPr txBox="1"/>
          <p:nvPr/>
        </p:nvSpPr>
        <p:spPr>
          <a:xfrm>
            <a:off x="1317171" y="2249173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7ADF1-6E9F-B07E-50FD-E89774B3CF0C}"/>
              </a:ext>
            </a:extLst>
          </p:cNvPr>
          <p:cNvSpPr txBox="1"/>
          <p:nvPr/>
        </p:nvSpPr>
        <p:spPr>
          <a:xfrm>
            <a:off x="1317170" y="6073816"/>
            <a:ext cx="56061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remove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C5846-0A03-3D69-BB9B-19A296312F12}"/>
              </a:ext>
            </a:extLst>
          </p:cNvPr>
          <p:cNvSpPr txBox="1"/>
          <p:nvPr/>
        </p:nvSpPr>
        <p:spPr>
          <a:xfrm>
            <a:off x="1317171" y="4150165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save  --name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F3C11-3335-70DC-5DE0-49D7351651FD}"/>
              </a:ext>
            </a:extLst>
          </p:cNvPr>
          <p:cNvSpPr txBox="1"/>
          <p:nvPr/>
        </p:nvSpPr>
        <p:spPr>
          <a:xfrm>
            <a:off x="1317171" y="3189692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  -A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11112-FFFB-24F6-DBC7-5D43A1BF8E8B}"/>
              </a:ext>
            </a:extLst>
          </p:cNvPr>
          <p:cNvSpPr txBox="1"/>
          <p:nvPr/>
        </p:nvSpPr>
        <p:spPr>
          <a:xfrm>
            <a:off x="1317169" y="5063693"/>
            <a:ext cx="560614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rename  rival-slew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61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5FFFA1-80E7-FE5F-95B4-793CC0FC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parameters &amp; metrics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7C4AE-5111-0F7E-76CB-8C3C6CF59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experiments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Many measures/parameters  very wide output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LESS='-S'</a:t>
            </a:r>
            <a:r>
              <a:rPr lang="en-US" dirty="0"/>
              <a:t> prevents wrapping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--csv --no-pager</a:t>
            </a:r>
            <a:r>
              <a:rPr lang="en-US" dirty="0"/>
              <a:t> and </a:t>
            </a:r>
            <a:r>
              <a:rPr lang="en-US" dirty="0" err="1"/>
              <a:t>csvkit</a:t>
            </a:r>
            <a:r>
              <a:rPr lang="en-US" dirty="0"/>
              <a:t> to select columns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 dirty="0"/>
              <a:t>) and format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csvlook</a:t>
            </a:r>
            <a:r>
              <a:rPr lang="en-US" dirty="0"/>
              <a:t>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CAD41E-D374-AC03-C2CF-DD367601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1014BE-EF49-9BE4-1727-4751E2EB5466}"/>
              </a:ext>
            </a:extLst>
          </p:cNvPr>
          <p:cNvSpPr txBox="1"/>
          <p:nvPr/>
        </p:nvSpPr>
        <p:spPr>
          <a:xfrm>
            <a:off x="533400" y="2246968"/>
            <a:ext cx="11386458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LESS='-S'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show --only-changed --md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Experiment               | Created   | magnetization   | energy   |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ising.h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|--------------------------|-----------|-----------------|----------|-----------|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workspace                | -         | 0.9734          | -2.3871  | 0.5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main                     | 11:23 AM  | 0.4944          | -1.2352  | 1  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├── 44fcecf [rival-slew] | 11:39 AM  | 0.9734          | -2.3871  | 0.5       |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12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F386-E6D7-F5DB-C51F-93F729911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plots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9FF7DD-5DA6-18C4-4D1D-4257F4FC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40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73256-D8A0-52DF-0E7A-3CB389C77D61}"/>
              </a:ext>
            </a:extLst>
          </p:cNvPr>
          <p:cNvSpPr txBox="1"/>
          <p:nvPr/>
        </p:nvSpPr>
        <p:spPr>
          <a:xfrm>
            <a:off x="1317171" y="1879057"/>
            <a:ext cx="418011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show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6A1521-DD7F-157E-A284-99D645021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14" y="2683802"/>
            <a:ext cx="8946821" cy="417419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CE147B6-8370-4B6E-1245-BB840C21CD24}"/>
              </a:ext>
            </a:extLst>
          </p:cNvPr>
          <p:cNvGrpSpPr/>
          <p:nvPr/>
        </p:nvGrpSpPr>
        <p:grpSpPr>
          <a:xfrm>
            <a:off x="8105240" y="2058353"/>
            <a:ext cx="3368302" cy="1250898"/>
            <a:chOff x="88563" y="5501785"/>
            <a:chExt cx="5303059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A59516-5AAB-7B87-0309-2D1C1CAD1650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90F7800-678F-D266-462D-92AB4961B9D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3E99FA-21E3-0262-02EC-49D61910601E}"/>
              </a:ext>
            </a:extLst>
          </p:cNvPr>
          <p:cNvSpPr txBox="1"/>
          <p:nvPr/>
        </p:nvSpPr>
        <p:spPr>
          <a:xfrm>
            <a:off x="8523514" y="4973022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332A15-2890-7F95-4177-670EBE5F6AAD}"/>
              </a:ext>
            </a:extLst>
          </p:cNvPr>
          <p:cNvGrpSpPr/>
          <p:nvPr/>
        </p:nvGrpSpPr>
        <p:grpSpPr>
          <a:xfrm>
            <a:off x="6061878" y="752657"/>
            <a:ext cx="3376036" cy="1283447"/>
            <a:chOff x="6061878" y="752657"/>
            <a:chExt cx="3376036" cy="12834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869AB2-DDDF-0CA2-D329-91BB16218C8C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2" name="Graphic 11" descr="Smiling face with solid fill with solid fill">
              <a:extLst>
                <a:ext uri="{FF2B5EF4-FFF2-40B4-BE49-F238E27FC236}">
                  <a16:creationId xmlns:a16="http://schemas.microsoft.com/office/drawing/2014/main" id="{BA1EB4FF-1075-D0BC-B773-69ACAD973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283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06CA-3919-5554-121C-1B9552CA4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A6D1-9366-11EB-DF4E-38473912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68"/>
            <a:ext cx="10515600" cy="4351338"/>
          </a:xfrm>
        </p:spPr>
        <p:txBody>
          <a:bodyPr/>
          <a:lstStyle/>
          <a:p>
            <a:r>
              <a:rPr lang="en-US" dirty="0"/>
              <a:t>Parameters/final metrics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Evolution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D123B-5FCA-205D-BF1D-F928E9541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3980-B1C5-EE74-F219-D0D1DE071438}"/>
              </a:ext>
            </a:extLst>
          </p:cNvPr>
          <p:cNvSpPr txBox="1"/>
          <p:nvPr/>
        </p:nvSpPr>
        <p:spPr>
          <a:xfrm>
            <a:off x="1240972" y="1836390"/>
            <a:ext cx="1051560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 Metric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energy         -2.3871      -0.6899     1.6972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magnetization  0.9734       0.295       -0.6784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Param        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dynamics.temperature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2.0          5.0         3.0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C1B6BC-9FD8-434E-3730-24E8F29D819E}"/>
              </a:ext>
            </a:extLst>
          </p:cNvPr>
          <p:cNvSpPr txBox="1"/>
          <p:nvPr/>
        </p:nvSpPr>
        <p:spPr>
          <a:xfrm>
            <a:off x="1240972" y="4446178"/>
            <a:ext cx="521425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7F60CD-CE2E-AA84-07D4-646E2BC8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722" y="4199202"/>
            <a:ext cx="4746242" cy="20809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6E73F6-47AF-2664-8C32-27D6AB9D2B00}"/>
              </a:ext>
            </a:extLst>
          </p:cNvPr>
          <p:cNvSpPr txBox="1"/>
          <p:nvPr/>
        </p:nvSpPr>
        <p:spPr>
          <a:xfrm>
            <a:off x="5780314" y="5559718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5E85CCD-6D7D-3879-AA23-56B0BBA3C446}"/>
              </a:ext>
            </a:extLst>
          </p:cNvPr>
          <p:cNvGrpSpPr/>
          <p:nvPr/>
        </p:nvGrpSpPr>
        <p:grpSpPr>
          <a:xfrm>
            <a:off x="1169535" y="5255465"/>
            <a:ext cx="3376036" cy="1283447"/>
            <a:chOff x="6061878" y="752657"/>
            <a:chExt cx="3376036" cy="12834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C04D22C-6CE7-EF8A-DD62-2EBE454B7ABE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9" name="Graphic 8" descr="Smiling face with solid fill with solid fill">
              <a:extLst>
                <a:ext uri="{FF2B5EF4-FFF2-40B4-BE49-F238E27FC236}">
                  <a16:creationId xmlns:a16="http://schemas.microsoft.com/office/drawing/2014/main" id="{4D1D8A83-ACA7-8425-BABE-15AFA29B3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16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F57E0-A434-0F25-8810-27DED252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2FCF8-B809-DD95-86E9-B1DA899BE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Push experiments to GitHub</a:t>
            </a:r>
          </a:p>
          <a:p>
            <a:endParaRPr lang="en-US" dirty="0"/>
          </a:p>
          <a:p>
            <a:r>
              <a:rPr lang="en-US" dirty="0"/>
              <a:t>Pull experiments to GitHub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BD7B2-FCD6-562B-4011-98567506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70B18-B139-6675-9285-2512622F4AAB}"/>
              </a:ext>
            </a:extLst>
          </p:cNvPr>
          <p:cNvSpPr txBox="1"/>
          <p:nvPr/>
        </p:nvSpPr>
        <p:spPr>
          <a:xfrm>
            <a:off x="1284515" y="2358030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push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0D8C08-EE54-490F-0420-7DFC2CC90C83}"/>
              </a:ext>
            </a:extLst>
          </p:cNvPr>
          <p:cNvSpPr txBox="1"/>
          <p:nvPr/>
        </p:nvSpPr>
        <p:spPr>
          <a:xfrm>
            <a:off x="1284514" y="3337745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pull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9B1F7F-969D-D1BA-DFDD-C8F8C13D92B0}"/>
              </a:ext>
            </a:extLst>
          </p:cNvPr>
          <p:cNvGrpSpPr/>
          <p:nvPr/>
        </p:nvGrpSpPr>
        <p:grpSpPr>
          <a:xfrm>
            <a:off x="4746172" y="2542700"/>
            <a:ext cx="4680857" cy="979711"/>
            <a:chOff x="4746172" y="2542700"/>
            <a:chExt cx="4680857" cy="97971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10740FA-6CEA-F3A5-E2FA-A8898F5F8081}"/>
                </a:ext>
              </a:extLst>
            </p:cNvPr>
            <p:cNvGrpSpPr/>
            <p:nvPr/>
          </p:nvGrpSpPr>
          <p:grpSpPr>
            <a:xfrm>
              <a:off x="4746173" y="2542700"/>
              <a:ext cx="4680856" cy="646337"/>
              <a:chOff x="-1875092" y="5501780"/>
              <a:chExt cx="7369546" cy="58681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90D43E-0539-E6DA-D927-1852ECF0F6C8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410893" cy="58680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Name of git remote,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ourier New" panose="02070309020205020404" pitchFamily="49" charset="0"/>
                  </a:rPr>
                  <a:t>no default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102E545-5547-3E49-3ABD-BD39A199286D}"/>
                  </a:ext>
                </a:extLst>
              </p:cNvPr>
              <p:cNvCxnSpPr>
                <a:cxnSpLocks/>
                <a:stCxn id="8" idx="1"/>
                <a:endCxn id="5" idx="3"/>
              </p:cNvCxnSpPr>
              <p:nvPr/>
            </p:nvCxnSpPr>
            <p:spPr>
              <a:xfrm flipH="1" flipV="1">
                <a:off x="-1875092" y="5501780"/>
                <a:ext cx="3958653" cy="29340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EBD127-1D55-D715-31A4-A9DC92B1C84F}"/>
                </a:ext>
              </a:extLst>
            </p:cNvPr>
            <p:cNvCxnSpPr>
              <a:cxnSpLocks/>
              <a:stCxn id="8" idx="1"/>
              <a:endCxn id="6" idx="3"/>
            </p:cNvCxnSpPr>
            <p:nvPr/>
          </p:nvCxnSpPr>
          <p:spPr>
            <a:xfrm flipH="1">
              <a:off x="4746172" y="2865872"/>
              <a:ext cx="2514387" cy="65653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80B76E-9E75-5766-9591-85778F37A33F}"/>
              </a:ext>
            </a:extLst>
          </p:cNvPr>
          <p:cNvGrpSpPr/>
          <p:nvPr/>
        </p:nvGrpSpPr>
        <p:grpSpPr>
          <a:xfrm>
            <a:off x="3461552" y="4159938"/>
            <a:ext cx="5083625" cy="1379498"/>
            <a:chOff x="424546" y="5228351"/>
            <a:chExt cx="5083625" cy="137949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F8BC51-5153-06D0-761B-19D80FEC2989}"/>
                </a:ext>
              </a:extLst>
            </p:cNvPr>
            <p:cNvSpPr txBox="1"/>
            <p:nvPr/>
          </p:nvSpPr>
          <p:spPr>
            <a:xfrm>
              <a:off x="424546" y="5653742"/>
              <a:ext cx="4661469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</a:t>
              </a:r>
              <a:r>
                <a:rPr lang="en-US" sz="2800" dirty="0" err="1"/>
                <a:t>dvc</a:t>
              </a:r>
              <a:r>
                <a:rPr lang="en-US" sz="2800" dirty="0"/>
                <a:t> push/pull,</a:t>
              </a:r>
              <a:br>
                <a:rPr lang="en-US" sz="2800" dirty="0"/>
              </a:br>
              <a:r>
                <a:rPr lang="en-US" sz="2800" dirty="0"/>
                <a:t>git push/pull is not enough!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CE4F2AF2-2090-AEFA-BB78-E2542DB9AA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2020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2729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BD0C-DC7C-ECEF-F228-FE714A00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8B397-F5D8-CF03-9E79-56AD679B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1226" cy="4351338"/>
          </a:xfrm>
        </p:spPr>
        <p:txBody>
          <a:bodyPr>
            <a:normAutofit/>
          </a:bodyPr>
          <a:lstStyle/>
          <a:p>
            <a:r>
              <a:rPr lang="en-US" dirty="0"/>
              <a:t>Easy: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reticulate</a:t>
            </a:r>
            <a:r>
              <a:rPr lang="en-US" dirty="0"/>
              <a:t> to use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F08BB-3246-52C0-4035-F9D2DCD5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D0454-FA1D-63A3-0ECC-CCC405365DB9}"/>
              </a:ext>
            </a:extLst>
          </p:cNvPr>
          <p:cNvSpPr txBox="1"/>
          <p:nvPr/>
        </p:nvSpPr>
        <p:spPr>
          <a:xfrm>
            <a:off x="6487883" y="1043047"/>
            <a:ext cx="5279571" cy="50783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library(reticulate)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&lt;- import("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 &lt;-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dvclive$Live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("delta", delta)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live$end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46A6-577F-EDE7-79B9-D41BA4AF4C6B}"/>
              </a:ext>
            </a:extLst>
          </p:cNvPr>
          <p:cNvSpPr txBox="1"/>
          <p:nvPr/>
        </p:nvSpPr>
        <p:spPr>
          <a:xfrm>
            <a:off x="424546" y="2985631"/>
            <a:ext cx="493122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90D2F71-9A9C-35DF-9C3C-56F35709DD44}"/>
              </a:ext>
            </a:extLst>
          </p:cNvPr>
          <p:cNvSpPr/>
          <p:nvPr/>
        </p:nvSpPr>
        <p:spPr>
          <a:xfrm>
            <a:off x="5638802" y="3703050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D85B6A-FAEE-F5E9-FB23-0D57305477E7}"/>
              </a:ext>
            </a:extLst>
          </p:cNvPr>
          <p:cNvGrpSpPr/>
          <p:nvPr/>
        </p:nvGrpSpPr>
        <p:grpSpPr>
          <a:xfrm>
            <a:off x="424546" y="5228351"/>
            <a:ext cx="5671454" cy="948611"/>
            <a:chOff x="424546" y="5228351"/>
            <a:chExt cx="5671454" cy="9486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3D7CA67-8F01-1A12-6ABC-77A5963E9FA5}"/>
                </a:ext>
              </a:extLst>
            </p:cNvPr>
            <p:cNvSpPr txBox="1"/>
            <p:nvPr/>
          </p:nvSpPr>
          <p:spPr>
            <a:xfrm>
              <a:off x="424546" y="5653742"/>
              <a:ext cx="534607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call </a:t>
              </a:r>
              <a:r>
                <a:rPr lang="en-US" sz="2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live$end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sz="2800" dirty="0"/>
                <a:t>!</a:t>
              </a:r>
              <a:endParaRPr lang="LID4096" sz="2800" dirty="0"/>
            </a:p>
          </p:txBody>
        </p:sp>
        <p:pic>
          <p:nvPicPr>
            <p:cNvPr id="11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7289967E-7D2F-C9AD-2A80-87212B453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849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787072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0915-6496-8594-95CA-983C936C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48AE-579D-3672-BC55-0435E386A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69F1D-805B-C683-401C-988A9C78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 &amp;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5FC04-9F55-83C4-BE76-F5E33924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3830D-FC92-C049-8D91-E9C1645C2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1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E7FA19-4BC4-C638-81F6-077D0A159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Pipelines &amp; DVCLive</a:t>
            </a:r>
            <a:endParaRPr lang="LID4096" sz="40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28C44-C257-7D56-531F-9ACBC298B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== stage</a:t>
            </a:r>
          </a:p>
          <a:p>
            <a:pPr lvl="1"/>
            <a:r>
              <a:rPr lang="en-US" sz="2000" dirty="0"/>
              <a:t>Uses </a:t>
            </a:r>
            <a:r>
              <a:rPr lang="en-US" sz="2000" dirty="0" err="1"/>
              <a:t>DVCLive</a:t>
            </a:r>
            <a:endParaRPr lang="en-US" sz="2000" dirty="0"/>
          </a:p>
          <a:p>
            <a:r>
              <a:rPr lang="en-US" sz="2400" dirty="0"/>
              <a:t>Keep track of</a:t>
            </a:r>
          </a:p>
          <a:p>
            <a:pPr lvl="1"/>
            <a:r>
              <a:rPr lang="en-US" sz="2000" dirty="0"/>
              <a:t>Dependencies</a:t>
            </a:r>
          </a:p>
          <a:p>
            <a:pPr lvl="1"/>
            <a:r>
              <a:rPr lang="en-US" sz="2000" dirty="0"/>
              <a:t>Parameters</a:t>
            </a:r>
          </a:p>
          <a:p>
            <a:pPr lvl="1"/>
            <a:r>
              <a:rPr lang="en-US" sz="2000" dirty="0"/>
              <a:t>Metrics</a:t>
            </a:r>
          </a:p>
          <a:p>
            <a:pPr lvl="1"/>
            <a:r>
              <a:rPr lang="en-US" sz="2000" dirty="0"/>
              <a:t>Outputs</a:t>
            </a:r>
            <a:endParaRPr lang="LID4096" sz="2000" dirty="0"/>
          </a:p>
        </p:txBody>
      </p:sp>
      <p:pic>
        <p:nvPicPr>
          <p:cNvPr id="8" name="Picture 7" descr="Manometer beer equipment">
            <a:extLst>
              <a:ext uri="{FF2B5EF4-FFF2-40B4-BE49-F238E27FC236}">
                <a16:creationId xmlns:a16="http://schemas.microsoft.com/office/drawing/2014/main" id="{01EE5749-D367-9BA3-1232-18424D09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39" r="8006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450FD-72CB-BD96-1D52-EE1365A0B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45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275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82DBD-FEF5-0FF4-FBD1-3F111CAB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in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0B90-64C3-3AD3-CA17-042F56417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stage as usual</a:t>
            </a:r>
          </a:p>
          <a:p>
            <a:pPr lvl="1"/>
            <a:r>
              <a:rPr lang="en-US" dirty="0"/>
              <a:t>Contains </a:t>
            </a:r>
            <a:r>
              <a:rPr lang="en-US" dirty="0" err="1"/>
              <a:t>DVCLive</a:t>
            </a:r>
            <a:r>
              <a:rPr lang="en-US" dirty="0"/>
              <a:t> experiment management</a:t>
            </a:r>
          </a:p>
          <a:p>
            <a:pPr lvl="1"/>
            <a:r>
              <a:rPr lang="en-US" dirty="0"/>
              <a:t>Parameters read 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Run experiment</a:t>
            </a:r>
          </a:p>
          <a:p>
            <a:endParaRPr lang="en-US" dirty="0"/>
          </a:p>
          <a:p>
            <a:r>
              <a:rPr lang="en-US" dirty="0"/>
              <a:t>Run experiment with specific parameter value</a:t>
            </a:r>
          </a:p>
          <a:p>
            <a:endParaRPr lang="en-US" dirty="0"/>
          </a:p>
          <a:p>
            <a:r>
              <a:rPr lang="en-US" dirty="0"/>
              <a:t>Prepare workspace for specific experiment,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high_a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322AA-E6A9-9A7E-60AC-B72ED487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8B632-4041-16BF-9C39-26D4BD9DEEC1}"/>
              </a:ext>
            </a:extLst>
          </p:cNvPr>
          <p:cNvSpPr txBox="1"/>
          <p:nvPr/>
        </p:nvSpPr>
        <p:spPr>
          <a:xfrm>
            <a:off x="1349828" y="3609890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41F1C2-ABC2-273C-7742-1E9CE66F2C17}"/>
              </a:ext>
            </a:extLst>
          </p:cNvPr>
          <p:cNvSpPr txBox="1"/>
          <p:nvPr/>
        </p:nvSpPr>
        <p:spPr>
          <a:xfrm>
            <a:off x="1349827" y="4632558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--set-param a=2.0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25769-28A9-2124-8B58-79C5B91E1965}"/>
              </a:ext>
            </a:extLst>
          </p:cNvPr>
          <p:cNvGrpSpPr/>
          <p:nvPr/>
        </p:nvGrpSpPr>
        <p:grpSpPr>
          <a:xfrm>
            <a:off x="7456714" y="4172597"/>
            <a:ext cx="3897086" cy="830997"/>
            <a:chOff x="-418324" y="5501785"/>
            <a:chExt cx="6135578" cy="75446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518634-1A20-8570-E9E3-2B7A841DD994}"/>
                </a:ext>
              </a:extLst>
            </p:cNvPr>
            <p:cNvSpPr txBox="1"/>
            <p:nvPr/>
          </p:nvSpPr>
          <p:spPr>
            <a:xfrm>
              <a:off x="2083561" y="5501785"/>
              <a:ext cx="3633693" cy="75446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Modifies </a:t>
              </a:r>
              <a:r>
                <a:rPr kumimoji="0" lang="en-US" sz="2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4A9833-410D-0FDB-BCC7-786F2FC6A843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418324" y="5879020"/>
              <a:ext cx="2501884" cy="20802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EC9D5B-063F-5A20-E7C0-58F4A2A325F5}"/>
              </a:ext>
            </a:extLst>
          </p:cNvPr>
          <p:cNvSpPr txBox="1"/>
          <p:nvPr/>
        </p:nvSpPr>
        <p:spPr>
          <a:xfrm>
            <a:off x="1349826" y="5655226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apply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53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50B7-9531-E003-0160-20919755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Queues &amp; parameter sweeps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6BB4-5101-B73B-611B-F2108D1B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experiment to queue</a:t>
            </a:r>
          </a:p>
          <a:p>
            <a:endParaRPr lang="en-US" dirty="0"/>
          </a:p>
          <a:p>
            <a:r>
              <a:rPr lang="en-US" dirty="0"/>
              <a:t>Queue parameter sweep</a:t>
            </a:r>
          </a:p>
          <a:p>
            <a:endParaRPr lang="en-US" dirty="0"/>
          </a:p>
          <a:p>
            <a:r>
              <a:rPr lang="en-US" dirty="0"/>
              <a:t>Run queued experiment sequentially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F2AA8-F2D6-153C-80B0-D1A5AB31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E83890-6D9E-4A0A-C56E-959CEC4CA7BE}"/>
              </a:ext>
            </a:extLst>
          </p:cNvPr>
          <p:cNvSpPr txBox="1"/>
          <p:nvPr/>
        </p:nvSpPr>
        <p:spPr>
          <a:xfrm>
            <a:off x="1349828" y="229271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E0867-C179-9BD8-2CC6-CCE42549A8C8}"/>
              </a:ext>
            </a:extLst>
          </p:cNvPr>
          <p:cNvSpPr txBox="1"/>
          <p:nvPr/>
        </p:nvSpPr>
        <p:spPr>
          <a:xfrm>
            <a:off x="1349827" y="3361450"/>
            <a:ext cx="726077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  -set-param 'a=3.0,4.0,5.0'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58864-2BCD-DFF1-8CB3-D650EB88646A}"/>
              </a:ext>
            </a:extLst>
          </p:cNvPr>
          <p:cNvSpPr txBox="1"/>
          <p:nvPr/>
        </p:nvSpPr>
        <p:spPr>
          <a:xfrm>
            <a:off x="1349827" y="4354374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--run-all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65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28D75-D4F9-4A2E-F1A2-134246666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status &amp;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DC946-4F82-703E-7F74-6B2866FC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status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logs</a:t>
            </a:r>
          </a:p>
          <a:p>
            <a:endParaRPr lang="en-US" dirty="0"/>
          </a:p>
          <a:p>
            <a:r>
              <a:rPr lang="en-US" dirty="0"/>
              <a:t>Remove queued/completed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601-ED0B-3E66-CEFD-7D6F43BD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41780-6D75-A4E4-73FB-961362A1BCB6}"/>
              </a:ext>
            </a:extLst>
          </p:cNvPr>
          <p:cNvSpPr txBox="1"/>
          <p:nvPr/>
        </p:nvSpPr>
        <p:spPr>
          <a:xfrm>
            <a:off x="1209868" y="2264313"/>
            <a:ext cx="7260772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status</a:t>
            </a:r>
          </a:p>
          <a:p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Name     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Created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Status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db756f8  found-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impi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6c431db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fuzzy-sash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96f84ca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regal-coho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20cacaa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muley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-tams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cf70af4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dopey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-vang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097310c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umber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-wind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AA8EE-9C06-79BD-0BC0-F0CBA594B01D}"/>
              </a:ext>
            </a:extLst>
          </p:cNvPr>
          <p:cNvSpPr txBox="1"/>
          <p:nvPr/>
        </p:nvSpPr>
        <p:spPr>
          <a:xfrm>
            <a:off x="1209868" y="506660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logs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390648-381A-8592-AF74-56EEA48F56D3}"/>
              </a:ext>
            </a:extLst>
          </p:cNvPr>
          <p:cNvSpPr txBox="1"/>
          <p:nvPr/>
        </p:nvSpPr>
        <p:spPr>
          <a:xfrm>
            <a:off x="1209868" y="599347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remove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677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F20D-B717-4A43-8652-C8EA897CA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control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87BA-C93F-A595-3900-803762A10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all tasks in queue, 2 workers</a:t>
            </a:r>
          </a:p>
          <a:p>
            <a:endParaRPr lang="en-US" dirty="0"/>
          </a:p>
          <a:p>
            <a:r>
              <a:rPr lang="en-US" dirty="0"/>
              <a:t>Stop all workers</a:t>
            </a:r>
          </a:p>
          <a:p>
            <a:endParaRPr lang="en-US" dirty="0"/>
          </a:p>
          <a:p>
            <a:r>
              <a:rPr lang="en-US" dirty="0"/>
              <a:t>Stop &amp; kill all workers</a:t>
            </a:r>
          </a:p>
          <a:p>
            <a:endParaRPr lang="en-US" dirty="0"/>
          </a:p>
          <a:p>
            <a:r>
              <a:rPr lang="en-US" dirty="0"/>
              <a:t>Kill specific running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52D53-879C-4DE5-6A08-14B28745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816CD-E0CB-C635-DC4E-978238819E41}"/>
              </a:ext>
            </a:extLst>
          </p:cNvPr>
          <p:cNvSpPr txBox="1"/>
          <p:nvPr/>
        </p:nvSpPr>
        <p:spPr>
          <a:xfrm>
            <a:off x="1181876" y="2410501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start  --jobs 2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F8B04C-A4F0-BC88-48E5-AA94D8A28E75}"/>
              </a:ext>
            </a:extLst>
          </p:cNvPr>
          <p:cNvGrpSpPr/>
          <p:nvPr/>
        </p:nvGrpSpPr>
        <p:grpSpPr>
          <a:xfrm>
            <a:off x="5355772" y="2095538"/>
            <a:ext cx="3254828" cy="917156"/>
            <a:chOff x="8922121" y="5118668"/>
            <a:chExt cx="3254828" cy="91715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3776D9-521E-BC27-1EE7-1C3BB8327889}"/>
                </a:ext>
              </a:extLst>
            </p:cNvPr>
            <p:cNvSpPr txBox="1"/>
            <p:nvPr/>
          </p:nvSpPr>
          <p:spPr>
            <a:xfrm>
              <a:off x="8922121" y="5574159"/>
              <a:ext cx="29433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oversubscribe!</a:t>
              </a:r>
              <a:endParaRPr lang="LID4096" sz="2400" dirty="0"/>
            </a:p>
          </p:txBody>
        </p:sp>
        <p:pic>
          <p:nvPicPr>
            <p:cNvPr id="11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B6E5AF44-60EB-BAD4-7CAC-6EDA44E5D2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34991" y="5118668"/>
              <a:ext cx="641958" cy="641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EB37C2-F18E-67D6-EB6A-1BDC1181921E}"/>
              </a:ext>
            </a:extLst>
          </p:cNvPr>
          <p:cNvSpPr txBox="1"/>
          <p:nvPr/>
        </p:nvSpPr>
        <p:spPr>
          <a:xfrm>
            <a:off x="1181876" y="3339856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012E2-9BD1-4440-A21C-5DE9AD7F25AD}"/>
              </a:ext>
            </a:extLst>
          </p:cNvPr>
          <p:cNvSpPr txBox="1"/>
          <p:nvPr/>
        </p:nvSpPr>
        <p:spPr>
          <a:xfrm>
            <a:off x="1181876" y="4363513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  --kill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9849E-3E9C-4178-C39F-D5D31A0D8F0C}"/>
              </a:ext>
            </a:extLst>
          </p:cNvPr>
          <p:cNvSpPr txBox="1"/>
          <p:nvPr/>
        </p:nvSpPr>
        <p:spPr>
          <a:xfrm>
            <a:off x="1181876" y="5387170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kill leaky-wasp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4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6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3D8D-1E3E-A506-CF8D-1A50741A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28C77-F7DF-9D95-99EA-189A0E96C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2629-DA0D-6188-9309-0F1728987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84624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D080-03FD-95CB-6C17-2AE9FAF79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C6B09-2203-7249-5A48-8357BD879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+ DVC = standalone</a:t>
            </a:r>
          </a:p>
          <a:p>
            <a:pPr lvl="1"/>
            <a:r>
              <a:rPr lang="en-US" dirty="0"/>
              <a:t>Light weight</a:t>
            </a:r>
          </a:p>
          <a:p>
            <a:pPr lvl="1"/>
            <a:r>
              <a:rPr lang="en-US" dirty="0"/>
              <a:t>Promotes reproducibility</a:t>
            </a:r>
          </a:p>
          <a:p>
            <a:pPr lvl="2"/>
            <a:r>
              <a:rPr lang="en-US" dirty="0"/>
              <a:t>Experiments</a:t>
            </a:r>
          </a:p>
          <a:p>
            <a:pPr lvl="2"/>
            <a:r>
              <a:rPr lang="en-US" dirty="0"/>
              <a:t>Workflows</a:t>
            </a:r>
          </a:p>
          <a:p>
            <a:pPr lvl="1"/>
            <a:r>
              <a:rPr lang="en-US" dirty="0"/>
              <a:t>Facilitates data/experiment/model sharing</a:t>
            </a:r>
          </a:p>
          <a:p>
            <a:r>
              <a:rPr lang="en-US" dirty="0"/>
              <a:t>Requires</a:t>
            </a:r>
          </a:p>
          <a:p>
            <a:pPr lvl="1"/>
            <a:r>
              <a:rPr lang="en-US" dirty="0"/>
              <a:t>Discipline using version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528A-8A5B-DBF6-DE04-292E9382D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7268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3BB4-C6F8-7E5F-6EBF-08676EDE3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72650-163C-B12D-795A-4807F89AC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https://git-scm.com/doc</a:t>
            </a:r>
            <a:r>
              <a:rPr lang="en-US" dirty="0"/>
              <a:t> </a:t>
            </a:r>
          </a:p>
          <a:p>
            <a:r>
              <a:rPr lang="en-US" dirty="0"/>
              <a:t>DVC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https://dvc.org/doc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75E1-9838-4C5B-166D-4927C4DB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7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3938</TotalTime>
  <Words>3087</Words>
  <Application>Microsoft Office PowerPoint</Application>
  <PresentationFormat>Widescreen</PresentationFormat>
  <Paragraphs>649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MLOps on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Motivation</vt:lpstr>
      <vt:lpstr>Many options</vt:lpstr>
      <vt:lpstr>Data Version Control</vt:lpstr>
      <vt:lpstr>DVC advantages</vt:lpstr>
      <vt:lpstr>Repository setup for DVC</vt:lpstr>
      <vt:lpstr>DVC remote storage options</vt:lpstr>
      <vt:lpstr>DVC remotes examples</vt:lpstr>
      <vt:lpstr>Data Version Control</vt:lpstr>
      <vt:lpstr>DVC data versioning</vt:lpstr>
      <vt:lpstr>Interacting with DVC remote</vt:lpstr>
      <vt:lpstr>Modifying data</vt:lpstr>
      <vt:lpstr>Check out previous versions</vt:lpstr>
      <vt:lpstr>Check out only previous versions of data sets</vt:lpstr>
      <vt:lpstr>Importing data</vt:lpstr>
      <vt:lpstr>Data Version Control</vt:lpstr>
      <vt:lpstr>Data pipelines</vt:lpstr>
      <vt:lpstr>Add stage</vt:lpstr>
      <vt:lpstr>Parameters</vt:lpstr>
      <vt:lpstr>Add next stage</vt:lpstr>
      <vt:lpstr>Metrics</vt:lpstr>
      <vt:lpstr>Visualizing pipeline</vt:lpstr>
      <vt:lpstr>Run pipeline</vt:lpstr>
      <vt:lpstr>Viewing &amp; comparing metrics</vt:lpstr>
      <vt:lpstr>Comparing arbitrary runs</vt:lpstr>
      <vt:lpstr>Comparing parameters</vt:lpstr>
      <vt:lpstr>What about R?</vt:lpstr>
      <vt:lpstr>Data Version Control</vt:lpstr>
      <vt:lpstr>Experiment management</vt:lpstr>
      <vt:lpstr>DVCLive basics</vt:lpstr>
      <vt:lpstr>Run experiment</vt:lpstr>
      <vt:lpstr>HTML report</vt:lpstr>
      <vt:lpstr>Experiment management</vt:lpstr>
      <vt:lpstr>Experiment parameters &amp; metrics</vt:lpstr>
      <vt:lpstr>Experiment plots</vt:lpstr>
      <vt:lpstr>Comparing experiments</vt:lpstr>
      <vt:lpstr>Sharing experiments</vt:lpstr>
      <vt:lpstr>What about R?</vt:lpstr>
      <vt:lpstr>Data Version Control</vt:lpstr>
      <vt:lpstr>Pipelines &amp; DVCLive</vt:lpstr>
      <vt:lpstr>Experiments in pipelines</vt:lpstr>
      <vt:lpstr>Queues &amp; parameter sweeps</vt:lpstr>
      <vt:lpstr>Queue status &amp; management</vt:lpstr>
      <vt:lpstr>Queue control</vt:lpstr>
      <vt:lpstr>Conclusions</vt:lpstr>
      <vt:lpstr>Take-aways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38</cp:revision>
  <dcterms:created xsi:type="dcterms:W3CDTF">2025-01-17T10:10:41Z</dcterms:created>
  <dcterms:modified xsi:type="dcterms:W3CDTF">2025-12-03T11:42:03Z</dcterms:modified>
</cp:coreProperties>
</file>